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embeddedFontLst>
    <p:embeddedFont>
      <p:font typeface="JetBrains Mono" panose="02000009000000000000" pitchFamily="49" charset="0"/>
      <p:regular r:id="rId37"/>
      <p:bold r:id="rId3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start working with CLIPS, the language we will use to build rule-based expert systems. First we see what it is, then we use it as a calculator to get comfortable with its syntax, and only then do we write facts and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CLIPS stands for C Language Integrated Production System. A production system is a system of IF-THEN rules. NASA built it in the 1980s for expert systems. The key idea: we do not write step-by-step instructions, we write knowledge, and CLIPS decides which rule to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machine learning: a neural network predicts a number from data. CLIPS reasons from explicit knowledge, so every decision can be explained by the rule that produced it. Example: a medical diagnosis system, a loan approval system, a troubleshooting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chaining: start from known facts and fire rules to reach new conclusions. This is what CLIPS does by default and what we use in this course. Backward chaining starts from a goal and looks for facts that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the knowledge base is the doctor's medical knowledge, working memory is what the doctor knows about this patient right now, the inference engine is the doctor's thinking, and the agenda is the list of conclusions the doctor could draw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written the same way: in parentheses, with the name first. The difference is what they are used for. We will see many of them in the basics part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everything is in parentheses. Then transition: before we go to facts and rules, we will spend some time using CLIPS like a calculator so the syntax becomes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not in the printed book; it is a warm-up. Ask students to open CLIPS IDE and type along with every example at the CLIPS&gt; prompt. All examples were tested on CLIPS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this is the single most common source of student errors. Writing (5 + 3) gives an error because 5 is not a function name. Note that one operator can take many arguments: (+ 1 2 3 4) is 10. div is integer division (7 div 2 = 3, no fraction) and mod is the remainder (7 mod 2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ending in p are predicates: they answer TRUE or FALSE. numberp returns TRUE for both integers and floats. We will use numberp later in the deffunction check-num example from the book. Common mistake: (multifieldp 1 2 3) gives an ARGACCES1 error because CLIPS sees three separate arguments. Wrap them with create$ to make one list: (multifieldp (create$ 1 2 3)) is TRUE. Even (create$ a) and the empty (create$) are multifields.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predict each result before revealing it. The surprise is usually (/ 20 4) giving 5.0 instead of 5. mod is useful to test even/odd numbers, which we use in the practice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operator precedence in CLIPS: parentheses decide everything. The innermost expression is evaluated first and replaced by its value. Another example: (* (+ 2 3) 4) gives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(pi) is a function with no arguments, so it still needs parentheses. Ask: how would you compute the hypotenuse of a 3-4 triangle? Answer: (sqrt (+ (* 3 3) (* 4 4))) gives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TRUE / FALSE tests are exactly what we will put inside rules later, for example a test that GPA is at least 3.0 in the honor-student rule. Note that = compares numbers, so 4 and 4.0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prefix is important: in rules, ?n and ?g are also variables, but there they get their values by matching facts instead of by bind. So learning ?variables now makes the honor-student rule easy to read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printout is an action: it returns nothing, it just prints. Spaces inside the strings matter, CLIPS does not add spaces between items for you. This is the action we use on the right side of almost every rule in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prints if ?g is 90? Excellent. If ?g is 40? Fail. The nested if is the same pattern the book uses later in the deffunction check-num example, so this slide prepares students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while, forgetting to increase ?i makes an infinite loop: a good mistake to show live. loop-for-count handles the counter for you. In real expert systems we rarely loop by hand, because the inference engine itself repeats: it keeps firing rules until nothing is left on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returns the position of the item, or FALSE if it is not in the list. A fact like (animal dog cat bird) is itself a list of fields, so these ideas reappear when we match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back to the book, section 6.7. Everything students just practised (printout, comparisons, ?variables) now appears inside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fires only if a fact (weather hot) exists. Point out that (season summer) is a fact no rule uses: it is fine to have facts that do not trigger anything. The right side uses printout, which students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after (reset) type (facts) and (agenda) to show students the facts and the waiting rule before (run). Run (run) a second time: nothing prints, because a rule fires only once for the same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(student Ali 3.5) with the template version: in the plain fact you must remember that the second field is the GPA; with a template the slot name tells you. Note that "Ali" is a string here because of the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everything from the basics part comes together: ?variables, the &gt;= comparison, and printout. The rule is checked against every student fact; it fires once for each fact that passes. Ask: what would print if Sara had a GPA of 3.2? Both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deffunction is like the built-in functions from the basics part, but written by us. Parameters are ?variables. The value of the last expression in the body is what the function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function prints instead of returning a value, so it behaves like an action. Variation to ask students: write multiply-numbers that prints 4 x 6 =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tested in CLIPS. Note for the TA: the printed book shows FALSE for -5 and an ARGACCESS error for one, and calls the function ChkNum. With the code as written above, -5 returns Negative and one returns Non-numeric. The error in the book happens only if the numberp check is removed and &gt; receives a symbol, which is a nice point to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base case the function would call itself forever. Ask students to compute (factorial 0) and (factorial 3) by hand first: 1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then open the floor for questions. Suggested homework: write a small expert system with a student template and rules that print Excellent, Good or Fail from the GPA.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students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468"/>
            <a:ext cx="10566400" cy="467342"/>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17610"/>
            <a:ext cx="10566400" cy="412759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468"/>
            <a:ext cx="10566400" cy="467342"/>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17610"/>
            <a:ext cx="10566400" cy="412759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6408420" y="812800"/>
            <a:ext cx="4970780" cy="1163108"/>
          </a:xfrm>
          <a:prstGeom prst="rect">
            <a:avLst/>
          </a:prstGeom>
          <a:noFill/>
          <a:ln/>
        </p:spPr>
        <p:txBody>
          <a:bodyPr wrap="square" lIns="0" tIns="0" rIns="0" bIns="0" rtlCol="0" anchor="t">
            <a:normAutofit/>
          </a:bodyPr>
          <a:lstStyle/>
          <a:p>
            <a:pPr algn="r" indent="0" marL="0">
              <a:lnSpc>
                <a:spcPts val="2240"/>
              </a:lnSpc>
              <a:buNone/>
            </a:pPr>
            <a:r>
              <a:rPr lang="en-US" sz="1400" dirty="0">
                <a:solidFill>
                  <a:srgbClr val="33456B"/>
                </a:solidFill>
                <a:latin typeface="JetBrains Mono" pitchFamily="49" charset="0"/>
                <a:ea typeface="JetBrains Mono" pitchFamily="49" charset="-122"/>
                <a:cs typeface="JetBrains Mono" pitchFamily="49" charset="-120"/>
              </a:rPr>
              <a:t>(deffacts …)</a:t>
            </a:r>
            <a:endParaRPr lang="en-US" sz="1400" dirty="0"/>
          </a:p>
          <a:p>
            <a:pPr algn="r" indent="0" marL="0">
              <a:lnSpc>
                <a:spcPts val="2240"/>
              </a:lnSpc>
              <a:buNone/>
            </a:pPr>
            <a:r>
              <a:rPr lang="en-US" sz="1400" dirty="0">
                <a:solidFill>
                  <a:srgbClr val="33456B"/>
                </a:solidFill>
                <a:latin typeface="JetBrains Mono" pitchFamily="49" charset="0"/>
                <a:ea typeface="JetBrains Mono" pitchFamily="49" charset="-122"/>
                <a:cs typeface="JetBrains Mono" pitchFamily="49" charset="-120"/>
              </a:rPr>
              <a:t>(defrule … =&gt; …)</a:t>
            </a:r>
            <a:endParaRPr lang="en-US" sz="1400" dirty="0"/>
          </a:p>
          <a:p>
            <a:pPr algn="r" indent="0" marL="0">
              <a:lnSpc>
                <a:spcPts val="2240"/>
              </a:lnSpc>
              <a:buNone/>
            </a:pPr>
            <a:r>
              <a:rPr lang="en-US" sz="1400" dirty="0">
                <a:solidFill>
                  <a:srgbClr val="33456B"/>
                </a:solidFill>
                <a:latin typeface="JetBrains Mono" pitchFamily="49" charset="0"/>
                <a:ea typeface="JetBrains Mono" pitchFamily="49" charset="-122"/>
                <a:cs typeface="JetBrains Mono" pitchFamily="49" charset="-120"/>
              </a:rPr>
              <a:t>(reset)</a:t>
            </a:r>
            <a:endParaRPr lang="en-US" sz="1400" dirty="0"/>
          </a:p>
          <a:p>
            <a:pPr algn="r" indent="0" marL="0">
              <a:lnSpc>
                <a:spcPts val="2240"/>
              </a:lnSpc>
              <a:buNone/>
            </a:pPr>
            <a:r>
              <a:rPr lang="en-US" sz="1400" dirty="0">
                <a:solidFill>
                  <a:srgbClr val="33456B"/>
                </a:solidFill>
                <a:latin typeface="JetBrains Mono" pitchFamily="49" charset="0"/>
                <a:ea typeface="JetBrains Mono" pitchFamily="49" charset="-122"/>
                <a:cs typeface="JetBrains Mono" pitchFamily="49" charset="-120"/>
              </a:rPr>
              <a:t>(run)</a:t>
            </a:r>
            <a:endParaRPr lang="en-US" sz="1400" dirty="0"/>
          </a:p>
        </p:txBody>
      </p:sp>
      <p:sp>
        <p:nvSpPr>
          <p:cNvPr id="3" name="Text 1"/>
          <p:cNvSpPr/>
          <p:nvPr/>
        </p:nvSpPr>
        <p:spPr>
          <a:xfrm>
            <a:off x="812800" y="1369219"/>
            <a:ext cx="10883392" cy="274285"/>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FB3F0"/>
                </a:solidFill>
                <a:latin typeface="IBM Plex Sans" pitchFamily="34" charset="0"/>
                <a:ea typeface="IBM Plex Sans" pitchFamily="34" charset="-122"/>
                <a:cs typeface="IBM Plex Sans" pitchFamily="34" charset="-120"/>
              </a:rPr>
              <a:t>ARTIFICIAL INTELLIGENCE · PRACTICAL SECTION 3</a:t>
            </a:r>
            <a:endParaRPr lang="en-US" sz="1400" dirty="0"/>
          </a:p>
        </p:txBody>
      </p:sp>
      <p:sp>
        <p:nvSpPr>
          <p:cNvPr id="4" name="Text 2"/>
          <p:cNvSpPr/>
          <p:nvPr>
            <p:ph type="title"/>
          </p:nvPr>
        </p:nvSpPr>
        <p:spPr>
          <a:xfrm>
            <a:off x="812800" y="1872104"/>
            <a:ext cx="10883392" cy="1732139"/>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7F6F2"/>
                </a:solidFill>
                <a:latin typeface="IBM Plex Sans" pitchFamily="34" charset="0"/>
                <a:ea typeface="IBM Plex Sans" pitchFamily="34" charset="-122"/>
                <a:cs typeface="IBM Plex Sans" pitchFamily="34" charset="-120"/>
              </a:rPr>
              <a:t>Introduction</a:t>
            </a:r>
            <a:endParaRPr lang="en-US" sz="6400" dirty="0"/>
          </a:p>
          <a:p>
            <a:pPr algn="l" indent="0" marL="0">
              <a:lnSpc>
                <a:spcPts val="6720"/>
              </a:lnSpc>
              <a:buNone/>
            </a:pPr>
            <a:r>
              <a:rPr lang="en-US" sz="6400" b="1" i="0" dirty="0">
                <a:solidFill>
                  <a:srgbClr val="F7F6F2"/>
                </a:solidFill>
                <a:latin typeface="IBM Plex Sans" pitchFamily="34" charset="0"/>
                <a:ea typeface="IBM Plex Sans" pitchFamily="34" charset="-122"/>
                <a:cs typeface="IBM Plex Sans" pitchFamily="34" charset="-120"/>
              </a:rPr>
              <a:t>to CLIPS</a:t>
            </a:r>
            <a:endParaRPr lang="en-US" sz="6400" dirty="0"/>
          </a:p>
        </p:txBody>
      </p:sp>
      <p:sp>
        <p:nvSpPr>
          <p:cNvPr id="5" name="Text 3"/>
          <p:cNvSpPr/>
          <p:nvPr/>
        </p:nvSpPr>
        <p:spPr>
          <a:xfrm>
            <a:off x="812800" y="3832842"/>
            <a:ext cx="78486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CC7DA"/>
                </a:solidFill>
                <a:latin typeface="IBM Plex Sans" pitchFamily="34" charset="0"/>
                <a:ea typeface="IBM Plex Sans" pitchFamily="34" charset="-122"/>
                <a:cs typeface="IBM Plex Sans" pitchFamily="34" charset="-120"/>
              </a:rPr>
              <a:t>Knowledge, facts and rules: building expert systems that reason</a:t>
            </a:r>
            <a:endParaRPr lang="en-US" sz="2000" dirty="0"/>
          </a:p>
        </p:txBody>
      </p:sp>
      <p:sp>
        <p:nvSpPr>
          <p:cNvPr id="6" name="Shape 4"/>
          <p:cNvSpPr/>
          <p:nvPr/>
        </p:nvSpPr>
        <p:spPr>
          <a:xfrm>
            <a:off x="812800" y="4442442"/>
            <a:ext cx="1016000" cy="50800"/>
          </a:xfrm>
          <a:prstGeom prst="roundRect">
            <a:avLst>
              <a:gd name="adj" fmla="val 50000"/>
            </a:avLst>
          </a:prstGeom>
          <a:solidFill>
            <a:srgbClr val="E8913A"/>
          </a:solidFill>
          <a:ln/>
        </p:spPr>
      </p:sp>
      <p:sp>
        <p:nvSpPr>
          <p:cNvPr id="7" name="Text 5"/>
          <p:cNvSpPr/>
          <p:nvPr/>
        </p:nvSpPr>
        <p:spPr>
          <a:xfrm>
            <a:off x="812800" y="4747242"/>
            <a:ext cx="10883392" cy="34536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C7DA"/>
                </a:solidFill>
                <a:latin typeface="IBM Plex Sans" pitchFamily="34" charset="0"/>
                <a:ea typeface="IBM Plex Sans" pitchFamily="34" charset="-122"/>
                <a:cs typeface="IBM Plex Sans" pitchFamily="34" charset="-120"/>
              </a:rPr>
              <a:t>Under the supervision of </a:t>
            </a:r>
            <a:r>
              <a:rPr lang="en-US" sz="1800" b="1" dirty="0">
                <a:solidFill>
                  <a:srgbClr val="F7F6F2"/>
                </a:solidFill>
                <a:latin typeface="IBM Plex Sans" pitchFamily="34" charset="0"/>
                <a:ea typeface="IBM Plex Sans" pitchFamily="34" charset="-122"/>
                <a:cs typeface="IBM Plex Sans" pitchFamily="34" charset="-120"/>
              </a:rPr>
              <a:t>DR. Mohamed Kazim</a:t>
            </a:r>
            <a:endParaRPr lang="en-US" sz="1800" dirty="0"/>
          </a:p>
        </p:txBody>
      </p:sp>
      <p:sp>
        <p:nvSpPr>
          <p:cNvPr id="8" name="Text 6"/>
          <p:cNvSpPr/>
          <p:nvPr/>
        </p:nvSpPr>
        <p:spPr>
          <a:xfrm>
            <a:off x="812800" y="5168812"/>
            <a:ext cx="10883392" cy="34536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C7DA"/>
                </a:solidFill>
                <a:latin typeface="IBM Plex Sans" pitchFamily="34" charset="0"/>
                <a:ea typeface="IBM Plex Sans" pitchFamily="34" charset="-122"/>
                <a:cs typeface="IBM Plex Sans" pitchFamily="34" charset="-120"/>
              </a:rPr>
              <a:t>Prepared by </a:t>
            </a:r>
            <a:r>
              <a:rPr lang="en-US" sz="1800" b="1" dirty="0">
                <a:solidFill>
                  <a:srgbClr val="F7F6F2"/>
                </a:solidFill>
                <a:latin typeface="IBM Plex Sans" pitchFamily="34" charset="0"/>
                <a:ea typeface="IBM Plex Sans" pitchFamily="34" charset="-122"/>
                <a:cs typeface="IBM Plex Sans" pitchFamily="34" charset="-120"/>
              </a:rPr>
              <a:t>ENG. Moamen Yasser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6.1</a:t>
            </a:r>
            <a:endParaRPr lang="en-US" sz="1300" dirty="0"/>
          </a:p>
        </p:txBody>
      </p:sp>
      <p:sp>
        <p:nvSpPr>
          <p:cNvPr id="3" name="Text 1"/>
          <p:cNvSpPr/>
          <p:nvPr>
            <p:ph type="title"/>
          </p:nvPr>
        </p:nvSpPr>
        <p:spPr>
          <a:xfrm>
            <a:off x="812800" y="1145470"/>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What is CLIPS?</a:t>
            </a:r>
            <a:endParaRPr lang="en-US" sz="3200" dirty="0"/>
          </a:p>
        </p:txBody>
      </p:sp>
      <p:sp>
        <p:nvSpPr>
          <p:cNvPr id="4" name="Text 2"/>
          <p:cNvSpPr/>
          <p:nvPr/>
        </p:nvSpPr>
        <p:spPr>
          <a:xfrm>
            <a:off x="812800" y="1816012"/>
            <a:ext cx="9810750" cy="1019704"/>
          </a:xfrm>
          <a:prstGeom prst="rect">
            <a:avLst/>
          </a:prstGeom>
          <a:noFill/>
          <a:ln/>
        </p:spPr>
        <p:txBody>
          <a:bodyPr wrap="square" lIns="0" tIns="0" rIns="0" bIns="0" rtlCol="0" anchor="t">
            <a:normAutofit/>
          </a:bodyPr>
          <a:lstStyle/>
          <a:p>
            <a:pPr algn="l" indent="0" marL="0">
              <a:lnSpc>
                <a:spcPts val="2610"/>
              </a:lnSpc>
              <a:buNone/>
            </a:pPr>
            <a:r>
              <a:rPr lang="en-US" sz="1800" b="1" dirty="0">
                <a:solidFill>
                  <a:srgbClr val="14213D"/>
                </a:solidFill>
                <a:latin typeface="IBM Plex Sans" pitchFamily="34" charset="0"/>
                <a:ea typeface="IBM Plex Sans" pitchFamily="34" charset="-122"/>
                <a:cs typeface="IBM Plex Sans" pitchFamily="34" charset="-120"/>
              </a:rPr>
              <a:t>CLIPS</a:t>
            </a:r>
            <a:r>
              <a:rPr lang="en-US" sz="1800" dirty="0">
                <a:solidFill>
                  <a:srgbClr val="3D4A5F"/>
                </a:solidFill>
                <a:latin typeface="IBM Plex Sans" pitchFamily="34" charset="0"/>
                <a:ea typeface="IBM Plex Sans" pitchFamily="34" charset="-122"/>
                <a:cs typeface="IBM Plex Sans" pitchFamily="34" charset="-120"/>
              </a:rPr>
              <a:t> (C Language Integrated Production System) is a rule-based programming environment used to create </a:t>
            </a:r>
            <a:r>
              <a:rPr lang="en-US" sz="1800" b="1" dirty="0">
                <a:solidFill>
                  <a:srgbClr val="14213D"/>
                </a:solidFill>
                <a:latin typeface="IBM Plex Sans" pitchFamily="34" charset="0"/>
                <a:ea typeface="IBM Plex Sans" pitchFamily="34" charset="-122"/>
                <a:cs typeface="IBM Plex Sans" pitchFamily="34" charset="-120"/>
              </a:rPr>
              <a:t>expert systems</a:t>
            </a:r>
            <a:r>
              <a:rPr lang="en-US" sz="1800" dirty="0">
                <a:solidFill>
                  <a:srgbClr val="3D4A5F"/>
                </a:solidFill>
                <a:latin typeface="IBM Plex Sans" pitchFamily="34" charset="0"/>
                <a:ea typeface="IBM Plex Sans" pitchFamily="34" charset="-122"/>
                <a:cs typeface="IBM Plex Sans" pitchFamily="34" charset="-120"/>
              </a:rPr>
              <a:t>. Knowledge is written as </a:t>
            </a:r>
            <a:r>
              <a:rPr lang="en-US" sz="1800" b="1" dirty="0">
                <a:solidFill>
                  <a:srgbClr val="14213D"/>
                </a:solidFill>
                <a:latin typeface="IBM Plex Sans" pitchFamily="34" charset="0"/>
                <a:ea typeface="IBM Plex Sans" pitchFamily="34" charset="-122"/>
                <a:cs typeface="IBM Plex Sans" pitchFamily="34" charset="-120"/>
              </a:rPr>
              <a:t>facts</a:t>
            </a:r>
            <a:r>
              <a:rPr lang="en-US" sz="1800" dirty="0">
                <a:solidFill>
                  <a:srgbClr val="3D4A5F"/>
                </a:solidFill>
                <a:latin typeface="IBM Plex Sans" pitchFamily="34" charset="0"/>
                <a:ea typeface="IBM Plex Sans" pitchFamily="34" charset="-122"/>
                <a:cs typeface="IBM Plex Sans" pitchFamily="34" charset="-120"/>
              </a:rPr>
              <a:t> and </a:t>
            </a:r>
            <a:r>
              <a:rPr lang="en-US" sz="1800" b="1" dirty="0">
                <a:solidFill>
                  <a:srgbClr val="14213D"/>
                </a:solidFill>
                <a:latin typeface="IBM Plex Sans" pitchFamily="34" charset="0"/>
                <a:ea typeface="IBM Plex Sans" pitchFamily="34" charset="-122"/>
                <a:cs typeface="IBM Plex Sans" pitchFamily="34" charset="-120"/>
              </a:rPr>
              <a:t>rules</a:t>
            </a:r>
            <a:r>
              <a:rPr lang="en-US" sz="1800" dirty="0">
                <a:solidFill>
                  <a:srgbClr val="3D4A5F"/>
                </a:solidFill>
                <a:latin typeface="IBM Plex Sans" pitchFamily="34" charset="0"/>
                <a:ea typeface="IBM Plex Sans" pitchFamily="34" charset="-122"/>
                <a:cs typeface="IBM Plex Sans" pitchFamily="34" charset="-120"/>
              </a:rPr>
              <a:t>, and the system makes decisions by logical inference.</a:t>
            </a:r>
            <a:endParaRPr lang="en-US" sz="1800" dirty="0"/>
          </a:p>
        </p:txBody>
      </p:sp>
      <p:sp>
        <p:nvSpPr>
          <p:cNvPr id="5" name="Shape 3"/>
          <p:cNvSpPr/>
          <p:nvPr/>
        </p:nvSpPr>
        <p:spPr>
          <a:xfrm>
            <a:off x="819150" y="3019866"/>
            <a:ext cx="3008930" cy="1239132"/>
          </a:xfrm>
          <a:prstGeom prst="roundRect">
            <a:avLst>
              <a:gd name="adj" fmla="val 7687"/>
            </a:avLst>
          </a:prstGeom>
          <a:solidFill>
            <a:srgbClr val="FFFFFF"/>
          </a:solidFill>
          <a:ln w="12700">
            <a:solidFill>
              <a:srgbClr val="D7DEE9"/>
            </a:solidFill>
            <a:prstDash val="solid"/>
          </a:ln>
        </p:spPr>
      </p:sp>
      <p:sp>
        <p:nvSpPr>
          <p:cNvPr id="6" name="Text 4"/>
          <p:cNvSpPr/>
          <p:nvPr/>
        </p:nvSpPr>
        <p:spPr>
          <a:xfrm>
            <a:off x="1027289" y="3228005"/>
            <a:ext cx="2670432"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Knowledge</a:t>
            </a:r>
            <a:endParaRPr lang="en-US" sz="1800" dirty="0"/>
          </a:p>
        </p:txBody>
      </p:sp>
      <p:sp>
        <p:nvSpPr>
          <p:cNvPr id="7" name="Text 5"/>
          <p:cNvSpPr/>
          <p:nvPr/>
        </p:nvSpPr>
        <p:spPr>
          <a:xfrm>
            <a:off x="1027289" y="3553089"/>
            <a:ext cx="2670432"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Facts + rules written by the expert</a:t>
            </a:r>
            <a:endParaRPr lang="en-US" sz="1400" dirty="0"/>
          </a:p>
        </p:txBody>
      </p:sp>
      <p:pic>
        <p:nvPicPr>
          <p:cNvPr id="8" name="Image 0" descr="arrow-right">    </p:cNvPr>
          <p:cNvPicPr>
            <a:picLocks noChangeAspect="1"/>
          </p:cNvPicPr>
          <p:nvPr/>
        </p:nvPicPr>
        <p:blipFill>
          <a:blip r:embed="rId1"/>
          <a:srcRect l="0" r="0" t="0" b="0"/>
          <a:stretch/>
        </p:blipFill>
        <p:spPr>
          <a:xfrm>
            <a:off x="3986830" y="3525132"/>
            <a:ext cx="457200" cy="228600"/>
          </a:xfrm>
          <a:prstGeom prst="rect">
            <a:avLst/>
          </a:prstGeom>
        </p:spPr>
      </p:pic>
      <p:sp>
        <p:nvSpPr>
          <p:cNvPr id="9" name="Shape 6"/>
          <p:cNvSpPr/>
          <p:nvPr/>
        </p:nvSpPr>
        <p:spPr>
          <a:xfrm>
            <a:off x="4602780" y="3019866"/>
            <a:ext cx="3009018" cy="1239132"/>
          </a:xfrm>
          <a:prstGeom prst="roundRect">
            <a:avLst>
              <a:gd name="adj" fmla="val 7687"/>
            </a:avLst>
          </a:prstGeom>
          <a:solidFill>
            <a:srgbClr val="FFFFFF"/>
          </a:solidFill>
          <a:ln w="12700">
            <a:solidFill>
              <a:srgbClr val="D7DEE9"/>
            </a:solidFill>
            <a:prstDash val="solid"/>
          </a:ln>
        </p:spPr>
      </p:sp>
      <p:sp>
        <p:nvSpPr>
          <p:cNvPr id="10" name="Text 7"/>
          <p:cNvSpPr/>
          <p:nvPr/>
        </p:nvSpPr>
        <p:spPr>
          <a:xfrm>
            <a:off x="4810919" y="3228005"/>
            <a:ext cx="267052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Inference</a:t>
            </a:r>
            <a:endParaRPr lang="en-US" sz="1800" dirty="0"/>
          </a:p>
        </p:txBody>
      </p:sp>
      <p:sp>
        <p:nvSpPr>
          <p:cNvPr id="11" name="Text 8"/>
          <p:cNvSpPr/>
          <p:nvPr/>
        </p:nvSpPr>
        <p:spPr>
          <a:xfrm>
            <a:off x="4810919" y="3553089"/>
            <a:ext cx="2670523"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CLIPS matches rules against facts</a:t>
            </a:r>
            <a:endParaRPr lang="en-US" sz="1400" dirty="0"/>
          </a:p>
        </p:txBody>
      </p:sp>
      <p:pic>
        <p:nvPicPr>
          <p:cNvPr id="12" name="Image 1" descr="arrow-right">    </p:cNvPr>
          <p:cNvPicPr>
            <a:picLocks noChangeAspect="1"/>
          </p:cNvPicPr>
          <p:nvPr/>
        </p:nvPicPr>
        <p:blipFill>
          <a:blip r:embed="rId2"/>
          <a:srcRect l="0" r="0" t="0" b="0"/>
          <a:stretch/>
        </p:blipFill>
        <p:spPr>
          <a:xfrm>
            <a:off x="7770548" y="3525132"/>
            <a:ext cx="457200" cy="228600"/>
          </a:xfrm>
          <a:prstGeom prst="rect">
            <a:avLst/>
          </a:prstGeom>
        </p:spPr>
      </p:pic>
      <p:sp>
        <p:nvSpPr>
          <p:cNvPr id="13" name="Shape 9"/>
          <p:cNvSpPr/>
          <p:nvPr/>
        </p:nvSpPr>
        <p:spPr>
          <a:xfrm>
            <a:off x="8380148" y="3024805"/>
            <a:ext cx="2999052" cy="1229254"/>
          </a:xfrm>
          <a:prstGeom prst="roundRect">
            <a:avLst>
              <a:gd name="adj" fmla="val 8265"/>
            </a:avLst>
          </a:prstGeom>
          <a:solidFill>
            <a:srgbClr val="14213D"/>
          </a:solidFill>
          <a:ln/>
        </p:spPr>
      </p:sp>
      <p:sp>
        <p:nvSpPr>
          <p:cNvPr id="14" name="Text 10"/>
          <p:cNvSpPr/>
          <p:nvPr/>
        </p:nvSpPr>
        <p:spPr>
          <a:xfrm>
            <a:off x="8583348" y="3228005"/>
            <a:ext cx="2670432"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Decision</a:t>
            </a:r>
            <a:endParaRPr lang="en-US" sz="1800" dirty="0"/>
          </a:p>
        </p:txBody>
      </p:sp>
      <p:sp>
        <p:nvSpPr>
          <p:cNvPr id="15" name="Text 11"/>
          <p:cNvSpPr/>
          <p:nvPr/>
        </p:nvSpPr>
        <p:spPr>
          <a:xfrm>
            <a:off x="8583348" y="3553089"/>
            <a:ext cx="2670432"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7DA"/>
                </a:solidFill>
                <a:latin typeface="IBM Plex Sans" pitchFamily="34" charset="0"/>
                <a:ea typeface="IBM Plex Sans" pitchFamily="34" charset="-122"/>
                <a:cs typeface="IBM Plex Sans" pitchFamily="34" charset="-120"/>
              </a:rPr>
              <a:t>A conclusion, like a human expert</a:t>
            </a:r>
            <a:endParaRPr lang="en-US" sz="1400" dirty="0"/>
          </a:p>
        </p:txBody>
      </p:sp>
      <p:sp>
        <p:nvSpPr>
          <p:cNvPr id="16" name="Text 12"/>
          <p:cNvSpPr/>
          <p:nvPr/>
        </p:nvSpPr>
        <p:spPr>
          <a:xfrm>
            <a:off x="812800" y="4468548"/>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F"/>
                </a:solidFill>
                <a:latin typeface="IBM Plex Sans" pitchFamily="34" charset="0"/>
                <a:ea typeface="IBM Plex Sans" pitchFamily="34" charset="-122"/>
                <a:cs typeface="IBM Plex Sans" pitchFamily="34" charset="-120"/>
              </a:rPr>
              <a:t>Originally developed by </a:t>
            </a:r>
            <a:r>
              <a:rPr lang="en-US" sz="1500" b="1" dirty="0">
                <a:solidFill>
                  <a:srgbClr val="14213D"/>
                </a:solidFill>
                <a:latin typeface="IBM Plex Sans" pitchFamily="34" charset="0"/>
                <a:ea typeface="IBM Plex Sans" pitchFamily="34" charset="-122"/>
                <a:cs typeface="IBM Plex Sans" pitchFamily="34" charset="-120"/>
              </a:rPr>
              <a:t>NASA,</a:t>
            </a:r>
            <a:r>
              <a:rPr lang="en-US" sz="1500" dirty="0">
                <a:solidFill>
                  <a:srgbClr val="3D4A5F"/>
                </a:solidFill>
                <a:latin typeface="IBM Plex Sans" pitchFamily="34" charset="0"/>
                <a:ea typeface="IBM Plex Sans" pitchFamily="34" charset="-122"/>
                <a:cs typeface="IBM Plex Sans" pitchFamily="34" charset="-120"/>
              </a:rPr>
              <a:t> widely used for knowledge representation, logical decision-making and automated reasoning.</a:t>
            </a:r>
            <a:endParaRPr lang="en-US" sz="1500" dirty="0"/>
          </a:p>
        </p:txBody>
      </p:sp>
      <p:sp>
        <p:nvSpPr>
          <p:cNvPr id="17" name="Text 13"/>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6.2</a:t>
            </a:r>
            <a:endParaRPr lang="en-US" sz="1300" dirty="0"/>
          </a:p>
        </p:txBody>
      </p:sp>
      <p:sp>
        <p:nvSpPr>
          <p:cNvPr id="3" name="Text 1"/>
          <p:cNvSpPr/>
          <p:nvPr>
            <p:ph type="title"/>
          </p:nvPr>
        </p:nvSpPr>
        <p:spPr>
          <a:xfrm>
            <a:off x="812800" y="1145470"/>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Why CLIPS?</a:t>
            </a:r>
            <a:endParaRPr lang="en-US" sz="3200" dirty="0"/>
          </a:p>
        </p:txBody>
      </p:sp>
      <p:sp>
        <p:nvSpPr>
          <p:cNvPr id="4" name="Text 2"/>
          <p:cNvSpPr/>
          <p:nvPr/>
        </p:nvSpPr>
        <p:spPr>
          <a:xfrm>
            <a:off x="812800" y="1816012"/>
            <a:ext cx="10883392" cy="3276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3D4A5F"/>
                </a:solidFill>
                <a:latin typeface="IBM Plex Sans" pitchFamily="34" charset="0"/>
                <a:ea typeface="IBM Plex Sans" pitchFamily="34" charset="-122"/>
                <a:cs typeface="IBM Plex Sans" pitchFamily="34" charset="-120"/>
              </a:rPr>
              <a:t>CLIPS is used when we need:</a:t>
            </a:r>
            <a:endParaRPr lang="en-US" sz="1700" dirty="0"/>
          </a:p>
        </p:txBody>
      </p:sp>
      <p:sp>
        <p:nvSpPr>
          <p:cNvPr id="5" name="Shape 3"/>
          <p:cNvSpPr/>
          <p:nvPr/>
        </p:nvSpPr>
        <p:spPr>
          <a:xfrm>
            <a:off x="819150" y="2327804"/>
            <a:ext cx="3373967" cy="3507846"/>
          </a:xfrm>
          <a:prstGeom prst="roundRect">
            <a:avLst>
              <a:gd name="adj" fmla="val 2823"/>
            </a:avLst>
          </a:prstGeom>
          <a:solidFill>
            <a:srgbClr val="FFFFFF"/>
          </a:solidFill>
          <a:ln w="12700">
            <a:solidFill>
              <a:srgbClr val="D7DEE9"/>
            </a:solidFill>
            <a:prstDash val="solid"/>
          </a:ln>
        </p:spPr>
      </p:sp>
      <p:pic>
        <p:nvPicPr>
          <p:cNvPr id="6" name="Image 0" descr="Lightbulb">    </p:cNvPr>
          <p:cNvPicPr>
            <a:picLocks noChangeAspect="1"/>
          </p:cNvPicPr>
          <p:nvPr/>
        </p:nvPicPr>
        <p:blipFill>
          <a:blip r:embed="rId1"/>
          <a:srcRect l="0" r="0" t="0" b="0"/>
          <a:stretch/>
        </p:blipFill>
        <p:spPr>
          <a:xfrm>
            <a:off x="1128889" y="2637543"/>
            <a:ext cx="406400" cy="406400"/>
          </a:xfrm>
          <a:prstGeom prst="rect">
            <a:avLst/>
          </a:prstGeom>
        </p:spPr>
      </p:pic>
      <p:sp>
        <p:nvSpPr>
          <p:cNvPr id="7" name="Text 4"/>
          <p:cNvSpPr/>
          <p:nvPr/>
        </p:nvSpPr>
        <p:spPr>
          <a:xfrm>
            <a:off x="1128889" y="3170943"/>
            <a:ext cx="2837124" cy="604485"/>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IBM Plex Sans" pitchFamily="34" charset="0"/>
                <a:ea typeface="IBM Plex Sans" pitchFamily="34" charset="-122"/>
                <a:cs typeface="IBM Plex Sans" pitchFamily="34" charset="-120"/>
              </a:rPr>
              <a:t>Knowledge-based reasoning</a:t>
            </a:r>
            <a:endParaRPr lang="en-US" sz="1900" dirty="0"/>
          </a:p>
        </p:txBody>
      </p:sp>
      <p:sp>
        <p:nvSpPr>
          <p:cNvPr id="8" name="Text 5"/>
          <p:cNvSpPr/>
          <p:nvPr/>
        </p:nvSpPr>
        <p:spPr>
          <a:xfrm>
            <a:off x="1128889" y="3877028"/>
            <a:ext cx="28371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F"/>
                </a:solidFill>
                <a:latin typeface="IBM Plex Sans" pitchFamily="34" charset="0"/>
                <a:ea typeface="IBM Plex Sans" pitchFamily="34" charset="-122"/>
                <a:cs typeface="IBM Plex Sans" pitchFamily="34" charset="-120"/>
              </a:rPr>
              <a:t>Reasoning with knowledge instead of numerical prediction.</a:t>
            </a:r>
            <a:endParaRPr lang="en-US" sz="1500" dirty="0"/>
          </a:p>
        </p:txBody>
      </p:sp>
      <p:sp>
        <p:nvSpPr>
          <p:cNvPr id="9" name="Shape 6"/>
          <p:cNvSpPr/>
          <p:nvPr/>
        </p:nvSpPr>
        <p:spPr>
          <a:xfrm>
            <a:off x="4409017" y="2327804"/>
            <a:ext cx="3373967" cy="3507846"/>
          </a:xfrm>
          <a:prstGeom prst="roundRect">
            <a:avLst>
              <a:gd name="adj" fmla="val 2823"/>
            </a:avLst>
          </a:prstGeom>
          <a:solidFill>
            <a:srgbClr val="FFFFFF"/>
          </a:solidFill>
          <a:ln w="12700">
            <a:solidFill>
              <a:srgbClr val="D7DEE9"/>
            </a:solidFill>
            <a:prstDash val="solid"/>
          </a:ln>
        </p:spPr>
      </p:sp>
      <p:pic>
        <p:nvPicPr>
          <p:cNvPr id="10" name="Image 1" descr="Users">    </p:cNvPr>
          <p:cNvPicPr>
            <a:picLocks noChangeAspect="1"/>
          </p:cNvPicPr>
          <p:nvPr/>
        </p:nvPicPr>
        <p:blipFill>
          <a:blip r:embed="rId2"/>
          <a:srcRect l="0" r="0" t="0" b="0"/>
          <a:stretch/>
        </p:blipFill>
        <p:spPr>
          <a:xfrm>
            <a:off x="4718756" y="2637543"/>
            <a:ext cx="406400" cy="406400"/>
          </a:xfrm>
          <a:prstGeom prst="rect">
            <a:avLst/>
          </a:prstGeom>
        </p:spPr>
      </p:pic>
      <p:sp>
        <p:nvSpPr>
          <p:cNvPr id="11" name="Text 7"/>
          <p:cNvSpPr/>
          <p:nvPr/>
        </p:nvSpPr>
        <p:spPr>
          <a:xfrm>
            <a:off x="4718756" y="3170943"/>
            <a:ext cx="2837124" cy="314942"/>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IBM Plex Sans" pitchFamily="34" charset="0"/>
                <a:ea typeface="IBM Plex Sans" pitchFamily="34" charset="-122"/>
                <a:cs typeface="IBM Plex Sans" pitchFamily="34" charset="-120"/>
              </a:rPr>
              <a:t>Expert-like decisions</a:t>
            </a:r>
            <a:endParaRPr lang="en-US" sz="1900" dirty="0"/>
          </a:p>
        </p:txBody>
      </p:sp>
      <p:sp>
        <p:nvSpPr>
          <p:cNvPr id="12" name="Text 8"/>
          <p:cNvSpPr/>
          <p:nvPr/>
        </p:nvSpPr>
        <p:spPr>
          <a:xfrm>
            <a:off x="4718756" y="3587485"/>
            <a:ext cx="28371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F"/>
                </a:solidFill>
                <a:latin typeface="IBM Plex Sans" pitchFamily="34" charset="0"/>
                <a:ea typeface="IBM Plex Sans" pitchFamily="34" charset="-122"/>
                <a:cs typeface="IBM Plex Sans" pitchFamily="34" charset="-120"/>
              </a:rPr>
              <a:t>Systems that make decisions similar to human experts.</a:t>
            </a:r>
            <a:endParaRPr lang="en-US" sz="1500" dirty="0"/>
          </a:p>
        </p:txBody>
      </p:sp>
      <p:sp>
        <p:nvSpPr>
          <p:cNvPr id="13" name="Shape 9"/>
          <p:cNvSpPr/>
          <p:nvPr/>
        </p:nvSpPr>
        <p:spPr>
          <a:xfrm>
            <a:off x="7998883" y="2327804"/>
            <a:ext cx="3373967" cy="3507846"/>
          </a:xfrm>
          <a:prstGeom prst="roundRect">
            <a:avLst>
              <a:gd name="adj" fmla="val 2823"/>
            </a:avLst>
          </a:prstGeom>
          <a:solidFill>
            <a:srgbClr val="FFFFFF"/>
          </a:solidFill>
          <a:ln w="12700">
            <a:solidFill>
              <a:srgbClr val="D7DEE9"/>
            </a:solidFill>
            <a:prstDash val="solid"/>
          </a:ln>
        </p:spPr>
      </p:sp>
      <p:pic>
        <p:nvPicPr>
          <p:cNvPr id="14" name="Image 2" descr="Database">    </p:cNvPr>
          <p:cNvPicPr>
            <a:picLocks noChangeAspect="1"/>
          </p:cNvPicPr>
          <p:nvPr/>
        </p:nvPicPr>
        <p:blipFill>
          <a:blip r:embed="rId3"/>
          <a:srcRect l="0" r="0" t="0" b="0"/>
          <a:stretch/>
        </p:blipFill>
        <p:spPr>
          <a:xfrm>
            <a:off x="8308622" y="2637543"/>
            <a:ext cx="406400" cy="406400"/>
          </a:xfrm>
          <a:prstGeom prst="rect">
            <a:avLst/>
          </a:prstGeom>
        </p:spPr>
      </p:pic>
      <p:sp>
        <p:nvSpPr>
          <p:cNvPr id="15" name="Text 10"/>
          <p:cNvSpPr/>
          <p:nvPr/>
        </p:nvSpPr>
        <p:spPr>
          <a:xfrm>
            <a:off x="8308622" y="3170943"/>
            <a:ext cx="2837124" cy="314942"/>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IBM Plex Sans" pitchFamily="34" charset="0"/>
                <a:ea typeface="IBM Plex Sans" pitchFamily="34" charset="-122"/>
                <a:cs typeface="IBM Plex Sans" pitchFamily="34" charset="-120"/>
              </a:rPr>
              <a:t>Clear separation</a:t>
            </a:r>
            <a:endParaRPr lang="en-US" sz="1900" dirty="0"/>
          </a:p>
        </p:txBody>
      </p:sp>
      <p:sp>
        <p:nvSpPr>
          <p:cNvPr id="16" name="Text 11"/>
          <p:cNvSpPr/>
          <p:nvPr/>
        </p:nvSpPr>
        <p:spPr>
          <a:xfrm>
            <a:off x="8308622" y="3587485"/>
            <a:ext cx="28371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F"/>
                </a:solidFill>
                <a:latin typeface="IBM Plex Sans" pitchFamily="34" charset="0"/>
                <a:ea typeface="IBM Plex Sans" pitchFamily="34" charset="-122"/>
                <a:cs typeface="IBM Plex Sans" pitchFamily="34" charset="-120"/>
              </a:rPr>
              <a:t>Knowledge (</a:t>
            </a:r>
            <a:r>
              <a:rPr lang="en-US" sz="1500" b="1" dirty="0">
                <a:solidFill>
                  <a:srgbClr val="3D4A5F"/>
                </a:solidFill>
                <a:latin typeface="IBM Plex Sans" pitchFamily="34" charset="0"/>
                <a:ea typeface="IBM Plex Sans" pitchFamily="34" charset="-122"/>
                <a:cs typeface="IBM Plex Sans" pitchFamily="34" charset="-120"/>
              </a:rPr>
              <a:t>facts</a:t>
            </a:r>
            <a:r>
              <a:rPr lang="en-US" sz="1500" dirty="0">
                <a:solidFill>
                  <a:srgbClr val="3D4A5F"/>
                </a:solidFill>
                <a:latin typeface="IBM Plex Sans" pitchFamily="34" charset="0"/>
                <a:ea typeface="IBM Plex Sans" pitchFamily="34" charset="-122"/>
                <a:cs typeface="IBM Plex Sans" pitchFamily="34" charset="-120"/>
              </a:rPr>
              <a:t>) is kept apart from logic (</a:t>
            </a:r>
            <a:r>
              <a:rPr lang="en-US" sz="1500" b="1" dirty="0">
                <a:solidFill>
                  <a:srgbClr val="3D4A5F"/>
                </a:solidFill>
                <a:latin typeface="IBM Plex Sans" pitchFamily="34" charset="0"/>
                <a:ea typeface="IBM Plex Sans" pitchFamily="34" charset="-122"/>
                <a:cs typeface="IBM Plex Sans" pitchFamily="34" charset="-120"/>
              </a:rPr>
              <a:t>rules</a:t>
            </a:r>
            <a:r>
              <a:rPr lang="en-US" sz="1500" dirty="0">
                <a:solidFill>
                  <a:srgbClr val="3D4A5F"/>
                </a:solidFill>
                <a:latin typeface="IBM Plex Sans" pitchFamily="34" charset="0"/>
                <a:ea typeface="IBM Plex Sans" pitchFamily="34" charset="-122"/>
                <a:cs typeface="IBM Plex Sans" pitchFamily="34" charset="-120"/>
              </a:rPr>
              <a:t>).</a:t>
            </a:r>
            <a:endParaRPr lang="en-US" sz="1500" dirty="0"/>
          </a:p>
        </p:txBody>
      </p:sp>
      <p:sp>
        <p:nvSpPr>
          <p:cNvPr id="17" name="Text 12"/>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6.3</a:t>
            </a:r>
            <a:endParaRPr lang="en-US" sz="1300" dirty="0"/>
          </a:p>
        </p:txBody>
      </p:sp>
      <p:sp>
        <p:nvSpPr>
          <p:cNvPr id="3" name="Text 1"/>
          <p:cNvSpPr/>
          <p:nvPr>
            <p:ph type="title"/>
          </p:nvPr>
        </p:nvSpPr>
        <p:spPr>
          <a:xfrm>
            <a:off x="812800" y="1145470"/>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Key Features of CLIPS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27301"/>
          <a:ext cx="10555111" cy="2691695"/>
        </p:xfrm>
        <a:graphic>
          <a:graphicData uri="http://schemas.openxmlformats.org/drawingml/2006/table">
            <a:tbl>
              <a:tblPr/>
              <a:tblGrid>
                <a:gridCol w="3588738"/>
                <a:gridCol w="6966373"/>
              </a:tblGrid>
              <a:tr h="384528">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Feature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Description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Rule-Based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Uses IF–THEN rules to represent knowledge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Forward &amp; Backward Chaining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Infers conclusions from facts (forward) or works back from goals (backward)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Object-Oriented Support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Allows defining classes and instances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Knowledge Base Management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Stores and updates facts and rules dynamically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Cross-Platform &amp; Extensible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Can be integrated with C/C++ or external systems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Standalone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Does not require external libraries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bl>
          </a:graphicData>
        </a:graphic>
      </p:graphicFrame>
      <p:sp>
        <p:nvSpPr>
          <p:cNvPr id="5" name="Text 2"/>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6.4</a:t>
            </a:r>
            <a:endParaRPr lang="en-US" sz="1300" dirty="0"/>
          </a:p>
        </p:txBody>
      </p:sp>
      <p:sp>
        <p:nvSpPr>
          <p:cNvPr id="3" name="Text 1"/>
          <p:cNvSpPr/>
          <p:nvPr>
            <p:ph type="title"/>
          </p:nvPr>
        </p:nvSpPr>
        <p:spPr>
          <a:xfrm>
            <a:off x="812800" y="1145471"/>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Components of CLIPS</a:t>
            </a:r>
            <a:endParaRPr lang="en-US" sz="3200" dirty="0"/>
          </a:p>
        </p:txBody>
      </p:sp>
      <p:sp>
        <p:nvSpPr>
          <p:cNvPr id="4" name="Shape 2"/>
          <p:cNvSpPr/>
          <p:nvPr/>
        </p:nvSpPr>
        <p:spPr>
          <a:xfrm>
            <a:off x="819150" y="1822363"/>
            <a:ext cx="3407833" cy="1444713"/>
          </a:xfrm>
          <a:prstGeom prst="roundRect">
            <a:avLst>
              <a:gd name="adj" fmla="val 6593"/>
            </a:avLst>
          </a:prstGeom>
          <a:solidFill>
            <a:srgbClr val="FFFFFF"/>
          </a:solidFill>
          <a:ln w="12700">
            <a:solidFill>
              <a:srgbClr val="D7DEE9"/>
            </a:solidFill>
            <a:prstDash val="solid"/>
          </a:ln>
        </p:spPr>
      </p:sp>
      <p:sp>
        <p:nvSpPr>
          <p:cNvPr id="5" name="Text 3"/>
          <p:cNvSpPr/>
          <p:nvPr/>
        </p:nvSpPr>
        <p:spPr>
          <a:xfrm>
            <a:off x="1027289" y="2030502"/>
            <a:ext cx="308130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Knowledge Base</a:t>
            </a:r>
            <a:endParaRPr lang="en-US" sz="1700" dirty="0"/>
          </a:p>
        </p:txBody>
      </p:sp>
      <p:sp>
        <p:nvSpPr>
          <p:cNvPr id="6" name="Text 4"/>
          <p:cNvSpPr/>
          <p:nvPr/>
        </p:nvSpPr>
        <p:spPr>
          <a:xfrm>
            <a:off x="1027289" y="2365728"/>
            <a:ext cx="3081302"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Stores the domain facts and rules. Facts are static information; rules define how to reason about them.</a:t>
            </a:r>
            <a:endParaRPr lang="en-US" sz="1300" dirty="0"/>
          </a:p>
        </p:txBody>
      </p:sp>
      <p:sp>
        <p:nvSpPr>
          <p:cNvPr id="7" name="Shape 5"/>
          <p:cNvSpPr/>
          <p:nvPr/>
        </p:nvSpPr>
        <p:spPr>
          <a:xfrm>
            <a:off x="4385733" y="1816013"/>
            <a:ext cx="3420533" cy="1457413"/>
          </a:xfrm>
          <a:prstGeom prst="roundRect">
            <a:avLst>
              <a:gd name="adj" fmla="val 6971"/>
            </a:avLst>
          </a:prstGeom>
          <a:solidFill>
            <a:srgbClr val="14213D"/>
          </a:solidFill>
          <a:ln/>
        </p:spPr>
      </p:sp>
      <p:sp>
        <p:nvSpPr>
          <p:cNvPr id="8" name="Text 6"/>
          <p:cNvSpPr/>
          <p:nvPr/>
        </p:nvSpPr>
        <p:spPr>
          <a:xfrm>
            <a:off x="4588933" y="2019213"/>
            <a:ext cx="310455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Inference Engine</a:t>
            </a:r>
            <a:endParaRPr lang="en-US" sz="1700" dirty="0"/>
          </a:p>
        </p:txBody>
      </p:sp>
      <p:sp>
        <p:nvSpPr>
          <p:cNvPr id="9" name="Text 7"/>
          <p:cNvSpPr/>
          <p:nvPr/>
        </p:nvSpPr>
        <p:spPr>
          <a:xfrm>
            <a:off x="4588933" y="2354439"/>
            <a:ext cx="3104557"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C7DA"/>
                </a:solidFill>
                <a:latin typeface="IBM Plex Sans" pitchFamily="34" charset="0"/>
                <a:ea typeface="IBM Plex Sans" pitchFamily="34" charset="-122"/>
                <a:cs typeface="IBM Plex Sans" pitchFamily="34" charset="-120"/>
              </a:rPr>
              <a:t>Matches rules against facts using forward chaining and fires the applicable rules to derive conclusions.</a:t>
            </a:r>
            <a:endParaRPr lang="en-US" sz="1300" dirty="0"/>
          </a:p>
        </p:txBody>
      </p:sp>
      <p:sp>
        <p:nvSpPr>
          <p:cNvPr id="10" name="Shape 8"/>
          <p:cNvSpPr/>
          <p:nvPr/>
        </p:nvSpPr>
        <p:spPr>
          <a:xfrm>
            <a:off x="7965017" y="1822363"/>
            <a:ext cx="3407833" cy="1444713"/>
          </a:xfrm>
          <a:prstGeom prst="roundRect">
            <a:avLst>
              <a:gd name="adj" fmla="val 6593"/>
            </a:avLst>
          </a:prstGeom>
          <a:solidFill>
            <a:srgbClr val="FFFFFF"/>
          </a:solidFill>
          <a:ln w="12700">
            <a:solidFill>
              <a:srgbClr val="D7DEE9"/>
            </a:solidFill>
            <a:prstDash val="solid"/>
          </a:ln>
        </p:spPr>
      </p:sp>
      <p:sp>
        <p:nvSpPr>
          <p:cNvPr id="11" name="Text 9"/>
          <p:cNvSpPr/>
          <p:nvPr/>
        </p:nvSpPr>
        <p:spPr>
          <a:xfrm>
            <a:off x="8173155" y="2030502"/>
            <a:ext cx="308130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Working Memory</a:t>
            </a:r>
            <a:endParaRPr lang="en-US" sz="1700" dirty="0"/>
          </a:p>
        </p:txBody>
      </p:sp>
      <p:sp>
        <p:nvSpPr>
          <p:cNvPr id="12" name="Text 10"/>
          <p:cNvSpPr/>
          <p:nvPr/>
        </p:nvSpPr>
        <p:spPr>
          <a:xfrm>
            <a:off x="8173155" y="2365728"/>
            <a:ext cx="3081302"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Holds the current state: the facts and intermediate results during reasoning.</a:t>
            </a:r>
            <a:endParaRPr lang="en-US" sz="1300" dirty="0"/>
          </a:p>
        </p:txBody>
      </p:sp>
      <p:sp>
        <p:nvSpPr>
          <p:cNvPr id="13" name="Shape 11"/>
          <p:cNvSpPr/>
          <p:nvPr/>
        </p:nvSpPr>
        <p:spPr>
          <a:xfrm>
            <a:off x="819150" y="3432175"/>
            <a:ext cx="3407833" cy="1444713"/>
          </a:xfrm>
          <a:prstGeom prst="roundRect">
            <a:avLst>
              <a:gd name="adj" fmla="val 6593"/>
            </a:avLst>
          </a:prstGeom>
          <a:solidFill>
            <a:srgbClr val="FFFFFF"/>
          </a:solidFill>
          <a:ln w="12700">
            <a:solidFill>
              <a:srgbClr val="D7DEE9"/>
            </a:solidFill>
            <a:prstDash val="solid"/>
          </a:ln>
        </p:spPr>
      </p:sp>
      <p:sp>
        <p:nvSpPr>
          <p:cNvPr id="14" name="Text 12"/>
          <p:cNvSpPr/>
          <p:nvPr/>
        </p:nvSpPr>
        <p:spPr>
          <a:xfrm>
            <a:off x="1027289" y="3640314"/>
            <a:ext cx="308130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Agenda</a:t>
            </a:r>
            <a:endParaRPr lang="en-US" sz="1700" dirty="0"/>
          </a:p>
        </p:txBody>
      </p:sp>
      <p:sp>
        <p:nvSpPr>
          <p:cNvPr id="15" name="Text 13"/>
          <p:cNvSpPr/>
          <p:nvPr/>
        </p:nvSpPr>
        <p:spPr>
          <a:xfrm>
            <a:off x="1027289" y="3975540"/>
            <a:ext cx="3081302"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The list of rules ready to fire now. When several apply, the engine resolves the conflict with a strategy.</a:t>
            </a:r>
            <a:endParaRPr lang="en-US" sz="1300" dirty="0"/>
          </a:p>
        </p:txBody>
      </p:sp>
      <p:sp>
        <p:nvSpPr>
          <p:cNvPr id="16" name="Shape 14"/>
          <p:cNvSpPr/>
          <p:nvPr/>
        </p:nvSpPr>
        <p:spPr>
          <a:xfrm>
            <a:off x="4392083" y="3432175"/>
            <a:ext cx="3407833" cy="1444713"/>
          </a:xfrm>
          <a:prstGeom prst="roundRect">
            <a:avLst>
              <a:gd name="adj" fmla="val 6593"/>
            </a:avLst>
          </a:prstGeom>
          <a:solidFill>
            <a:srgbClr val="FFFFFF"/>
          </a:solidFill>
          <a:ln w="12700">
            <a:solidFill>
              <a:srgbClr val="D7DEE9"/>
            </a:solidFill>
            <a:prstDash val="solid"/>
          </a:ln>
        </p:spPr>
      </p:sp>
      <p:sp>
        <p:nvSpPr>
          <p:cNvPr id="17" name="Text 15"/>
          <p:cNvSpPr/>
          <p:nvPr/>
        </p:nvSpPr>
        <p:spPr>
          <a:xfrm>
            <a:off x="4600222" y="3640314"/>
            <a:ext cx="308130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User Interface</a:t>
            </a:r>
            <a:endParaRPr lang="en-US" sz="1700" dirty="0"/>
          </a:p>
        </p:txBody>
      </p:sp>
      <p:sp>
        <p:nvSpPr>
          <p:cNvPr id="18" name="Text 16"/>
          <p:cNvSpPr/>
          <p:nvPr/>
        </p:nvSpPr>
        <p:spPr>
          <a:xfrm>
            <a:off x="4600222" y="3975540"/>
            <a:ext cx="3081302"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A command-line prompt to interact with the system; can be connected to a GUI for end users.</a:t>
            </a:r>
            <a:endParaRPr lang="en-US" sz="1300" dirty="0"/>
          </a:p>
        </p:txBody>
      </p:sp>
      <p:sp>
        <p:nvSpPr>
          <p:cNvPr id="19" name="Shape 17"/>
          <p:cNvSpPr/>
          <p:nvPr/>
        </p:nvSpPr>
        <p:spPr>
          <a:xfrm>
            <a:off x="7958667" y="3425825"/>
            <a:ext cx="3420533" cy="1457413"/>
          </a:xfrm>
          <a:prstGeom prst="roundRect">
            <a:avLst>
              <a:gd name="adj" fmla="val 6971"/>
            </a:avLst>
          </a:prstGeom>
          <a:solidFill>
            <a:srgbClr val="FFF1E3"/>
          </a:solidFill>
          <a:ln/>
        </p:spPr>
      </p:sp>
      <p:sp>
        <p:nvSpPr>
          <p:cNvPr id="20" name="Text 18"/>
          <p:cNvSpPr/>
          <p:nvPr/>
        </p:nvSpPr>
        <p:spPr>
          <a:xfrm>
            <a:off x="8161867" y="3629025"/>
            <a:ext cx="310455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A4A0C"/>
                </a:solidFill>
                <a:latin typeface="IBM Plex Sans" pitchFamily="34" charset="0"/>
                <a:ea typeface="IBM Plex Sans" pitchFamily="34" charset="-122"/>
                <a:cs typeface="IBM Plex Sans" pitchFamily="34" charset="-120"/>
              </a:rPr>
              <a:t>In one line</a:t>
            </a:r>
            <a:endParaRPr lang="en-US" sz="1700" dirty="0"/>
          </a:p>
        </p:txBody>
      </p:sp>
      <p:sp>
        <p:nvSpPr>
          <p:cNvPr id="21" name="Text 19"/>
          <p:cNvSpPr/>
          <p:nvPr/>
        </p:nvSpPr>
        <p:spPr>
          <a:xfrm>
            <a:off x="8161867" y="3964251"/>
            <a:ext cx="3104557"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3410"/>
                </a:solidFill>
                <a:latin typeface="IBM Plex Sans" pitchFamily="34" charset="0"/>
                <a:ea typeface="IBM Plex Sans" pitchFamily="34" charset="-122"/>
                <a:cs typeface="IBM Plex Sans" pitchFamily="34" charset="-120"/>
              </a:rPr>
              <a:t>Knowledge base + working memory feed the engine, the agenda says what fires next.</a:t>
            </a:r>
            <a:endParaRPr lang="en-US" sz="1300" dirty="0"/>
          </a:p>
        </p:txBody>
      </p:sp>
      <p:sp>
        <p:nvSpPr>
          <p:cNvPr id="22" name="Text 20"/>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
        <p:nvSpPr>
          <p:cNvPr id="3" name="Text 1"/>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6.5</a:t>
            </a:r>
            <a:endParaRPr lang="en-US" sz="1300" dirty="0"/>
          </a:p>
        </p:txBody>
      </p:sp>
      <p:sp>
        <p:nvSpPr>
          <p:cNvPr id="4" name="Text 2"/>
          <p:cNvSpPr/>
          <p:nvPr>
            <p:ph type="title"/>
          </p:nvPr>
        </p:nvSpPr>
        <p:spPr>
          <a:xfrm>
            <a:off x="812800" y="1143000"/>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Functions, Actions and Commands</a:t>
            </a:r>
            <a:endParaRPr lang="en-US" sz="3200" dirty="0"/>
          </a:p>
        </p:txBody>
      </p:sp>
      <p:sp>
        <p:nvSpPr>
          <p:cNvPr id="5" name="Text 3"/>
          <p:cNvSpPr/>
          <p:nvPr/>
        </p:nvSpPr>
        <p:spPr>
          <a:xfrm>
            <a:off x="812800" y="181610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F"/>
                </a:solidFill>
                <a:latin typeface="IBM Plex Sans" pitchFamily="34" charset="0"/>
                <a:ea typeface="IBM Plex Sans" pitchFamily="34" charset="-122"/>
                <a:cs typeface="IBM Plex Sans" pitchFamily="34" charset="-120"/>
              </a:rPr>
              <a:t>The three terms are used almost interchangeably, but each has a focus:</a:t>
            </a:r>
            <a:endParaRPr lang="en-US" sz="1600" dirty="0"/>
          </a:p>
        </p:txBody>
      </p:sp>
      <p:sp>
        <p:nvSpPr>
          <p:cNvPr id="6" name="Shape 4"/>
          <p:cNvSpPr/>
          <p:nvPr/>
        </p:nvSpPr>
        <p:spPr>
          <a:xfrm>
            <a:off x="819150" y="2311400"/>
            <a:ext cx="3373967" cy="2082800"/>
          </a:xfrm>
          <a:prstGeom prst="roundRect">
            <a:avLst>
              <a:gd name="adj" fmla="val 4573"/>
            </a:avLst>
          </a:prstGeom>
          <a:solidFill>
            <a:srgbClr val="FFFFFF"/>
          </a:solidFill>
          <a:ln w="12700">
            <a:solidFill>
              <a:srgbClr val="D7DEE9"/>
            </a:solidFill>
            <a:prstDash val="solid"/>
          </a:ln>
        </p:spPr>
      </p:sp>
      <p:sp>
        <p:nvSpPr>
          <p:cNvPr id="7" name="Text 5"/>
          <p:cNvSpPr/>
          <p:nvPr/>
        </p:nvSpPr>
        <p:spPr>
          <a:xfrm>
            <a:off x="1078089" y="2570339"/>
            <a:ext cx="29417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6CB0"/>
                </a:solidFill>
                <a:latin typeface="IBM Plex Sans" pitchFamily="34" charset="0"/>
                <a:ea typeface="IBM Plex Sans" pitchFamily="34" charset="-122"/>
                <a:cs typeface="IBM Plex Sans" pitchFamily="34" charset="-120"/>
              </a:rPr>
              <a:t>Function</a:t>
            </a:r>
            <a:endParaRPr lang="en-US" sz="2000" dirty="0"/>
          </a:p>
        </p:txBody>
      </p:sp>
      <p:sp>
        <p:nvSpPr>
          <p:cNvPr id="8" name="Text 6"/>
          <p:cNvSpPr/>
          <p:nvPr/>
        </p:nvSpPr>
        <p:spPr>
          <a:xfrm>
            <a:off x="1078089" y="3002139"/>
            <a:ext cx="294177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Returns a value.</a:t>
            </a:r>
            <a:endParaRPr lang="en-US" sz="1400" dirty="0"/>
          </a:p>
        </p:txBody>
      </p:sp>
      <p:sp>
        <p:nvSpPr>
          <p:cNvPr id="9" name="Text 7"/>
          <p:cNvSpPr/>
          <p:nvPr/>
        </p:nvSpPr>
        <p:spPr>
          <a:xfrm>
            <a:off x="1078089" y="3378023"/>
            <a:ext cx="2856089" cy="502885"/>
          </a:xfrm>
          <a:prstGeom prst="roundRect">
            <a:avLst>
              <a:gd name="adj" fmla="val 12627"/>
            </a:avLst>
          </a:prstGeom>
          <a:solidFill>
            <a:srgbClr val="1B2333"/>
          </a:solidFill>
          <a:ln/>
        </p:spPr>
        <p:txBody>
          <a:bodyPr wrap="square" lIns="108401" tIns="108401" rIns="30339" bIns="83001" rtlCol="0" anchor="t">
            <a:normAutofit/>
          </a:bodyPr>
          <a:lstStyle/>
          <a:p>
            <a:pPr algn="l" indent="0" marL="0">
              <a:lnSpc>
                <a:spcPts val="1960"/>
              </a:lnSpc>
              <a:buNone/>
            </a:pPr>
            <a:r>
              <a:rPr lang="en-US" sz="1400" dirty="0">
                <a:solidFill>
                  <a:srgbClr val="E8ECF2"/>
                </a:solidFill>
                <a:latin typeface="JetBrains Mono" pitchFamily="49" charset="0"/>
                <a:ea typeface="JetBrains Mono" pitchFamily="49" charset="-122"/>
                <a:cs typeface="JetBrains Mono" pitchFamily="49" charset="-120"/>
              </a:rPr>
              <a:t>(+ 2 3) → 5</a:t>
            </a:r>
            <a:endParaRPr lang="en-US" sz="1400" dirty="0"/>
          </a:p>
        </p:txBody>
      </p:sp>
      <p:sp>
        <p:nvSpPr>
          <p:cNvPr id="10" name="Shape 8"/>
          <p:cNvSpPr/>
          <p:nvPr/>
        </p:nvSpPr>
        <p:spPr>
          <a:xfrm>
            <a:off x="4409017" y="2311400"/>
            <a:ext cx="3373967" cy="2082800"/>
          </a:xfrm>
          <a:prstGeom prst="roundRect">
            <a:avLst>
              <a:gd name="adj" fmla="val 4573"/>
            </a:avLst>
          </a:prstGeom>
          <a:solidFill>
            <a:srgbClr val="FFFFFF"/>
          </a:solidFill>
          <a:ln w="12700">
            <a:solidFill>
              <a:srgbClr val="D7DEE9"/>
            </a:solidFill>
            <a:prstDash val="solid"/>
          </a:ln>
        </p:spPr>
      </p:sp>
      <p:sp>
        <p:nvSpPr>
          <p:cNvPr id="11" name="Text 9"/>
          <p:cNvSpPr/>
          <p:nvPr/>
        </p:nvSpPr>
        <p:spPr>
          <a:xfrm>
            <a:off x="4667956" y="2570339"/>
            <a:ext cx="29417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6CB0"/>
                </a:solidFill>
                <a:latin typeface="IBM Plex Sans" pitchFamily="34" charset="0"/>
                <a:ea typeface="IBM Plex Sans" pitchFamily="34" charset="-122"/>
                <a:cs typeface="IBM Plex Sans" pitchFamily="34" charset="-120"/>
              </a:rPr>
              <a:t>Action</a:t>
            </a:r>
            <a:endParaRPr lang="en-US" sz="2000" dirty="0"/>
          </a:p>
        </p:txBody>
      </p:sp>
      <p:sp>
        <p:nvSpPr>
          <p:cNvPr id="12" name="Text 10"/>
          <p:cNvSpPr/>
          <p:nvPr/>
        </p:nvSpPr>
        <p:spPr>
          <a:xfrm>
            <a:off x="4667956" y="3002139"/>
            <a:ext cx="2941772"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No return value; does something as a side effect.</a:t>
            </a:r>
            <a:endParaRPr lang="en-US" sz="1400" dirty="0"/>
          </a:p>
        </p:txBody>
      </p:sp>
      <p:sp>
        <p:nvSpPr>
          <p:cNvPr id="13" name="Text 11"/>
          <p:cNvSpPr/>
          <p:nvPr/>
        </p:nvSpPr>
        <p:spPr>
          <a:xfrm>
            <a:off x="4667956" y="3626907"/>
            <a:ext cx="2856089" cy="502885"/>
          </a:xfrm>
          <a:prstGeom prst="roundRect">
            <a:avLst>
              <a:gd name="adj" fmla="val 12627"/>
            </a:avLst>
          </a:prstGeom>
          <a:solidFill>
            <a:srgbClr val="1B2333"/>
          </a:solidFill>
          <a:ln/>
        </p:spPr>
        <p:txBody>
          <a:bodyPr wrap="square" lIns="108401" tIns="108401" rIns="30339" bIns="83001" rtlCol="0" anchor="t">
            <a:normAutofit/>
          </a:bodyPr>
          <a:lstStyle/>
          <a:p>
            <a:pPr algn="l" indent="0" marL="0">
              <a:lnSpc>
                <a:spcPts val="1960"/>
              </a:lnSpc>
              <a:buNone/>
            </a:pPr>
            <a:r>
              <a:rPr lang="en-US" sz="1400" dirty="0">
                <a:solidFill>
                  <a:srgbClr val="E8ECF2"/>
                </a:solidFill>
                <a:latin typeface="JetBrains Mono" pitchFamily="49" charset="0"/>
                <a:ea typeface="JetBrains Mono" pitchFamily="49" charset="-122"/>
                <a:cs typeface="JetBrains Mono" pitchFamily="49" charset="-120"/>
              </a:rPr>
              <a:t>(printout t "Hi" crlf)</a:t>
            </a:r>
            <a:endParaRPr lang="en-US" sz="1400" dirty="0"/>
          </a:p>
        </p:txBody>
      </p:sp>
      <p:sp>
        <p:nvSpPr>
          <p:cNvPr id="14" name="Shape 12"/>
          <p:cNvSpPr/>
          <p:nvPr/>
        </p:nvSpPr>
        <p:spPr>
          <a:xfrm>
            <a:off x="7998883" y="2311400"/>
            <a:ext cx="3373967" cy="2082800"/>
          </a:xfrm>
          <a:prstGeom prst="roundRect">
            <a:avLst>
              <a:gd name="adj" fmla="val 4573"/>
            </a:avLst>
          </a:prstGeom>
          <a:solidFill>
            <a:srgbClr val="FFFFFF"/>
          </a:solidFill>
          <a:ln w="12700">
            <a:solidFill>
              <a:srgbClr val="D7DEE9"/>
            </a:solidFill>
            <a:prstDash val="solid"/>
          </a:ln>
        </p:spPr>
      </p:sp>
      <p:sp>
        <p:nvSpPr>
          <p:cNvPr id="15" name="Text 13"/>
          <p:cNvSpPr/>
          <p:nvPr/>
        </p:nvSpPr>
        <p:spPr>
          <a:xfrm>
            <a:off x="8257822" y="2570339"/>
            <a:ext cx="29417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B6CB0"/>
                </a:solidFill>
                <a:latin typeface="IBM Plex Sans" pitchFamily="34" charset="0"/>
                <a:ea typeface="IBM Plex Sans" pitchFamily="34" charset="-122"/>
                <a:cs typeface="IBM Plex Sans" pitchFamily="34" charset="-120"/>
              </a:rPr>
              <a:t>Command</a:t>
            </a:r>
            <a:endParaRPr lang="en-US" sz="2000" dirty="0"/>
          </a:p>
        </p:txBody>
      </p:sp>
      <p:sp>
        <p:nvSpPr>
          <p:cNvPr id="16" name="Text 14"/>
          <p:cNvSpPr/>
          <p:nvPr/>
        </p:nvSpPr>
        <p:spPr>
          <a:xfrm>
            <a:off x="8257822" y="3002139"/>
            <a:ext cx="294177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Typed at the top-level prompt.</a:t>
            </a:r>
            <a:endParaRPr lang="en-US" sz="1400" dirty="0"/>
          </a:p>
        </p:txBody>
      </p:sp>
      <p:sp>
        <p:nvSpPr>
          <p:cNvPr id="17" name="Text 15"/>
          <p:cNvSpPr/>
          <p:nvPr/>
        </p:nvSpPr>
        <p:spPr>
          <a:xfrm>
            <a:off x="8257822" y="3378023"/>
            <a:ext cx="2856089" cy="751769"/>
          </a:xfrm>
          <a:prstGeom prst="roundRect">
            <a:avLst>
              <a:gd name="adj" fmla="val 8447"/>
            </a:avLst>
          </a:prstGeom>
          <a:solidFill>
            <a:srgbClr val="1B2333"/>
          </a:solidFill>
          <a:ln/>
        </p:spPr>
        <p:txBody>
          <a:bodyPr wrap="square" lIns="108401" tIns="108401" rIns="30339" bIns="83001" rtlCol="0" anchor="t">
            <a:normAutofit/>
          </a:bodyPr>
          <a:lstStyle/>
          <a:p>
            <a:pPr algn="l" indent="0" marL="0">
              <a:lnSpc>
                <a:spcPts val="1960"/>
              </a:lnSpc>
              <a:buNone/>
            </a:pPr>
            <a:r>
              <a:rPr lang="en-US" sz="1400" dirty="0">
                <a:solidFill>
                  <a:srgbClr val="E8ECF2"/>
                </a:solidFill>
                <a:latin typeface="JetBrains Mono" pitchFamily="49" charset="0"/>
                <a:ea typeface="JetBrains Mono" pitchFamily="49" charset="-122"/>
                <a:cs typeface="JetBrains Mono" pitchFamily="49" charset="-120"/>
              </a:rPr>
              <a:t>(reset) (run)</a:t>
            </a:r>
            <a:endParaRPr lang="en-US" sz="1400" dirty="0"/>
          </a:p>
          <a:p>
            <a:pPr algn="l" indent="0" marL="0">
              <a:lnSpc>
                <a:spcPts val="1960"/>
              </a:lnSpc>
              <a:buNone/>
            </a:pPr>
            <a:r>
              <a:rPr lang="en-US" sz="1400" dirty="0">
                <a:solidFill>
                  <a:srgbClr val="E8ECF2"/>
                </a:solidFill>
                <a:latin typeface="JetBrains Mono" pitchFamily="49" charset="0"/>
                <a:ea typeface="JetBrains Mono" pitchFamily="49" charset="-122"/>
                <a:cs typeface="JetBrains Mono" pitchFamily="49" charset="-120"/>
              </a:rPr>
              <a:t>(set-strategy depth)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6.6</a:t>
            </a:r>
            <a:endParaRPr lang="en-US" sz="1300" dirty="0"/>
          </a:p>
        </p:txBody>
      </p:sp>
      <p:sp>
        <p:nvSpPr>
          <p:cNvPr id="3" name="Text 1"/>
          <p:cNvSpPr/>
          <p:nvPr>
            <p:ph type="title"/>
          </p:nvPr>
        </p:nvSpPr>
        <p:spPr>
          <a:xfrm>
            <a:off x="812800" y="1145471"/>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CLIPS Syntax Overview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27302"/>
          <a:ext cx="10555111" cy="1922639"/>
        </p:xfrm>
        <a:graphic>
          <a:graphicData uri="http://schemas.openxmlformats.org/drawingml/2006/table">
            <a:tbl>
              <a:tblPr/>
              <a:tblGrid>
                <a:gridCol w="2111022"/>
                <a:gridCol w="5910862"/>
                <a:gridCol w="2533227"/>
              </a:tblGrid>
              <a:tr h="384528">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Concept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Syntax 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Fact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(student Ali)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A piece of information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Template fact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(deftemplate student (slot name) (slot grade))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Structured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Rule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(defrule rule-name (condition) =&gt; (action))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Logic operation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Print 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(printout t "Hello" crlf)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Output 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bl>
          </a:graphicData>
        </a:graphic>
      </p:graphicFrame>
      <p:sp>
        <p:nvSpPr>
          <p:cNvPr id="5" name="Shape 2"/>
          <p:cNvSpPr/>
          <p:nvPr/>
        </p:nvSpPr>
        <p:spPr>
          <a:xfrm>
            <a:off x="812800" y="3953139"/>
            <a:ext cx="10566400" cy="762000"/>
          </a:xfrm>
          <a:prstGeom prst="roundRect">
            <a:avLst>
              <a:gd name="adj" fmla="val 13333"/>
            </a:avLst>
          </a:prstGeom>
          <a:solidFill>
            <a:srgbClr val="FFF1E3"/>
          </a:solidFill>
          <a:ln/>
        </p:spPr>
      </p:sp>
      <p:pic>
        <p:nvPicPr>
          <p:cNvPr id="6" name="Image 0" descr="Lightbulb">    </p:cNvPr>
          <p:cNvPicPr>
            <a:picLocks noChangeAspect="1"/>
          </p:cNvPicPr>
          <p:nvPr/>
        </p:nvPicPr>
        <p:blipFill>
          <a:blip r:embed="rId1"/>
          <a:srcRect l="0" r="0" t="0" b="0"/>
          <a:stretch/>
        </p:blipFill>
        <p:spPr>
          <a:xfrm>
            <a:off x="1066800" y="4156339"/>
            <a:ext cx="355600" cy="355600"/>
          </a:xfrm>
          <a:prstGeom prst="rect">
            <a:avLst/>
          </a:prstGeom>
        </p:spPr>
      </p:pic>
      <p:sp>
        <p:nvSpPr>
          <p:cNvPr id="7" name="Text 3"/>
          <p:cNvSpPr/>
          <p:nvPr/>
        </p:nvSpPr>
        <p:spPr>
          <a:xfrm>
            <a:off x="1574800" y="4200789"/>
            <a:ext cx="936476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3410"/>
                </a:solidFill>
                <a:latin typeface="IBM Plex Sans" pitchFamily="34" charset="0"/>
                <a:ea typeface="IBM Plex Sans" pitchFamily="34" charset="-122"/>
                <a:cs typeface="IBM Plex Sans" pitchFamily="34" charset="-120"/>
              </a:rPr>
              <a:t>Before we write facts and rules, let’s get comfortable with how CLIPS reads </a:t>
            </a:r>
            <a:r>
              <a:rPr lang="en-US" sz="1500" b="1" dirty="0">
                <a:solidFill>
                  <a:srgbClr val="5C3410"/>
                </a:solidFill>
                <a:latin typeface="IBM Plex Sans" pitchFamily="34" charset="0"/>
                <a:ea typeface="IBM Plex Sans" pitchFamily="34" charset="-122"/>
                <a:cs typeface="IBM Plex Sans" pitchFamily="34" charset="-120"/>
              </a:rPr>
              <a:t>any</a:t>
            </a:r>
            <a:r>
              <a:rPr lang="en-US" sz="1500" dirty="0">
                <a:solidFill>
                  <a:srgbClr val="5C3410"/>
                </a:solidFill>
                <a:latin typeface="IBM Plex Sans" pitchFamily="34" charset="0"/>
                <a:ea typeface="IBM Plex Sans" pitchFamily="34" charset="-122"/>
                <a:cs typeface="IBM Plex Sans" pitchFamily="34" charset="-120"/>
              </a:rPr>
              <a:t> expression.</a:t>
            </a:r>
            <a:endParaRPr lang="en-US" sz="1500" dirty="0"/>
          </a:p>
        </p:txBody>
      </p:sp>
      <p:sp>
        <p:nvSpPr>
          <p:cNvPr id="8" name="Text 4"/>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39032"/>
            <a:ext cx="6200394" cy="274285"/>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913A"/>
                </a:solidFill>
                <a:latin typeface="IBM Plex Sans" pitchFamily="34" charset="0"/>
                <a:ea typeface="IBM Plex Sans" pitchFamily="34" charset="-122"/>
                <a:cs typeface="IBM Plex Sans" pitchFamily="34" charset="-120"/>
              </a:rPr>
              <a:t>BEFORE FACTS &amp; RULES</a:t>
            </a:r>
            <a:endParaRPr lang="en-US" sz="1400" dirty="0"/>
          </a:p>
        </p:txBody>
      </p:sp>
      <p:sp>
        <p:nvSpPr>
          <p:cNvPr id="3" name="Text 1"/>
          <p:cNvSpPr/>
          <p:nvPr>
            <p:ph type="title"/>
          </p:nvPr>
        </p:nvSpPr>
        <p:spPr>
          <a:xfrm>
            <a:off x="812800" y="2291116"/>
            <a:ext cx="6200394" cy="1945481"/>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IBM Plex Sans" pitchFamily="34" charset="0"/>
                <a:ea typeface="IBM Plex Sans" pitchFamily="34" charset="-122"/>
                <a:cs typeface="IBM Plex Sans" pitchFamily="34" charset="-120"/>
              </a:rPr>
              <a:t>CLIPS basics:</a:t>
            </a:r>
            <a:endParaRPr lang="en-US" sz="4800" dirty="0"/>
          </a:p>
          <a:p>
            <a:pPr algn="l" indent="0" marL="0">
              <a:lnSpc>
                <a:spcPts val="5040"/>
              </a:lnSpc>
              <a:buNone/>
            </a:pPr>
            <a:r>
              <a:rPr lang="en-US" sz="4800" b="1" i="0" dirty="0">
                <a:solidFill>
                  <a:srgbClr val="F7F6F2"/>
                </a:solidFill>
                <a:latin typeface="IBM Plex Sans" pitchFamily="34" charset="0"/>
                <a:ea typeface="IBM Plex Sans" pitchFamily="34" charset="-122"/>
                <a:cs typeface="IBM Plex Sans" pitchFamily="34" charset="-120"/>
              </a:rPr>
              <a:t>using it as a calculator</a:t>
            </a:r>
            <a:endParaRPr lang="en-US" sz="4800" dirty="0"/>
          </a:p>
        </p:txBody>
      </p:sp>
      <p:sp>
        <p:nvSpPr>
          <p:cNvPr id="4" name="Text 2"/>
          <p:cNvSpPr/>
          <p:nvPr/>
        </p:nvSpPr>
        <p:spPr>
          <a:xfrm>
            <a:off x="812800" y="4414397"/>
            <a:ext cx="6200394" cy="629885"/>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C7DA"/>
                </a:solidFill>
                <a:latin typeface="IBM Plex Sans" pitchFamily="34" charset="0"/>
                <a:ea typeface="IBM Plex Sans" pitchFamily="34" charset="-122"/>
                <a:cs typeface="IBM Plex Sans" pitchFamily="34" charset="-120"/>
              </a:rPr>
              <a:t>Every CLIPS program is built from small expressions. Master them first, then rules become easy to read.</a:t>
            </a:r>
            <a:endParaRPr lang="en-US" sz="1700" dirty="0"/>
          </a:p>
        </p:txBody>
      </p:sp>
      <p:sp>
        <p:nvSpPr>
          <p:cNvPr id="5" name="Shape 3"/>
          <p:cNvSpPr/>
          <p:nvPr/>
        </p:nvSpPr>
        <p:spPr>
          <a:xfrm>
            <a:off x="7442200" y="1738666"/>
            <a:ext cx="3937000" cy="3380670"/>
          </a:xfrm>
          <a:prstGeom prst="roundRect">
            <a:avLst>
              <a:gd name="adj" fmla="val 3757"/>
            </a:avLst>
          </a:prstGeom>
          <a:solidFill>
            <a:srgbClr val="1F2E4F"/>
          </a:solidFill>
          <a:ln/>
        </p:spPr>
      </p:sp>
      <p:sp>
        <p:nvSpPr>
          <p:cNvPr id="6" name="Text 4"/>
          <p:cNvSpPr/>
          <p:nvPr/>
        </p:nvSpPr>
        <p:spPr>
          <a:xfrm>
            <a:off x="7747000" y="2043466"/>
            <a:ext cx="342722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7FB3F0"/>
                </a:solidFill>
                <a:latin typeface="IBM Plex Sans" pitchFamily="34" charset="0"/>
                <a:ea typeface="IBM Plex Sans" pitchFamily="34" charset="-122"/>
                <a:cs typeface="IBM Plex Sans" pitchFamily="34" charset="-120"/>
              </a:rPr>
              <a:t>WHAT’S COMING</a:t>
            </a:r>
            <a:endParaRPr lang="en-US" sz="1300" dirty="0"/>
          </a:p>
        </p:txBody>
      </p:sp>
      <p:sp>
        <p:nvSpPr>
          <p:cNvPr id="7" name="Text 5"/>
          <p:cNvSpPr/>
          <p:nvPr/>
        </p:nvSpPr>
        <p:spPr>
          <a:xfrm>
            <a:off x="7789862" y="2376134"/>
            <a:ext cx="3376739" cy="2463800"/>
          </a:xfrm>
          <a:prstGeom prst="rect">
            <a:avLst/>
          </a:prstGeom>
          <a:noFill/>
          <a:ln/>
        </p:spPr>
        <p:txBody>
          <a:bodyPr wrap="square" lIns="0" tIns="0" rIns="0" bIns="0" rtlCol="0" anchor="t">
            <a:normAutofit/>
          </a:bodyPr>
          <a:lstStyle/>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Prefix notation</a:t>
            </a:r>
            <a:endParaRPr lang="en-US" sz="1500" dirty="0"/>
          </a:p>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Data types</a:t>
            </a:r>
            <a:endParaRPr lang="en-US" sz="1500" dirty="0"/>
          </a:p>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Arithmetic &amp; math functions</a:t>
            </a:r>
            <a:endParaRPr lang="en-US" sz="1500" dirty="0"/>
          </a:p>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Comparison &amp; logic</a:t>
            </a:r>
            <a:endParaRPr lang="en-US" sz="1500" dirty="0"/>
          </a:p>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Variables &amp; printing</a:t>
            </a:r>
            <a:endParaRPr lang="en-US" sz="1500" dirty="0"/>
          </a:p>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If / else and loops</a:t>
            </a:r>
            <a:endParaRPr lang="en-US" sz="1500" dirty="0"/>
          </a:p>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Strings &amp; lists</a:t>
            </a:r>
            <a:endParaRPr lang="en-US" sz="1500" dirty="0"/>
          </a:p>
          <a:p>
            <a:pPr algn="l" marL="211138" indent="-211138">
              <a:lnSpc>
                <a:spcPts val="2400"/>
              </a:lnSpc>
              <a:buSzPct val="100000"/>
              <a:buFontTx/>
              <a:buAutoNum type="arabicPeriod" startAt="1"/>
            </a:pPr>
            <a:r>
              <a:rPr lang="en-US" sz="1500" dirty="0">
                <a:solidFill>
                  <a:srgbClr val="E8ECF2"/>
                </a:solidFill>
                <a:latin typeface="IBM Plex Sans" pitchFamily="34" charset="0"/>
                <a:ea typeface="IBM Plex Sans" pitchFamily="34" charset="-122"/>
                <a:cs typeface="IBM Plex Sans" pitchFamily="34" charset="-120"/>
              </a:rPr>
              <a:t>Files: load, reset, run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1</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The golden rule: prefix notation</a:t>
            </a:r>
            <a:endParaRPr lang="en-US" sz="3200" dirty="0"/>
          </a:p>
        </p:txBody>
      </p:sp>
      <p:sp>
        <p:nvSpPr>
          <p:cNvPr id="4" name="Text 2"/>
          <p:cNvSpPr/>
          <p:nvPr/>
        </p:nvSpPr>
        <p:spPr>
          <a:xfrm>
            <a:off x="819150" y="1822363"/>
            <a:ext cx="5422900" cy="858220"/>
          </a:xfrm>
          <a:prstGeom prst="roundRect">
            <a:avLst>
              <a:gd name="adj" fmla="val 11099"/>
            </a:avLst>
          </a:prstGeom>
          <a:solidFill>
            <a:srgbClr val="FFFFFF"/>
          </a:solidFill>
          <a:ln w="12700">
            <a:solidFill>
              <a:srgbClr val="D7DEE9"/>
            </a:solidFill>
            <a:prstDash val="solid"/>
          </a:ln>
        </p:spPr>
        <p:txBody>
          <a:bodyPr wrap="square" lIns="131304" tIns="205641" rIns="131304" bIns="180241" rtlCol="0" anchor="t">
            <a:normAutofit/>
          </a:bodyPr>
          <a:lstStyle/>
          <a:p>
            <a:pPr algn="ctr" indent="0" marL="0">
              <a:lnSpc>
                <a:spcPts val="3080"/>
              </a:lnSpc>
              <a:buNone/>
            </a:pPr>
            <a:r>
              <a:rPr lang="en-US" sz="2200" b="1" dirty="0">
                <a:solidFill>
                  <a:srgbClr val="14213D"/>
                </a:solidFill>
                <a:latin typeface="JetBrains Mono" pitchFamily="49" charset="0"/>
                <a:ea typeface="JetBrains Mono" pitchFamily="49" charset="-122"/>
                <a:cs typeface="JetBrains Mono" pitchFamily="49" charset="-120"/>
              </a:rPr>
              <a:t>(</a:t>
            </a:r>
            <a:r>
              <a:rPr lang="en-US" sz="2200" b="1" dirty="0">
                <a:solidFill>
                  <a:srgbClr val="C2621A"/>
                </a:solidFill>
                <a:latin typeface="JetBrains Mono" pitchFamily="49" charset="0"/>
                <a:ea typeface="JetBrains Mono" pitchFamily="49" charset="-122"/>
                <a:cs typeface="JetBrains Mono" pitchFamily="49" charset="-120"/>
              </a:rPr>
              <a:t>function</a:t>
            </a:r>
            <a:r>
              <a:rPr lang="en-US" sz="2200" b="1" dirty="0">
                <a:solidFill>
                  <a:srgbClr val="14213D"/>
                </a:solidFill>
                <a:latin typeface="JetBrains Mono" pitchFamily="49" charset="0"/>
                <a:ea typeface="JetBrains Mono" pitchFamily="49" charset="-122"/>
                <a:cs typeface="JetBrains Mono" pitchFamily="49" charset="-120"/>
              </a:rPr>
              <a:t> arg1 arg2 …)</a:t>
            </a:r>
            <a:endParaRPr lang="en-US" sz="2200" dirty="0"/>
          </a:p>
        </p:txBody>
      </p:sp>
      <p:sp>
        <p:nvSpPr>
          <p:cNvPr id="5" name="Text 3"/>
          <p:cNvSpPr/>
          <p:nvPr/>
        </p:nvSpPr>
        <p:spPr>
          <a:xfrm>
            <a:off x="883920" y="2864731"/>
            <a:ext cx="5519928"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D4A5F"/>
                </a:solidFill>
                <a:latin typeface="IBM Plex Sans" pitchFamily="34" charset="0"/>
                <a:ea typeface="IBM Plex Sans" pitchFamily="34" charset="-122"/>
                <a:cs typeface="IBM Plex Sans" pitchFamily="34" charset="-120"/>
              </a:rPr>
              <a:t>Everything is inside </a:t>
            </a:r>
            <a:r>
              <a:rPr lang="en-US" sz="1500" b="1" dirty="0">
                <a:solidFill>
                  <a:srgbClr val="3D4A5F"/>
                </a:solidFill>
                <a:latin typeface="IBM Plex Sans" pitchFamily="34" charset="0"/>
                <a:ea typeface="IBM Plex Sans" pitchFamily="34" charset="-122"/>
                <a:cs typeface="IBM Plex Sans" pitchFamily="34" charset="-120"/>
              </a:rPr>
              <a:t>parentheses</a:t>
            </a:r>
            <a:endParaRPr lang="en-US" sz="1500" dirty="0"/>
          </a:p>
          <a:p>
            <a:pPr algn="l" marL="182880" indent="-182880">
              <a:lnSpc>
                <a:spcPts val="2250"/>
              </a:lnSpc>
              <a:buSzPct val="100000"/>
              <a:buChar char="•"/>
            </a:pPr>
            <a:r>
              <a:rPr lang="en-US" sz="1500" dirty="0">
                <a:solidFill>
                  <a:srgbClr val="3D4A5F"/>
                </a:solidFill>
                <a:latin typeface="IBM Plex Sans" pitchFamily="34" charset="0"/>
                <a:ea typeface="IBM Plex Sans" pitchFamily="34" charset="-122"/>
                <a:cs typeface="IBM Plex Sans" pitchFamily="34" charset="-120"/>
              </a:rPr>
              <a:t>The </a:t>
            </a:r>
            <a:r>
              <a:rPr lang="en-US" sz="1500" b="1" dirty="0">
                <a:solidFill>
                  <a:srgbClr val="3D4A5F"/>
                </a:solidFill>
                <a:latin typeface="IBM Plex Sans" pitchFamily="34" charset="0"/>
                <a:ea typeface="IBM Plex Sans" pitchFamily="34" charset="-122"/>
                <a:cs typeface="IBM Plex Sans" pitchFamily="34" charset="-120"/>
              </a:rPr>
              <a:t>operator comes first</a:t>
            </a:r>
            <a:r>
              <a:rPr lang="en-US" sz="1500" dirty="0">
                <a:solidFill>
                  <a:srgbClr val="3D4A5F"/>
                </a:solidFill>
                <a:latin typeface="IBM Plex Sans" pitchFamily="34" charset="0"/>
                <a:ea typeface="IBM Plex Sans" pitchFamily="34" charset="-122"/>
                <a:cs typeface="IBM Plex Sans" pitchFamily="34" charset="-120"/>
              </a:rPr>
              <a:t>, then the values</a:t>
            </a:r>
            <a:endParaRPr lang="en-US" sz="1500" dirty="0"/>
          </a:p>
          <a:p>
            <a:pPr algn="l" marL="182880" indent="-182880">
              <a:lnSpc>
                <a:spcPts val="2250"/>
              </a:lnSpc>
              <a:buSzPct val="100000"/>
              <a:buChar char="•"/>
            </a:pPr>
            <a:r>
              <a:rPr lang="en-US" sz="1500" dirty="0">
                <a:solidFill>
                  <a:srgbClr val="3D4A5F"/>
                </a:solidFill>
                <a:latin typeface="IBM Plex Sans" pitchFamily="34" charset="0"/>
                <a:ea typeface="IBM Plex Sans" pitchFamily="34" charset="-122"/>
                <a:cs typeface="IBM Plex Sans" pitchFamily="34" charset="-120"/>
              </a:rPr>
              <a:t>Values are separated by </a:t>
            </a:r>
            <a:r>
              <a:rPr lang="en-US" sz="1500" b="1" dirty="0">
                <a:solidFill>
                  <a:srgbClr val="3D4A5F"/>
                </a:solidFill>
                <a:latin typeface="IBM Plex Sans" pitchFamily="34" charset="0"/>
                <a:ea typeface="IBM Plex Sans" pitchFamily="34" charset="-122"/>
                <a:cs typeface="IBM Plex Sans" pitchFamily="34" charset="-120"/>
              </a:rPr>
              <a:t>spaces</a:t>
            </a:r>
            <a:r>
              <a:rPr lang="en-US" sz="1500" dirty="0">
                <a:solidFill>
                  <a:srgbClr val="3D4A5F"/>
                </a:solidFill>
                <a:latin typeface="IBM Plex Sans" pitchFamily="34" charset="0"/>
                <a:ea typeface="IBM Plex Sans" pitchFamily="34" charset="-122"/>
                <a:cs typeface="IBM Plex Sans" pitchFamily="34" charset="-120"/>
              </a:rPr>
              <a:t>, not commas</a:t>
            </a:r>
            <a:endParaRPr lang="en-US" sz="1500" dirty="0"/>
          </a:p>
          <a:p>
            <a:pPr algn="l" marL="182880" indent="-182880">
              <a:lnSpc>
                <a:spcPts val="2250"/>
              </a:lnSpc>
              <a:buSzPct val="100000"/>
              <a:buChar char="•"/>
            </a:pPr>
            <a:r>
              <a:rPr lang="en-US" sz="1500" dirty="0">
                <a:solidFill>
                  <a:srgbClr val="3D4A5F"/>
                </a:solidFill>
                <a:latin typeface="IBM Plex Sans" pitchFamily="34" charset="0"/>
                <a:ea typeface="IBM Plex Sans" pitchFamily="34" charset="-122"/>
                <a:cs typeface="IBM Plex Sans" pitchFamily="34" charset="-120"/>
              </a:rPr>
              <a:t>Comments start with </a:t>
            </a:r>
            <a:r>
              <a:rPr lang="en-US" sz="1500" b="1" dirty="0">
                <a:solidFill>
                  <a:srgbClr val="3D4A5F"/>
                </a:solidFill>
                <a:latin typeface="IBM Plex Sans" pitchFamily="34" charset="0"/>
                <a:ea typeface="IBM Plex Sans" pitchFamily="34" charset="-122"/>
                <a:cs typeface="IBM Plex Sans" pitchFamily="34" charset="-120"/>
              </a:rPr>
              <a:t>;</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64489" y="1827302"/>
          <a:ext cx="4814711" cy="3290711"/>
        </p:xfrm>
        <a:graphic>
          <a:graphicData uri="http://schemas.openxmlformats.org/drawingml/2006/table">
            <a:tbl>
              <a:tblPr/>
              <a:tblGrid>
                <a:gridCol w="2166620"/>
                <a:gridCol w="2648091"/>
              </a:tblGrid>
              <a:tr h="411339">
                <a:tc>
                  <a:txBody>
                    <a:bodyPr/>
                    <a:lstStyle/>
                    <a:p>
                      <a:pPr indent="0" marL="0">
                        <a:lnSpc>
                          <a:spcPts val="2100"/>
                        </a:lnSpc>
                        <a:buNone/>
                      </a:pPr>
                      <a:r>
                        <a:rPr lang="en-US" sz="1500" b="1" dirty="0">
                          <a:solidFill>
                            <a:srgbClr val="FFFFFF"/>
                          </a:solidFill>
                          <a:latin typeface="JetBrains Mono" pitchFamily="49" charset="0"/>
                          <a:ea typeface="JetBrains Mono" pitchFamily="49" charset="-122"/>
                          <a:cs typeface="JetBrains Mono" pitchFamily="49" charset="-120"/>
                        </a:rPr>
                        <a:t>In math</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2100"/>
                        </a:lnSpc>
                        <a:buNone/>
                      </a:pPr>
                      <a:r>
                        <a:rPr lang="en-US" sz="1500" b="1" dirty="0">
                          <a:solidFill>
                            <a:srgbClr val="FFFFFF"/>
                          </a:solidFill>
                          <a:latin typeface="JetBrains Mono" pitchFamily="49" charset="0"/>
                          <a:ea typeface="JetBrains Mono" pitchFamily="49" charset="-122"/>
                          <a:cs typeface="JetBrains Mono" pitchFamily="49" charset="-120"/>
                        </a:rPr>
                        <a:t>In CLIPS</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5 + 3</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(+ 5 3)</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10 − 4</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(- 10 4)</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6 × 7</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 6 7)</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20 ÷ 4</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 20 4)</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7 ÷ 2 → 3</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(div 7 2)</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7 % 2 → 1</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(mod 7 2)</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1+2+3+4</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(+ 1 2 3 4)</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7" name="Text 4"/>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2</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Data types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27302"/>
          <a:ext cx="6364111" cy="2307167"/>
        </p:xfrm>
        <a:graphic>
          <a:graphicData uri="http://schemas.openxmlformats.org/drawingml/2006/table">
            <a:tbl>
              <a:tblPr/>
              <a:tblGrid>
                <a:gridCol w="1654669"/>
                <a:gridCol w="2418362"/>
                <a:gridCol w="2291080"/>
              </a:tblGrid>
              <a:tr h="384528">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Type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Test function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Integer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42 -7 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integerp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Float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3.14 2.5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floatp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red Ali 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symbolp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String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"Hello Ali"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stringp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Multifield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(create$ 1 2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IBM Plex Sans" pitchFamily="34" charset="0"/>
                          <a:ea typeface="IBM Plex Sans" pitchFamily="34" charset="-122"/>
                          <a:cs typeface="IBM Plex Sans" pitchFamily="34" charset="-120"/>
                        </a:rPr>
                        <a:t>multifieldp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4261470"/>
            <a:ext cx="6375400" cy="766939"/>
          </a:xfrm>
          <a:prstGeom prst="roundRect">
            <a:avLst>
              <a:gd name="adj" fmla="val 13247"/>
            </a:avLst>
          </a:prstGeom>
          <a:solidFill>
            <a:srgbClr val="FFF1E3"/>
          </a:solidFill>
          <a:ln/>
        </p:spPr>
      </p:sp>
      <p:pic>
        <p:nvPicPr>
          <p:cNvPr id="6" name="Image 0" descr="Warning">    </p:cNvPr>
          <p:cNvPicPr>
            <a:picLocks noChangeAspect="1"/>
          </p:cNvPicPr>
          <p:nvPr/>
        </p:nvPicPr>
        <p:blipFill>
          <a:blip r:embed="rId1"/>
          <a:srcRect l="0" r="0" t="-406" b="-406"/>
          <a:stretch/>
        </p:blipFill>
        <p:spPr>
          <a:xfrm>
            <a:off x="1016000" y="4505238"/>
            <a:ext cx="195263" cy="279400"/>
          </a:xfrm>
          <a:prstGeom prst="rect">
            <a:avLst/>
          </a:prstGeom>
        </p:spPr>
      </p:pic>
      <p:sp>
        <p:nvSpPr>
          <p:cNvPr id="7" name="Text 3"/>
          <p:cNvSpPr/>
          <p:nvPr/>
        </p:nvSpPr>
        <p:spPr>
          <a:xfrm>
            <a:off x="1338263" y="4413870"/>
            <a:ext cx="5816140"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3410"/>
                </a:solidFill>
                <a:latin typeface="IBM Plex Sans" pitchFamily="34" charset="0"/>
                <a:ea typeface="IBM Plex Sans" pitchFamily="34" charset="-122"/>
                <a:cs typeface="IBM Plex Sans" pitchFamily="34" charset="-120"/>
              </a:rPr>
              <a:t>Test functions take </a:t>
            </a:r>
            <a:r>
              <a:rPr lang="en-US" sz="1300" b="1" dirty="0">
                <a:solidFill>
                  <a:srgbClr val="5C3410"/>
                </a:solidFill>
                <a:latin typeface="IBM Plex Sans" pitchFamily="34" charset="0"/>
                <a:ea typeface="IBM Plex Sans" pitchFamily="34" charset="-122"/>
                <a:cs typeface="IBM Plex Sans" pitchFamily="34" charset="-120"/>
              </a:rPr>
              <a:t>exactly one</a:t>
            </a:r>
            <a:r>
              <a:rPr lang="en-US" sz="1300" dirty="0">
                <a:solidFill>
                  <a:srgbClr val="5C3410"/>
                </a:solidFill>
                <a:latin typeface="IBM Plex Sans" pitchFamily="34" charset="0"/>
                <a:ea typeface="IBM Plex Sans" pitchFamily="34" charset="-122"/>
                <a:cs typeface="IBM Plex Sans" pitchFamily="34" charset="-120"/>
              </a:rPr>
              <a:t> argument. Build a list with </a:t>
            </a:r>
            <a:r>
              <a:rPr lang="en-US" sz="1300" b="1" dirty="0">
                <a:solidFill>
                  <a:srgbClr val="5C3410"/>
                </a:solidFill>
                <a:latin typeface="IBM Plex Sans" pitchFamily="34" charset="0"/>
                <a:ea typeface="IBM Plex Sans" pitchFamily="34" charset="-122"/>
                <a:cs typeface="IBM Plex Sans" pitchFamily="34" charset="-120"/>
              </a:rPr>
              <a:t>create$</a:t>
            </a:r>
            <a:r>
              <a:rPr lang="en-US" sz="1300" dirty="0">
                <a:solidFill>
                  <a:srgbClr val="5C3410"/>
                </a:solidFill>
                <a:latin typeface="IBM Plex Sans" pitchFamily="34" charset="0"/>
                <a:ea typeface="IBM Plex Sans" pitchFamily="34" charset="-122"/>
                <a:cs typeface="IBM Plex Sans" pitchFamily="34" charset="-120"/>
              </a:rPr>
              <a:t> first, so the whole list counts as one value.</a:t>
            </a:r>
            <a:endParaRPr lang="en-US" sz="1300" dirty="0"/>
          </a:p>
        </p:txBody>
      </p:sp>
      <p:sp>
        <p:nvSpPr>
          <p:cNvPr id="8" name="Text 4"/>
          <p:cNvSpPr/>
          <p:nvPr/>
        </p:nvSpPr>
        <p:spPr>
          <a:xfrm>
            <a:off x="7442200" y="1816013"/>
            <a:ext cx="3937000" cy="3212394"/>
          </a:xfrm>
          <a:prstGeom prst="roundRect">
            <a:avLst>
              <a:gd name="adj" fmla="val 3163"/>
            </a:avLst>
          </a:prstGeom>
          <a:solidFill>
            <a:srgbClr val="1B2333"/>
          </a:solidFill>
          <a:ln/>
        </p:spPr>
        <p:txBody>
          <a:bodyPr wrap="square" lIns="249642" tIns="198842" rIns="148296" bIns="198842" rtlCol="0" anchor="t">
            <a:normAutofit/>
          </a:bodyPr>
          <a:lstStyle/>
          <a:p>
            <a:pPr algn="l" indent="0" marL="0">
              <a:lnSpc>
                <a:spcPts val="2080"/>
              </a:lnSpc>
              <a:buNone/>
            </a:pPr>
            <a:r>
              <a:rPr lang="en-US" sz="1300" dirty="0">
                <a:solidFill>
                  <a:srgbClr val="7F8BA3"/>
                </a:solidFill>
                <a:latin typeface="JetBrains Mono" pitchFamily="49" charset="0"/>
                <a:ea typeface="JetBrains Mono" pitchFamily="49" charset="-122"/>
                <a:cs typeface="JetBrains Mono" pitchFamily="49" charset="-120"/>
              </a:rPr>
              <a:t>CLIPS&gt;</a:t>
            </a:r>
            <a:r>
              <a:rPr lang="en-US" sz="1300" dirty="0">
                <a:solidFill>
                  <a:srgbClr val="E8ECF2"/>
                </a:solidFill>
                <a:latin typeface="JetBrains Mono" pitchFamily="49" charset="0"/>
                <a:ea typeface="JetBrains Mono" pitchFamily="49" charset="-122"/>
                <a:cs typeface="JetBrains Mono" pitchFamily="49" charset="-120"/>
              </a:rPr>
              <a:t> (integerp 5)</a:t>
            </a:r>
            <a:endParaRPr lang="en-US" sz="1300" dirty="0"/>
          </a:p>
          <a:p>
            <a:pPr algn="l" indent="0" marL="0">
              <a:lnSpc>
                <a:spcPts val="2080"/>
              </a:lnSpc>
              <a:buNone/>
            </a:pPr>
            <a:r>
              <a:rPr lang="en-US" sz="1300" dirty="0">
                <a:solidFill>
                  <a:srgbClr val="8FD19E"/>
                </a:solidFill>
                <a:latin typeface="JetBrains Mono" pitchFamily="49" charset="0"/>
                <a:ea typeface="JetBrains Mono" pitchFamily="49" charset="-122"/>
                <a:cs typeface="JetBrains Mono" pitchFamily="49" charset="-120"/>
              </a:rPr>
              <a:t>TRUE</a:t>
            </a:r>
            <a:endParaRPr lang="en-US" sz="1300" dirty="0"/>
          </a:p>
          <a:p>
            <a:pPr algn="l" indent="0" marL="0">
              <a:lnSpc>
                <a:spcPts val="2080"/>
              </a:lnSpc>
              <a:buNone/>
            </a:pPr>
            <a:r>
              <a:rPr lang="en-US" sz="1300" dirty="0">
                <a:solidFill>
                  <a:srgbClr val="7F8BA3"/>
                </a:solidFill>
                <a:latin typeface="JetBrains Mono" pitchFamily="49" charset="0"/>
                <a:ea typeface="JetBrains Mono" pitchFamily="49" charset="-122"/>
                <a:cs typeface="JetBrains Mono" pitchFamily="49" charset="-120"/>
              </a:rPr>
              <a:t>CLIPS&gt;</a:t>
            </a:r>
            <a:r>
              <a:rPr lang="en-US" sz="1300" dirty="0">
                <a:solidFill>
                  <a:srgbClr val="E8ECF2"/>
                </a:solidFill>
                <a:latin typeface="JetBrains Mono" pitchFamily="49" charset="0"/>
                <a:ea typeface="JetBrains Mono" pitchFamily="49" charset="-122"/>
                <a:cs typeface="JetBrains Mono" pitchFamily="49" charset="-120"/>
              </a:rPr>
              <a:t> (numberp abc)</a:t>
            </a:r>
            <a:endParaRPr lang="en-US" sz="1300" dirty="0"/>
          </a:p>
          <a:p>
            <a:pPr algn="l" indent="0" marL="0">
              <a:lnSpc>
                <a:spcPts val="2080"/>
              </a:lnSpc>
              <a:buNone/>
            </a:pPr>
            <a:r>
              <a:rPr lang="en-US" sz="1300" dirty="0">
                <a:solidFill>
                  <a:srgbClr val="8FD19E"/>
                </a:solidFill>
                <a:latin typeface="JetBrains Mono" pitchFamily="49" charset="0"/>
                <a:ea typeface="JetBrains Mono" pitchFamily="49" charset="-122"/>
                <a:cs typeface="JetBrains Mono" pitchFamily="49" charset="-120"/>
              </a:rPr>
              <a:t>FALSE</a:t>
            </a:r>
            <a:endParaRPr lang="en-US" sz="1300" dirty="0"/>
          </a:p>
          <a:p>
            <a:pPr algn="l" indent="0" marL="0">
              <a:lnSpc>
                <a:spcPts val="2080"/>
              </a:lnSpc>
              <a:buNone/>
            </a:pPr>
            <a:r>
              <a:rPr lang="en-US" sz="1300" dirty="0">
                <a:solidFill>
                  <a:srgbClr val="7F8BA3"/>
                </a:solidFill>
                <a:latin typeface="JetBrains Mono" pitchFamily="49" charset="0"/>
                <a:ea typeface="JetBrains Mono" pitchFamily="49" charset="-122"/>
                <a:cs typeface="JetBrains Mono" pitchFamily="49" charset="-120"/>
              </a:rPr>
              <a:t>CLIPS&gt;</a:t>
            </a:r>
            <a:r>
              <a:rPr lang="en-US" sz="1300" dirty="0">
                <a:solidFill>
                  <a:srgbClr val="E8ECF2"/>
                </a:solidFill>
                <a:latin typeface="JetBrains Mono" pitchFamily="49" charset="0"/>
                <a:ea typeface="JetBrains Mono" pitchFamily="49" charset="-122"/>
                <a:cs typeface="JetBrains Mono" pitchFamily="49" charset="-120"/>
              </a:rPr>
              <a:t> (multifieldp</a:t>
            </a:r>
            <a:endParaRPr lang="en-US" sz="1300" dirty="0"/>
          </a:p>
          <a:p>
            <a:pPr algn="l" indent="0" marL="0">
              <a:lnSpc>
                <a:spcPts val="2080"/>
              </a:lnSpc>
              <a:buNone/>
            </a:pPr>
            <a:r>
              <a:rPr lang="en-US" sz="1300" dirty="0">
                <a:solidFill>
                  <a:srgbClr val="E8ECF2"/>
                </a:solidFill>
                <a:latin typeface="JetBrains Mono" pitchFamily="49" charset="0"/>
                <a:ea typeface="JetBrains Mono" pitchFamily="49" charset="-122"/>
                <a:cs typeface="JetBrains Mono" pitchFamily="49" charset="-120"/>
              </a:rPr>
              <a:t>    (create$ 1 2 3))</a:t>
            </a:r>
            <a:endParaRPr lang="en-US" sz="1300" dirty="0"/>
          </a:p>
          <a:p>
            <a:pPr algn="l" indent="0" marL="0">
              <a:lnSpc>
                <a:spcPts val="2080"/>
              </a:lnSpc>
              <a:buNone/>
            </a:pPr>
            <a:r>
              <a:rPr lang="en-US" sz="1300" dirty="0">
                <a:solidFill>
                  <a:srgbClr val="8FD19E"/>
                </a:solidFill>
                <a:latin typeface="JetBrains Mono" pitchFamily="49" charset="0"/>
                <a:ea typeface="JetBrains Mono" pitchFamily="49" charset="-122"/>
                <a:cs typeface="JetBrains Mono" pitchFamily="49" charset="-120"/>
              </a:rPr>
              <a:t>TRUE</a:t>
            </a:r>
            <a:endParaRPr lang="en-US" sz="1300" dirty="0"/>
          </a:p>
          <a:p>
            <a:pPr algn="l" indent="0" marL="0">
              <a:lnSpc>
                <a:spcPts val="2080"/>
              </a:lnSpc>
              <a:buNone/>
            </a:pPr>
            <a:r>
              <a:rPr lang="en-US" sz="1300" dirty="0">
                <a:solidFill>
                  <a:srgbClr val="7F8BA3"/>
                </a:solidFill>
                <a:latin typeface="JetBrains Mono" pitchFamily="49" charset="0"/>
                <a:ea typeface="JetBrains Mono" pitchFamily="49" charset="-122"/>
                <a:cs typeface="JetBrains Mono" pitchFamily="49" charset="-120"/>
              </a:rPr>
              <a:t>CLIPS&gt;</a:t>
            </a:r>
            <a:r>
              <a:rPr lang="en-US" sz="1300" dirty="0">
                <a:solidFill>
                  <a:srgbClr val="E8ECF2"/>
                </a:solidFill>
                <a:latin typeface="JetBrains Mono" pitchFamily="49" charset="0"/>
                <a:ea typeface="JetBrains Mono" pitchFamily="49" charset="-122"/>
                <a:cs typeface="JetBrains Mono" pitchFamily="49" charset="-120"/>
              </a:rPr>
              <a:t> (multifieldp 1 2 3)</a:t>
            </a:r>
            <a:endParaRPr lang="en-US" sz="1300" dirty="0"/>
          </a:p>
          <a:p>
            <a:pPr algn="l" indent="0" marL="0">
              <a:lnSpc>
                <a:spcPts val="2080"/>
              </a:lnSpc>
              <a:buNone/>
            </a:pPr>
            <a:r>
              <a:rPr lang="en-US" sz="1300" dirty="0">
                <a:solidFill>
                  <a:srgbClr val="F2867A"/>
                </a:solidFill>
                <a:latin typeface="JetBrains Mono" pitchFamily="49" charset="0"/>
                <a:ea typeface="JetBrains Mono" pitchFamily="49" charset="-122"/>
                <a:cs typeface="JetBrains Mono" pitchFamily="49" charset="-120"/>
              </a:rPr>
              <a:t>[ARGACCES1] expected</a:t>
            </a:r>
            <a:endParaRPr lang="en-US" sz="1300" dirty="0"/>
          </a:p>
          <a:p>
            <a:pPr algn="l" indent="0" marL="0">
              <a:lnSpc>
                <a:spcPts val="2080"/>
              </a:lnSpc>
              <a:buNone/>
            </a:pPr>
            <a:r>
              <a:rPr lang="en-US" sz="1300" dirty="0">
                <a:solidFill>
                  <a:srgbClr val="F2867A"/>
                </a:solidFill>
                <a:latin typeface="JetBrains Mono" pitchFamily="49" charset="0"/>
                <a:ea typeface="JetBrains Mono" pitchFamily="49" charset="-122"/>
                <a:cs typeface="JetBrains Mono" pitchFamily="49" charset="-120"/>
              </a:rPr>
              <a:t>exactly 1 argument</a:t>
            </a:r>
            <a:endParaRPr lang="en-US" sz="1300" dirty="0"/>
          </a:p>
        </p:txBody>
      </p:sp>
      <p:sp>
        <p:nvSpPr>
          <p:cNvPr id="9" name="Text 5"/>
          <p:cNvSpPr/>
          <p:nvPr/>
        </p:nvSpPr>
        <p:spPr>
          <a:xfrm>
            <a:off x="812800" y="5231606"/>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A </a:t>
            </a:r>
            <a:r>
              <a:rPr lang="en-US" sz="1400" b="1" dirty="0">
                <a:solidFill>
                  <a:srgbClr val="3D4A5F"/>
                </a:solidFill>
                <a:latin typeface="IBM Plex Sans" pitchFamily="34" charset="0"/>
                <a:ea typeface="IBM Plex Sans" pitchFamily="34" charset="-122"/>
                <a:cs typeface="IBM Plex Sans" pitchFamily="34" charset="-120"/>
              </a:rPr>
              <a:t>symbol</a:t>
            </a:r>
            <a:r>
              <a:rPr lang="en-US" sz="1400" dirty="0">
                <a:solidFill>
                  <a:srgbClr val="3D4A5F"/>
                </a:solidFill>
                <a:latin typeface="IBM Plex Sans" pitchFamily="34" charset="0"/>
                <a:ea typeface="IBM Plex Sans" pitchFamily="34" charset="-122"/>
                <a:cs typeface="IBM Plex Sans" pitchFamily="34" charset="-120"/>
              </a:rPr>
              <a:t> is a single word with no quotes; a </a:t>
            </a:r>
            <a:r>
              <a:rPr lang="en-US" sz="1400" b="1" dirty="0">
                <a:solidFill>
                  <a:srgbClr val="3D4A5F"/>
                </a:solidFill>
                <a:latin typeface="IBM Plex Sans" pitchFamily="34" charset="0"/>
                <a:ea typeface="IBM Plex Sans" pitchFamily="34" charset="-122"/>
                <a:cs typeface="IBM Plex Sans" pitchFamily="34" charset="-120"/>
              </a:rPr>
              <a:t>string</a:t>
            </a:r>
            <a:r>
              <a:rPr lang="en-US" sz="1400" dirty="0">
                <a:solidFill>
                  <a:srgbClr val="3D4A5F"/>
                </a:solidFill>
                <a:latin typeface="IBM Plex Sans" pitchFamily="34" charset="0"/>
                <a:ea typeface="IBM Plex Sans" pitchFamily="34" charset="-122"/>
                <a:cs typeface="IBM Plex Sans" pitchFamily="34" charset="-120"/>
              </a:rPr>
              <a:t> is text in double quotes. Results </a:t>
            </a:r>
            <a:r>
              <a:rPr lang="en-US" sz="1400" b="1" dirty="0">
                <a:solidFill>
                  <a:srgbClr val="3D4A5F"/>
                </a:solidFill>
                <a:latin typeface="IBM Plex Sans" pitchFamily="34" charset="0"/>
                <a:ea typeface="IBM Plex Sans" pitchFamily="34" charset="-122"/>
                <a:cs typeface="IBM Plex Sans" pitchFamily="34" charset="-120"/>
              </a:rPr>
              <a:t>TRUE</a:t>
            </a:r>
            <a:r>
              <a:rPr lang="en-US" sz="1400" dirty="0">
                <a:solidFill>
                  <a:srgbClr val="3D4A5F"/>
                </a:solidFill>
                <a:latin typeface="IBM Plex Sans" pitchFamily="34" charset="0"/>
                <a:ea typeface="IBM Plex Sans" pitchFamily="34" charset="-122"/>
                <a:cs typeface="IBM Plex Sans" pitchFamily="34" charset="-120"/>
              </a:rPr>
              <a:t> and </a:t>
            </a:r>
            <a:r>
              <a:rPr lang="en-US" sz="1400" b="1" dirty="0">
                <a:solidFill>
                  <a:srgbClr val="3D4A5F"/>
                </a:solidFill>
                <a:latin typeface="IBM Plex Sans" pitchFamily="34" charset="0"/>
                <a:ea typeface="IBM Plex Sans" pitchFamily="34" charset="-122"/>
                <a:cs typeface="IBM Plex Sans" pitchFamily="34" charset="-120"/>
              </a:rPr>
              <a:t>FALSE</a:t>
            </a:r>
            <a:r>
              <a:rPr lang="en-US" sz="1400" dirty="0">
                <a:solidFill>
                  <a:srgbClr val="3D4A5F"/>
                </a:solidFill>
                <a:latin typeface="IBM Plex Sans" pitchFamily="34" charset="0"/>
                <a:ea typeface="IBM Plex Sans" pitchFamily="34" charset="-122"/>
                <a:cs typeface="IBM Plex Sans" pitchFamily="34" charset="-120"/>
              </a:rPr>
              <a:t> are symbols.</a:t>
            </a:r>
            <a:endParaRPr lang="en-US" sz="1400" dirty="0"/>
          </a:p>
        </p:txBody>
      </p:sp>
      <p:sp>
        <p:nvSpPr>
          <p:cNvPr id="10" name="Text 6"/>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3</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Arithmetic: numerical examples</a:t>
            </a:r>
            <a:endParaRPr lang="en-US" sz="3200" dirty="0"/>
          </a:p>
        </p:txBody>
      </p:sp>
      <p:sp>
        <p:nvSpPr>
          <p:cNvPr id="4" name="Shape 2"/>
          <p:cNvSpPr/>
          <p:nvPr/>
        </p:nvSpPr>
        <p:spPr>
          <a:xfrm>
            <a:off x="819150" y="1822363"/>
            <a:ext cx="2514600" cy="1168047"/>
          </a:xfrm>
          <a:prstGeom prst="roundRect">
            <a:avLst>
              <a:gd name="adj" fmla="val 8155"/>
            </a:avLst>
          </a:prstGeom>
          <a:solidFill>
            <a:srgbClr val="FFFFFF"/>
          </a:solidFill>
          <a:ln w="12700">
            <a:solidFill>
              <a:srgbClr val="D7DEE9"/>
            </a:solidFill>
            <a:prstDash val="solid"/>
          </a:ln>
        </p:spPr>
      </p:sp>
      <p:sp>
        <p:nvSpPr>
          <p:cNvPr id="5" name="Text 3"/>
          <p:cNvSpPr/>
          <p:nvPr/>
        </p:nvSpPr>
        <p:spPr>
          <a:xfrm>
            <a:off x="1027289" y="2030499"/>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(+ 5 3)</a:t>
            </a:r>
            <a:endParaRPr lang="en-US" sz="1600" dirty="0"/>
          </a:p>
        </p:txBody>
      </p:sp>
      <p:sp>
        <p:nvSpPr>
          <p:cNvPr id="6" name="Text 4"/>
          <p:cNvSpPr/>
          <p:nvPr/>
        </p:nvSpPr>
        <p:spPr>
          <a:xfrm>
            <a:off x="1027289" y="2391128"/>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8</a:t>
            </a:r>
            <a:endParaRPr lang="en-US" sz="2200" dirty="0"/>
          </a:p>
        </p:txBody>
      </p:sp>
      <p:sp>
        <p:nvSpPr>
          <p:cNvPr id="7" name="Shape 5"/>
          <p:cNvSpPr/>
          <p:nvPr/>
        </p:nvSpPr>
        <p:spPr>
          <a:xfrm>
            <a:off x="3498850" y="1822363"/>
            <a:ext cx="2514600" cy="1168047"/>
          </a:xfrm>
          <a:prstGeom prst="roundRect">
            <a:avLst>
              <a:gd name="adj" fmla="val 8155"/>
            </a:avLst>
          </a:prstGeom>
          <a:solidFill>
            <a:srgbClr val="FFFFFF"/>
          </a:solidFill>
          <a:ln w="12700">
            <a:solidFill>
              <a:srgbClr val="D7DEE9"/>
            </a:solidFill>
            <a:prstDash val="solid"/>
          </a:ln>
        </p:spPr>
      </p:sp>
      <p:sp>
        <p:nvSpPr>
          <p:cNvPr id="8" name="Text 6"/>
          <p:cNvSpPr/>
          <p:nvPr/>
        </p:nvSpPr>
        <p:spPr>
          <a:xfrm>
            <a:off x="3706989" y="2030499"/>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(- 10 4)</a:t>
            </a:r>
            <a:endParaRPr lang="en-US" sz="1600" dirty="0"/>
          </a:p>
        </p:txBody>
      </p:sp>
      <p:sp>
        <p:nvSpPr>
          <p:cNvPr id="9" name="Text 7"/>
          <p:cNvSpPr/>
          <p:nvPr/>
        </p:nvSpPr>
        <p:spPr>
          <a:xfrm>
            <a:off x="3706989" y="2391128"/>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6</a:t>
            </a:r>
            <a:endParaRPr lang="en-US" sz="2200" dirty="0"/>
          </a:p>
        </p:txBody>
      </p:sp>
      <p:sp>
        <p:nvSpPr>
          <p:cNvPr id="10" name="Shape 8"/>
          <p:cNvSpPr/>
          <p:nvPr/>
        </p:nvSpPr>
        <p:spPr>
          <a:xfrm>
            <a:off x="6178550" y="1822363"/>
            <a:ext cx="2514600" cy="1168047"/>
          </a:xfrm>
          <a:prstGeom prst="roundRect">
            <a:avLst>
              <a:gd name="adj" fmla="val 8155"/>
            </a:avLst>
          </a:prstGeom>
          <a:solidFill>
            <a:srgbClr val="FFFFFF"/>
          </a:solidFill>
          <a:ln w="12700">
            <a:solidFill>
              <a:srgbClr val="D7DEE9"/>
            </a:solidFill>
            <a:prstDash val="solid"/>
          </a:ln>
        </p:spPr>
      </p:sp>
      <p:sp>
        <p:nvSpPr>
          <p:cNvPr id="11" name="Text 9"/>
          <p:cNvSpPr/>
          <p:nvPr/>
        </p:nvSpPr>
        <p:spPr>
          <a:xfrm>
            <a:off x="6386689" y="2030499"/>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 6 7)</a:t>
            </a:r>
            <a:endParaRPr lang="en-US" sz="1600" dirty="0"/>
          </a:p>
        </p:txBody>
      </p:sp>
      <p:sp>
        <p:nvSpPr>
          <p:cNvPr id="12" name="Text 10"/>
          <p:cNvSpPr/>
          <p:nvPr/>
        </p:nvSpPr>
        <p:spPr>
          <a:xfrm>
            <a:off x="6386689" y="2391128"/>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42</a:t>
            </a:r>
            <a:endParaRPr lang="en-US" sz="2200" dirty="0"/>
          </a:p>
        </p:txBody>
      </p:sp>
      <p:sp>
        <p:nvSpPr>
          <p:cNvPr id="13" name="Shape 11"/>
          <p:cNvSpPr/>
          <p:nvPr/>
        </p:nvSpPr>
        <p:spPr>
          <a:xfrm>
            <a:off x="8858250" y="1822363"/>
            <a:ext cx="2514600" cy="1168047"/>
          </a:xfrm>
          <a:prstGeom prst="roundRect">
            <a:avLst>
              <a:gd name="adj" fmla="val 8155"/>
            </a:avLst>
          </a:prstGeom>
          <a:solidFill>
            <a:srgbClr val="FFFFFF"/>
          </a:solidFill>
          <a:ln w="12700">
            <a:solidFill>
              <a:srgbClr val="D7DEE9"/>
            </a:solidFill>
            <a:prstDash val="solid"/>
          </a:ln>
        </p:spPr>
      </p:sp>
      <p:sp>
        <p:nvSpPr>
          <p:cNvPr id="14" name="Text 12"/>
          <p:cNvSpPr/>
          <p:nvPr/>
        </p:nvSpPr>
        <p:spPr>
          <a:xfrm>
            <a:off x="9066389" y="2030499"/>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(+ 1 2 3 4)</a:t>
            </a:r>
            <a:endParaRPr lang="en-US" sz="1600" dirty="0"/>
          </a:p>
        </p:txBody>
      </p:sp>
      <p:sp>
        <p:nvSpPr>
          <p:cNvPr id="15" name="Text 13"/>
          <p:cNvSpPr/>
          <p:nvPr/>
        </p:nvSpPr>
        <p:spPr>
          <a:xfrm>
            <a:off x="9066389" y="2391128"/>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10</a:t>
            </a:r>
            <a:endParaRPr lang="en-US" sz="2200" dirty="0"/>
          </a:p>
        </p:txBody>
      </p:sp>
      <p:sp>
        <p:nvSpPr>
          <p:cNvPr id="16" name="Shape 14"/>
          <p:cNvSpPr/>
          <p:nvPr/>
        </p:nvSpPr>
        <p:spPr>
          <a:xfrm>
            <a:off x="819150" y="3155510"/>
            <a:ext cx="2514600" cy="1168047"/>
          </a:xfrm>
          <a:prstGeom prst="roundRect">
            <a:avLst>
              <a:gd name="adj" fmla="val 8155"/>
            </a:avLst>
          </a:prstGeom>
          <a:solidFill>
            <a:srgbClr val="FFFFFF"/>
          </a:solidFill>
          <a:ln w="12700">
            <a:solidFill>
              <a:srgbClr val="D7DEE9"/>
            </a:solidFill>
            <a:prstDash val="solid"/>
          </a:ln>
        </p:spPr>
      </p:sp>
      <p:sp>
        <p:nvSpPr>
          <p:cNvPr id="17" name="Text 15"/>
          <p:cNvSpPr/>
          <p:nvPr/>
        </p:nvSpPr>
        <p:spPr>
          <a:xfrm>
            <a:off x="1027289" y="3363646"/>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 20 4)</a:t>
            </a:r>
            <a:endParaRPr lang="en-US" sz="1600" dirty="0"/>
          </a:p>
        </p:txBody>
      </p:sp>
      <p:sp>
        <p:nvSpPr>
          <p:cNvPr id="18" name="Text 16"/>
          <p:cNvSpPr/>
          <p:nvPr/>
        </p:nvSpPr>
        <p:spPr>
          <a:xfrm>
            <a:off x="1027289" y="3724275"/>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5.0</a:t>
            </a:r>
            <a:endParaRPr lang="en-US" sz="2200" dirty="0"/>
          </a:p>
        </p:txBody>
      </p:sp>
      <p:sp>
        <p:nvSpPr>
          <p:cNvPr id="19" name="Shape 17"/>
          <p:cNvSpPr/>
          <p:nvPr/>
        </p:nvSpPr>
        <p:spPr>
          <a:xfrm>
            <a:off x="3498850" y="3155510"/>
            <a:ext cx="2514600" cy="1168047"/>
          </a:xfrm>
          <a:prstGeom prst="roundRect">
            <a:avLst>
              <a:gd name="adj" fmla="val 8155"/>
            </a:avLst>
          </a:prstGeom>
          <a:solidFill>
            <a:srgbClr val="FFFFFF"/>
          </a:solidFill>
          <a:ln w="12700">
            <a:solidFill>
              <a:srgbClr val="D7DEE9"/>
            </a:solidFill>
            <a:prstDash val="solid"/>
          </a:ln>
        </p:spPr>
      </p:sp>
      <p:sp>
        <p:nvSpPr>
          <p:cNvPr id="20" name="Text 18"/>
          <p:cNvSpPr/>
          <p:nvPr/>
        </p:nvSpPr>
        <p:spPr>
          <a:xfrm>
            <a:off x="3706989" y="3363646"/>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 7 2)</a:t>
            </a:r>
            <a:endParaRPr lang="en-US" sz="1600" dirty="0"/>
          </a:p>
        </p:txBody>
      </p:sp>
      <p:sp>
        <p:nvSpPr>
          <p:cNvPr id="21" name="Text 19"/>
          <p:cNvSpPr/>
          <p:nvPr/>
        </p:nvSpPr>
        <p:spPr>
          <a:xfrm>
            <a:off x="3706989" y="3724275"/>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3.5</a:t>
            </a:r>
            <a:endParaRPr lang="en-US" sz="2200" dirty="0"/>
          </a:p>
        </p:txBody>
      </p:sp>
      <p:sp>
        <p:nvSpPr>
          <p:cNvPr id="22" name="Shape 20"/>
          <p:cNvSpPr/>
          <p:nvPr/>
        </p:nvSpPr>
        <p:spPr>
          <a:xfrm>
            <a:off x="6178550" y="3155510"/>
            <a:ext cx="2514600" cy="1168047"/>
          </a:xfrm>
          <a:prstGeom prst="roundRect">
            <a:avLst>
              <a:gd name="adj" fmla="val 8155"/>
            </a:avLst>
          </a:prstGeom>
          <a:solidFill>
            <a:srgbClr val="FFFFFF"/>
          </a:solidFill>
          <a:ln w="12700">
            <a:solidFill>
              <a:srgbClr val="D7DEE9"/>
            </a:solidFill>
            <a:prstDash val="solid"/>
          </a:ln>
        </p:spPr>
      </p:sp>
      <p:sp>
        <p:nvSpPr>
          <p:cNvPr id="23" name="Text 21"/>
          <p:cNvSpPr/>
          <p:nvPr/>
        </p:nvSpPr>
        <p:spPr>
          <a:xfrm>
            <a:off x="6386689" y="3363646"/>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(div 7 2)</a:t>
            </a:r>
            <a:endParaRPr lang="en-US" sz="1600" dirty="0"/>
          </a:p>
        </p:txBody>
      </p:sp>
      <p:sp>
        <p:nvSpPr>
          <p:cNvPr id="24" name="Text 22"/>
          <p:cNvSpPr/>
          <p:nvPr/>
        </p:nvSpPr>
        <p:spPr>
          <a:xfrm>
            <a:off x="6386689" y="3724275"/>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3</a:t>
            </a:r>
            <a:endParaRPr lang="en-US" sz="2200" dirty="0"/>
          </a:p>
        </p:txBody>
      </p:sp>
      <p:sp>
        <p:nvSpPr>
          <p:cNvPr id="25" name="Shape 23"/>
          <p:cNvSpPr/>
          <p:nvPr/>
        </p:nvSpPr>
        <p:spPr>
          <a:xfrm>
            <a:off x="8858250" y="3155510"/>
            <a:ext cx="2514600" cy="1168047"/>
          </a:xfrm>
          <a:prstGeom prst="roundRect">
            <a:avLst>
              <a:gd name="adj" fmla="val 8155"/>
            </a:avLst>
          </a:prstGeom>
          <a:solidFill>
            <a:srgbClr val="FFFFFF"/>
          </a:solidFill>
          <a:ln w="12700">
            <a:solidFill>
              <a:srgbClr val="D7DEE9"/>
            </a:solidFill>
            <a:prstDash val="solid"/>
          </a:ln>
        </p:spPr>
      </p:sp>
      <p:sp>
        <p:nvSpPr>
          <p:cNvPr id="26" name="Text 24"/>
          <p:cNvSpPr/>
          <p:nvPr/>
        </p:nvSpPr>
        <p:spPr>
          <a:xfrm>
            <a:off x="9066389" y="3363646"/>
            <a:ext cx="216127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JetBrains Mono" pitchFamily="49" charset="0"/>
                <a:ea typeface="JetBrains Mono" pitchFamily="49" charset="-122"/>
                <a:cs typeface="JetBrains Mono" pitchFamily="49" charset="-120"/>
              </a:rPr>
              <a:t>(mod 7 2)</a:t>
            </a:r>
            <a:endParaRPr lang="en-US" sz="1600" dirty="0"/>
          </a:p>
        </p:txBody>
      </p:sp>
      <p:sp>
        <p:nvSpPr>
          <p:cNvPr id="27" name="Text 25"/>
          <p:cNvSpPr/>
          <p:nvPr/>
        </p:nvSpPr>
        <p:spPr>
          <a:xfrm>
            <a:off x="9066389" y="3724275"/>
            <a:ext cx="216127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621A"/>
                </a:solidFill>
                <a:latin typeface="JetBrains Mono" pitchFamily="49" charset="0"/>
                <a:ea typeface="JetBrains Mono" pitchFamily="49" charset="-122"/>
                <a:cs typeface="JetBrains Mono" pitchFamily="49" charset="-120"/>
              </a:rPr>
              <a:t>1</a:t>
            </a:r>
            <a:endParaRPr lang="en-US" sz="2200" dirty="0"/>
          </a:p>
        </p:txBody>
      </p:sp>
      <p:sp>
        <p:nvSpPr>
          <p:cNvPr id="28" name="Shape 26"/>
          <p:cNvSpPr/>
          <p:nvPr/>
        </p:nvSpPr>
        <p:spPr>
          <a:xfrm>
            <a:off x="812800" y="4533106"/>
            <a:ext cx="10566400" cy="660400"/>
          </a:xfrm>
          <a:prstGeom prst="roundRect">
            <a:avLst>
              <a:gd name="adj" fmla="val 15385"/>
            </a:avLst>
          </a:prstGeom>
          <a:solidFill>
            <a:srgbClr val="FFF1E3"/>
          </a:solidFill>
          <a:ln/>
        </p:spPr>
      </p:sp>
      <p:pic>
        <p:nvPicPr>
          <p:cNvPr id="29" name="Image 0" descr="Warning">    </p:cNvPr>
          <p:cNvPicPr>
            <a:picLocks noChangeAspect="1"/>
          </p:cNvPicPr>
          <p:nvPr/>
        </p:nvPicPr>
        <p:blipFill>
          <a:blip r:embed="rId1"/>
          <a:srcRect l="0" r="0" t="0" b="0"/>
          <a:stretch/>
        </p:blipFill>
        <p:spPr>
          <a:xfrm>
            <a:off x="1066800" y="4710906"/>
            <a:ext cx="304800" cy="304800"/>
          </a:xfrm>
          <a:prstGeom prst="rect">
            <a:avLst/>
          </a:prstGeom>
        </p:spPr>
      </p:pic>
      <p:sp>
        <p:nvSpPr>
          <p:cNvPr id="30" name="Text 27"/>
          <p:cNvSpPr/>
          <p:nvPr/>
        </p:nvSpPr>
        <p:spPr>
          <a:xfrm>
            <a:off x="1524000" y="4738867"/>
            <a:ext cx="7815051" cy="27428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C3410"/>
                </a:solidFill>
                <a:latin typeface="IBM Plex Sans" pitchFamily="34" charset="0"/>
                <a:ea typeface="IBM Plex Sans" pitchFamily="34" charset="-122"/>
                <a:cs typeface="IBM Plex Sans" pitchFamily="34" charset="-120"/>
              </a:rPr>
              <a:t>/</a:t>
            </a:r>
            <a:r>
              <a:rPr lang="en-US" sz="1400" dirty="0">
                <a:solidFill>
                  <a:srgbClr val="5C3410"/>
                </a:solidFill>
                <a:latin typeface="IBM Plex Sans" pitchFamily="34" charset="0"/>
                <a:ea typeface="IBM Plex Sans" pitchFamily="34" charset="-122"/>
                <a:cs typeface="IBM Plex Sans" pitchFamily="34" charset="-120"/>
              </a:rPr>
              <a:t> always gives a float (5.0). Use </a:t>
            </a:r>
            <a:r>
              <a:rPr lang="en-US" sz="1400" b="1" dirty="0">
                <a:solidFill>
                  <a:srgbClr val="5C3410"/>
                </a:solidFill>
                <a:latin typeface="IBM Plex Sans" pitchFamily="34" charset="0"/>
                <a:ea typeface="IBM Plex Sans" pitchFamily="34" charset="-122"/>
                <a:cs typeface="IBM Plex Sans" pitchFamily="34" charset="-120"/>
              </a:rPr>
              <a:t>div</a:t>
            </a:r>
            <a:r>
              <a:rPr lang="en-US" sz="1400" dirty="0">
                <a:solidFill>
                  <a:srgbClr val="5C3410"/>
                </a:solidFill>
                <a:latin typeface="IBM Plex Sans" pitchFamily="34" charset="0"/>
                <a:ea typeface="IBM Plex Sans" pitchFamily="34" charset="-122"/>
                <a:cs typeface="IBM Plex Sans" pitchFamily="34" charset="-120"/>
              </a:rPr>
              <a:t> for integer division and </a:t>
            </a:r>
            <a:r>
              <a:rPr lang="en-US" sz="1400" b="1" dirty="0">
                <a:solidFill>
                  <a:srgbClr val="5C3410"/>
                </a:solidFill>
                <a:latin typeface="IBM Plex Sans" pitchFamily="34" charset="0"/>
                <a:ea typeface="IBM Plex Sans" pitchFamily="34" charset="-122"/>
                <a:cs typeface="IBM Plex Sans" pitchFamily="34" charset="-120"/>
              </a:rPr>
              <a:t>mod</a:t>
            </a:r>
            <a:r>
              <a:rPr lang="en-US" sz="1400" dirty="0">
                <a:solidFill>
                  <a:srgbClr val="5C3410"/>
                </a:solidFill>
                <a:latin typeface="IBM Plex Sans" pitchFamily="34" charset="0"/>
                <a:ea typeface="IBM Plex Sans" pitchFamily="34" charset="-122"/>
                <a:cs typeface="IBM Plex Sans" pitchFamily="34" charset="-120"/>
              </a:rPr>
              <a:t> for the remainder.</a:t>
            </a:r>
            <a:endParaRPr lang="en-US" sz="1400" dirty="0"/>
          </a:p>
        </p:txBody>
      </p:sp>
      <p:sp>
        <p:nvSpPr>
          <p:cNvPr id="31" name="Text 28"/>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4</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Nested expressions: inside first</a:t>
            </a:r>
            <a:endParaRPr lang="en-US" sz="3200" dirty="0"/>
          </a:p>
        </p:txBody>
      </p:sp>
      <p:sp>
        <p:nvSpPr>
          <p:cNvPr id="4" name="Text 2"/>
          <p:cNvSpPr/>
          <p:nvPr/>
        </p:nvSpPr>
        <p:spPr>
          <a:xfrm>
            <a:off x="812800" y="1816013"/>
            <a:ext cx="59910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F"/>
                </a:solidFill>
                <a:latin typeface="IBM Plex Sans" pitchFamily="34" charset="0"/>
                <a:ea typeface="IBM Plex Sans" pitchFamily="34" charset="-122"/>
                <a:cs typeface="IBM Plex Sans" pitchFamily="34" charset="-120"/>
              </a:rPr>
              <a:t>Translate the math into CLIPS:</a:t>
            </a:r>
            <a:endParaRPr lang="en-US" sz="1500" dirty="0"/>
          </a:p>
        </p:txBody>
      </p:sp>
      <p:sp>
        <p:nvSpPr>
          <p:cNvPr id="5" name="Text 3"/>
          <p:cNvSpPr/>
          <p:nvPr/>
        </p:nvSpPr>
        <p:spPr>
          <a:xfrm>
            <a:off x="819150" y="2216063"/>
            <a:ext cx="5803900" cy="721078"/>
          </a:xfrm>
          <a:prstGeom prst="roundRect">
            <a:avLst>
              <a:gd name="adj" fmla="val 13209"/>
            </a:avLst>
          </a:prstGeom>
          <a:solidFill>
            <a:srgbClr val="FFFFFF"/>
          </a:solidFill>
          <a:ln w="12700">
            <a:solidFill>
              <a:srgbClr val="D7DEE9"/>
            </a:solidFill>
            <a:prstDash val="solid"/>
          </a:ln>
        </p:spPr>
        <p:txBody>
          <a:bodyPr wrap="square" lIns="205641" tIns="154841" rIns="45536" bIns="129441" rtlCol="0" anchor="t">
            <a:normAutofit/>
          </a:bodyPr>
          <a:lstStyle/>
          <a:p>
            <a:pPr algn="l" indent="0" marL="0">
              <a:lnSpc>
                <a:spcPts val="2800"/>
              </a:lnSpc>
              <a:buNone/>
            </a:pPr>
            <a:r>
              <a:rPr lang="en-US" sz="2000" dirty="0">
                <a:solidFill>
                  <a:srgbClr val="14213D"/>
                </a:solidFill>
                <a:latin typeface="JetBrains Mono" pitchFamily="49" charset="0"/>
                <a:ea typeface="JetBrains Mono" pitchFamily="49" charset="-122"/>
                <a:cs typeface="JetBrains Mono" pitchFamily="49" charset="-120"/>
              </a:rPr>
              <a:t>2 × (3 + 4) − 5</a:t>
            </a:r>
            <a:endParaRPr lang="en-US" sz="2000" dirty="0"/>
          </a:p>
        </p:txBody>
      </p:sp>
      <p:pic>
        <p:nvPicPr>
          <p:cNvPr id="6" name="Image 0" descr="arrow-down">    </p:cNvPr>
          <p:cNvPicPr>
            <a:picLocks noChangeAspect="1"/>
          </p:cNvPicPr>
          <p:nvPr/>
        </p:nvPicPr>
        <p:blipFill>
          <a:blip r:embed="rId1"/>
          <a:srcRect l="0" r="0" t="0" b="0"/>
          <a:stretch/>
        </p:blipFill>
        <p:spPr>
          <a:xfrm>
            <a:off x="812800" y="3070492"/>
            <a:ext cx="254000" cy="355600"/>
          </a:xfrm>
          <a:prstGeom prst="rect">
            <a:avLst/>
          </a:prstGeom>
        </p:spPr>
      </p:pic>
      <p:sp>
        <p:nvSpPr>
          <p:cNvPr id="7" name="Text 4"/>
          <p:cNvSpPr/>
          <p:nvPr/>
        </p:nvSpPr>
        <p:spPr>
          <a:xfrm>
            <a:off x="812800" y="3553092"/>
            <a:ext cx="5816600" cy="711200"/>
          </a:xfrm>
          <a:prstGeom prst="roundRect">
            <a:avLst>
              <a:gd name="adj" fmla="val 14286"/>
            </a:avLst>
          </a:prstGeom>
          <a:solidFill>
            <a:srgbClr val="1B2333"/>
          </a:solidFill>
          <a:ln/>
        </p:spPr>
        <p:txBody>
          <a:bodyPr wrap="square" lIns="198842" tIns="148042" rIns="38060" bIns="122642" rtlCol="0" anchor="t">
            <a:normAutofit/>
          </a:bodyPr>
          <a:lstStyle/>
          <a:p>
            <a:pPr algn="l" indent="0" marL="0">
              <a:lnSpc>
                <a:spcPts val="2800"/>
              </a:lnSpc>
              <a:buNone/>
            </a:pPr>
            <a:r>
              <a:rPr lang="en-US" sz="2000" dirty="0">
                <a:solidFill>
                  <a:srgbClr val="E8ECF2"/>
                </a:solidFill>
                <a:latin typeface="JetBrains Mono" pitchFamily="49" charset="0"/>
                <a:ea typeface="JetBrains Mono" pitchFamily="49" charset="-122"/>
                <a:cs typeface="JetBrains Mono" pitchFamily="49" charset="-120"/>
              </a:rPr>
              <a:t>(- (* 2 (+ 3 4)) 5)</a:t>
            </a:r>
            <a:endParaRPr lang="en-US" sz="2000" dirty="0"/>
          </a:p>
        </p:txBody>
      </p:sp>
      <p:sp>
        <p:nvSpPr>
          <p:cNvPr id="8" name="Text 5"/>
          <p:cNvSpPr/>
          <p:nvPr/>
        </p:nvSpPr>
        <p:spPr>
          <a:xfrm>
            <a:off x="812800" y="4391292"/>
            <a:ext cx="5991098"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Each pair of parentheses is one operation.</a:t>
            </a:r>
            <a:endParaRPr lang="en-US" sz="1400" dirty="0"/>
          </a:p>
        </p:txBody>
      </p:sp>
      <p:sp>
        <p:nvSpPr>
          <p:cNvPr id="9" name="Shape 6"/>
          <p:cNvSpPr/>
          <p:nvPr/>
        </p:nvSpPr>
        <p:spPr>
          <a:xfrm>
            <a:off x="6940550" y="1822363"/>
            <a:ext cx="4432300" cy="2811463"/>
          </a:xfrm>
          <a:prstGeom prst="roundRect">
            <a:avLst>
              <a:gd name="adj" fmla="val 3388"/>
            </a:avLst>
          </a:prstGeom>
          <a:solidFill>
            <a:srgbClr val="FFFFFF"/>
          </a:solidFill>
          <a:ln w="12700">
            <a:solidFill>
              <a:srgbClr val="D7DEE9"/>
            </a:solidFill>
            <a:prstDash val="solid"/>
          </a:ln>
        </p:spPr>
      </p:sp>
      <p:sp>
        <p:nvSpPr>
          <p:cNvPr id="10" name="Text 7"/>
          <p:cNvSpPr/>
          <p:nvPr/>
        </p:nvSpPr>
        <p:spPr>
          <a:xfrm>
            <a:off x="7199489" y="2081299"/>
            <a:ext cx="4031855"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How CLIPS evaluates it</a:t>
            </a:r>
            <a:endParaRPr lang="en-US" sz="1700" dirty="0"/>
          </a:p>
        </p:txBody>
      </p:sp>
      <p:sp>
        <p:nvSpPr>
          <p:cNvPr id="11" name="Text 8"/>
          <p:cNvSpPr/>
          <p:nvPr/>
        </p:nvSpPr>
        <p:spPr>
          <a:xfrm>
            <a:off x="7199489" y="2441928"/>
            <a:ext cx="403185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4213D"/>
                </a:solidFill>
                <a:latin typeface="JetBrains Mono" pitchFamily="49" charset="0"/>
                <a:ea typeface="JetBrains Mono" pitchFamily="49" charset="-122"/>
                <a:cs typeface="JetBrains Mono" pitchFamily="49" charset="-120"/>
              </a:rPr>
              <a:t>(- (* 2 </a:t>
            </a:r>
            <a:r>
              <a:rPr lang="en-US" sz="1600" dirty="0">
                <a:solidFill>
                  <a:srgbClr val="C2621A"/>
                </a:solidFill>
                <a:latin typeface="JetBrains Mono" pitchFamily="49" charset="0"/>
                <a:ea typeface="JetBrains Mono" pitchFamily="49" charset="-122"/>
                <a:cs typeface="JetBrains Mono" pitchFamily="49" charset="-120"/>
              </a:rPr>
              <a:t>(+ 3 4)</a:t>
            </a:r>
            <a:r>
              <a:rPr lang="en-US" sz="1600" dirty="0">
                <a:solidFill>
                  <a:srgbClr val="14213D"/>
                </a:solidFill>
                <a:latin typeface="JetBrains Mono" pitchFamily="49" charset="0"/>
                <a:ea typeface="JetBrains Mono" pitchFamily="49" charset="-122"/>
                <a:cs typeface="JetBrains Mono" pitchFamily="49" charset="-120"/>
              </a:rPr>
              <a:t>) 5)</a:t>
            </a:r>
            <a:endParaRPr lang="en-US" sz="1600" dirty="0"/>
          </a:p>
        </p:txBody>
      </p:sp>
      <p:sp>
        <p:nvSpPr>
          <p:cNvPr id="12" name="Text 9"/>
          <p:cNvSpPr/>
          <p:nvPr/>
        </p:nvSpPr>
        <p:spPr>
          <a:xfrm>
            <a:off x="7199489" y="2848328"/>
            <a:ext cx="403185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4213D"/>
                </a:solidFill>
                <a:latin typeface="JetBrains Mono" pitchFamily="49" charset="0"/>
                <a:ea typeface="JetBrains Mono" pitchFamily="49" charset="-122"/>
                <a:cs typeface="JetBrains Mono" pitchFamily="49" charset="-120"/>
              </a:rPr>
              <a:t>(- </a:t>
            </a:r>
            <a:r>
              <a:rPr lang="en-US" sz="1600" dirty="0">
                <a:solidFill>
                  <a:srgbClr val="C2621A"/>
                </a:solidFill>
                <a:latin typeface="JetBrains Mono" pitchFamily="49" charset="0"/>
                <a:ea typeface="JetBrains Mono" pitchFamily="49" charset="-122"/>
                <a:cs typeface="JetBrains Mono" pitchFamily="49" charset="-120"/>
              </a:rPr>
              <a:t>(* 2 7)</a:t>
            </a:r>
            <a:r>
              <a:rPr lang="en-US" sz="1600" dirty="0">
                <a:solidFill>
                  <a:srgbClr val="14213D"/>
                </a:solidFill>
                <a:latin typeface="JetBrains Mono" pitchFamily="49" charset="0"/>
                <a:ea typeface="JetBrains Mono" pitchFamily="49" charset="-122"/>
                <a:cs typeface="JetBrains Mono" pitchFamily="49" charset="-120"/>
              </a:rPr>
              <a:t> 5)</a:t>
            </a:r>
            <a:endParaRPr lang="en-US" sz="1600" dirty="0"/>
          </a:p>
        </p:txBody>
      </p:sp>
      <p:sp>
        <p:nvSpPr>
          <p:cNvPr id="13" name="Text 10"/>
          <p:cNvSpPr/>
          <p:nvPr/>
        </p:nvSpPr>
        <p:spPr>
          <a:xfrm>
            <a:off x="7199489" y="3254728"/>
            <a:ext cx="4031855"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C2621A"/>
                </a:solidFill>
                <a:latin typeface="JetBrains Mono" pitchFamily="49" charset="0"/>
                <a:ea typeface="JetBrains Mono" pitchFamily="49" charset="-122"/>
                <a:cs typeface="JetBrains Mono" pitchFamily="49" charset="-120"/>
              </a:rPr>
              <a:t>(- 14 5)</a:t>
            </a:r>
            <a:endParaRPr lang="en-US" sz="1600" dirty="0"/>
          </a:p>
        </p:txBody>
      </p:sp>
      <p:sp>
        <p:nvSpPr>
          <p:cNvPr id="14" name="Text 11"/>
          <p:cNvSpPr/>
          <p:nvPr/>
        </p:nvSpPr>
        <p:spPr>
          <a:xfrm>
            <a:off x="7199489" y="3661128"/>
            <a:ext cx="4031855" cy="452085"/>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2621A"/>
                </a:solidFill>
                <a:latin typeface="JetBrains Mono" pitchFamily="49" charset="0"/>
                <a:ea typeface="JetBrains Mono" pitchFamily="49" charset="-122"/>
                <a:cs typeface="JetBrains Mono" pitchFamily="49" charset="-120"/>
              </a:rPr>
              <a:t>9</a:t>
            </a:r>
            <a:endParaRPr lang="en-US" sz="2400" dirty="0"/>
          </a:p>
        </p:txBody>
      </p:sp>
      <p:sp>
        <p:nvSpPr>
          <p:cNvPr id="15" name="Text 12"/>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5</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Built-in math functions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27302"/>
          <a:ext cx="5144911" cy="2468033"/>
        </p:xfrm>
        <a:graphic>
          <a:graphicData uri="http://schemas.openxmlformats.org/drawingml/2006/table">
            <a:tbl>
              <a:tblPr/>
              <a:tblGrid>
                <a:gridCol w="3086947"/>
                <a:gridCol w="2057964"/>
              </a:tblGrid>
              <a:tr h="411339">
                <a:tc>
                  <a:txBody>
                    <a:bodyPr/>
                    <a:lstStyle/>
                    <a:p>
                      <a:pPr indent="0" marL="0">
                        <a:lnSpc>
                          <a:spcPts val="2100"/>
                        </a:lnSpc>
                        <a:buNone/>
                      </a:pPr>
                      <a:r>
                        <a:rPr lang="en-US" sz="1500" b="1" dirty="0">
                          <a:solidFill>
                            <a:srgbClr val="FFFFFF"/>
                          </a:solidFill>
                          <a:latin typeface="JetBrains Mono" pitchFamily="49" charset="0"/>
                          <a:ea typeface="JetBrains Mono" pitchFamily="49" charset="-122"/>
                          <a:cs typeface="JetBrains Mono" pitchFamily="49" charset="-120"/>
                        </a:rPr>
                        <a:t>Expression</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2100"/>
                        </a:lnSpc>
                        <a:buNone/>
                      </a:pPr>
                      <a:r>
                        <a:rPr lang="en-US" sz="1500" b="1" dirty="0">
                          <a:solidFill>
                            <a:srgbClr val="FFFFFF"/>
                          </a:solidFill>
                          <a:latin typeface="JetBrains Mono" pitchFamily="49" charset="0"/>
                          <a:ea typeface="JetBrains Mono" pitchFamily="49" charset="-122"/>
                          <a:cs typeface="JetBrains Mono" pitchFamily="49" charset="-120"/>
                        </a:rPr>
                        <a:t>Result</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(sqrt 16)</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4.0</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 2 10)</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1024.0</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(abs -9)</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9</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(max 4 9 2)</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9</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(min 4 9 2)</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2</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4289" y="1827302"/>
          <a:ext cx="5144911" cy="2468033"/>
        </p:xfrm>
        <a:graphic>
          <a:graphicData uri="http://schemas.openxmlformats.org/drawingml/2006/table">
            <a:tbl>
              <a:tblPr/>
              <a:tblGrid>
                <a:gridCol w="3086947"/>
                <a:gridCol w="2057964"/>
              </a:tblGrid>
              <a:tr h="411339">
                <a:tc>
                  <a:txBody>
                    <a:bodyPr/>
                    <a:lstStyle/>
                    <a:p>
                      <a:pPr indent="0" marL="0">
                        <a:lnSpc>
                          <a:spcPts val="2100"/>
                        </a:lnSpc>
                        <a:buNone/>
                      </a:pPr>
                      <a:r>
                        <a:rPr lang="en-US" sz="1500" b="1" dirty="0">
                          <a:solidFill>
                            <a:srgbClr val="FFFFFF"/>
                          </a:solidFill>
                          <a:latin typeface="JetBrains Mono" pitchFamily="49" charset="0"/>
                          <a:ea typeface="JetBrains Mono" pitchFamily="49" charset="-122"/>
                          <a:cs typeface="JetBrains Mono" pitchFamily="49" charset="-120"/>
                        </a:rPr>
                        <a:t>Expression</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2100"/>
                        </a:lnSpc>
                        <a:buNone/>
                      </a:pPr>
                      <a:r>
                        <a:rPr lang="en-US" sz="1500" b="1" dirty="0">
                          <a:solidFill>
                            <a:srgbClr val="FFFFFF"/>
                          </a:solidFill>
                          <a:latin typeface="JetBrains Mono" pitchFamily="49" charset="0"/>
                          <a:ea typeface="JetBrains Mono" pitchFamily="49" charset="-122"/>
                          <a:cs typeface="JetBrains Mono" pitchFamily="49" charset="-120"/>
                        </a:rPr>
                        <a:t>Result</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(round 3.6)</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4</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(integer 3.9)</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3</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(float 5)</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5.0</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(pi)</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3.14159…</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411339">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 (pi) 2 2)</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A3F"/>
                          </a:solidFill>
                          <a:latin typeface="JetBrains Mono" pitchFamily="49" charset="0"/>
                          <a:ea typeface="JetBrains Mono" pitchFamily="49" charset="-122"/>
                          <a:cs typeface="JetBrains Mono" pitchFamily="49" charset="-120"/>
                        </a:rPr>
                        <a:t>12.566…</a:t>
                      </a:r>
                      <a:endParaRPr lang="en-US" sz="1500" dirty="0">
                        <a:latin typeface="JetBrains Mono" charset="0"/>
                        <a:ea typeface="JetBrains Mono" charset="0"/>
                        <a:cs typeface="JetBrains Mon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2"/>
          <p:cNvSpPr/>
          <p:nvPr/>
        </p:nvSpPr>
        <p:spPr>
          <a:xfrm>
            <a:off x="812800" y="4498535"/>
            <a:ext cx="10883392" cy="27428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F"/>
                </a:solidFill>
                <a:latin typeface="IBM Plex Sans" pitchFamily="34" charset="0"/>
                <a:ea typeface="IBM Plex Sans" pitchFamily="34" charset="-122"/>
                <a:cs typeface="IBM Plex Sans" pitchFamily="34" charset="-120"/>
              </a:rPr>
              <a:t>**</a:t>
            </a:r>
            <a:r>
              <a:rPr lang="en-US" sz="1400" dirty="0">
                <a:solidFill>
                  <a:srgbClr val="3D4A5F"/>
                </a:solidFill>
                <a:latin typeface="IBM Plex Sans" pitchFamily="34" charset="0"/>
                <a:ea typeface="IBM Plex Sans" pitchFamily="34" charset="-122"/>
                <a:cs typeface="IBM Plex Sans" pitchFamily="34" charset="-120"/>
              </a:rPr>
              <a:t> is power, </a:t>
            </a:r>
            <a:r>
              <a:rPr lang="en-US" sz="1400" b="1" dirty="0">
                <a:solidFill>
                  <a:srgbClr val="3D4A5F"/>
                </a:solidFill>
                <a:latin typeface="IBM Plex Sans" pitchFamily="34" charset="0"/>
                <a:ea typeface="IBM Plex Sans" pitchFamily="34" charset="-122"/>
                <a:cs typeface="IBM Plex Sans" pitchFamily="34" charset="-120"/>
              </a:rPr>
              <a:t>integer</a:t>
            </a:r>
            <a:r>
              <a:rPr lang="en-US" sz="1400" dirty="0">
                <a:solidFill>
                  <a:srgbClr val="3D4A5F"/>
                </a:solidFill>
                <a:latin typeface="IBM Plex Sans" pitchFamily="34" charset="0"/>
                <a:ea typeface="IBM Plex Sans" pitchFamily="34" charset="-122"/>
                <a:cs typeface="IBM Plex Sans" pitchFamily="34" charset="-120"/>
              </a:rPr>
              <a:t> cuts the decimals, </a:t>
            </a:r>
            <a:r>
              <a:rPr lang="en-US" sz="1400" b="1" dirty="0">
                <a:solidFill>
                  <a:srgbClr val="3D4A5F"/>
                </a:solidFill>
                <a:latin typeface="IBM Plex Sans" pitchFamily="34" charset="0"/>
                <a:ea typeface="IBM Plex Sans" pitchFamily="34" charset="-122"/>
                <a:cs typeface="IBM Plex Sans" pitchFamily="34" charset="-120"/>
              </a:rPr>
              <a:t>round</a:t>
            </a:r>
            <a:r>
              <a:rPr lang="en-US" sz="1400" dirty="0">
                <a:solidFill>
                  <a:srgbClr val="3D4A5F"/>
                </a:solidFill>
                <a:latin typeface="IBM Plex Sans" pitchFamily="34" charset="0"/>
                <a:ea typeface="IBM Plex Sans" pitchFamily="34" charset="-122"/>
                <a:cs typeface="IBM Plex Sans" pitchFamily="34" charset="-120"/>
              </a:rPr>
              <a:t> rounds to the nearest. The last line is the area of a circle with radius 2.</a:t>
            </a:r>
            <a:endParaRPr lang="en-US" sz="1400" dirty="0"/>
          </a:p>
        </p:txBody>
      </p:sp>
      <p:sp>
        <p:nvSpPr>
          <p:cNvPr id="7" name="Text 3"/>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6</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Comparison and logic</a:t>
            </a:r>
            <a:endParaRPr lang="en-US" sz="3200" dirty="0"/>
          </a:p>
        </p:txBody>
      </p:sp>
      <p:sp>
        <p:nvSpPr>
          <p:cNvPr id="4" name="Text 2"/>
          <p:cNvSpPr/>
          <p:nvPr/>
        </p:nvSpPr>
        <p:spPr>
          <a:xfrm>
            <a:off x="812800" y="1816013"/>
            <a:ext cx="53108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Compare values</a:t>
            </a:r>
            <a:endParaRPr lang="en-US" sz="1800" dirty="0"/>
          </a:p>
        </p:txBody>
      </p:sp>
      <p:sp>
        <p:nvSpPr>
          <p:cNvPr id="5" name="Text 3"/>
          <p:cNvSpPr/>
          <p:nvPr/>
        </p:nvSpPr>
        <p:spPr>
          <a:xfrm>
            <a:off x="812800" y="2217297"/>
            <a:ext cx="5156200" cy="1981200"/>
          </a:xfrm>
          <a:prstGeom prst="roundRect">
            <a:avLst>
              <a:gd name="adj" fmla="val 5128"/>
            </a:avLst>
          </a:prstGeom>
          <a:solidFill>
            <a:srgbClr val="1B2333"/>
          </a:solidFill>
          <a:ln/>
        </p:spPr>
        <p:txBody>
          <a:bodyPr wrap="square" lIns="249642" tIns="198842" rIns="111720" bIns="173442" rtlCol="0" anchor="t">
            <a:normAutofit/>
          </a:bodyPr>
          <a:lstStyle/>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(&gt; 5 3)         </a:t>
            </a:r>
            <a:r>
              <a:rPr lang="en-US" sz="1500" dirty="0">
                <a:solidFill>
                  <a:srgbClr val="8FD19E"/>
                </a:solidFill>
                <a:latin typeface="JetBrains Mono" pitchFamily="49" charset="0"/>
                <a:ea typeface="JetBrains Mono" pitchFamily="49" charset="-122"/>
                <a:cs typeface="JetBrains Mono" pitchFamily="49" charset="-120"/>
              </a:rPr>
              <a:t>TRUE</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(&lt; 5 3)         </a:t>
            </a:r>
            <a:r>
              <a:rPr lang="en-US" sz="1500" dirty="0">
                <a:solidFill>
                  <a:srgbClr val="8FD19E"/>
                </a:solidFill>
                <a:latin typeface="JetBrains Mono" pitchFamily="49" charset="0"/>
                <a:ea typeface="JetBrains Mono" pitchFamily="49" charset="-122"/>
                <a:cs typeface="JetBrains Mono" pitchFamily="49" charset="-120"/>
              </a:rPr>
              <a:t>FALSE</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 4 4.0)       </a:t>
            </a:r>
            <a:r>
              <a:rPr lang="en-US" sz="1500" dirty="0">
                <a:solidFill>
                  <a:srgbClr val="8FD19E"/>
                </a:solidFill>
                <a:latin typeface="JetBrains Mono" pitchFamily="49" charset="0"/>
                <a:ea typeface="JetBrains Mono" pitchFamily="49" charset="-122"/>
                <a:cs typeface="JetBrains Mono" pitchFamily="49" charset="-120"/>
              </a:rPr>
              <a:t>TRUE</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(eq red red)    </a:t>
            </a:r>
            <a:r>
              <a:rPr lang="en-US" sz="1500" dirty="0">
                <a:solidFill>
                  <a:srgbClr val="8FD19E"/>
                </a:solidFill>
                <a:latin typeface="JetBrains Mono" pitchFamily="49" charset="0"/>
                <a:ea typeface="JetBrains Mono" pitchFamily="49" charset="-122"/>
                <a:cs typeface="JetBrains Mono" pitchFamily="49" charset="-120"/>
              </a:rPr>
              <a:t>TRUE</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(neq red blue)  </a:t>
            </a:r>
            <a:r>
              <a:rPr lang="en-US" sz="1500" dirty="0">
                <a:solidFill>
                  <a:srgbClr val="8FD19E"/>
                </a:solidFill>
                <a:latin typeface="JetBrains Mono" pitchFamily="49" charset="0"/>
                <a:ea typeface="JetBrains Mono" pitchFamily="49" charset="-122"/>
                <a:cs typeface="JetBrains Mono" pitchFamily="49" charset="-120"/>
              </a:rPr>
              <a:t>TRUE</a:t>
            </a:r>
            <a:endParaRPr lang="en-US" sz="1500" dirty="0"/>
          </a:p>
        </p:txBody>
      </p:sp>
      <p:sp>
        <p:nvSpPr>
          <p:cNvPr id="6" name="Text 4"/>
          <p:cNvSpPr/>
          <p:nvPr/>
        </p:nvSpPr>
        <p:spPr>
          <a:xfrm>
            <a:off x="812800" y="4325497"/>
            <a:ext cx="5310886"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Numbers: </a:t>
            </a:r>
            <a:r>
              <a:rPr lang="en-US" sz="1300" b="1" dirty="0">
                <a:solidFill>
                  <a:srgbClr val="3D4A5F"/>
                </a:solidFill>
                <a:latin typeface="IBM Plex Sans" pitchFamily="34" charset="0"/>
                <a:ea typeface="IBM Plex Sans" pitchFamily="34" charset="-122"/>
                <a:cs typeface="IBM Plex Sans" pitchFamily="34" charset="-120"/>
              </a:rPr>
              <a:t>&gt; &lt; &gt;= &lt;= = &lt;&gt;</a:t>
            </a:r>
            <a:r>
              <a:rPr lang="en-US" sz="1300" dirty="0">
                <a:solidFill>
                  <a:srgbClr val="3D4A5F"/>
                </a:solidFill>
                <a:latin typeface="IBM Plex Sans" pitchFamily="34" charset="0"/>
                <a:ea typeface="IBM Plex Sans" pitchFamily="34" charset="-122"/>
                <a:cs typeface="IBM Plex Sans" pitchFamily="34" charset="-120"/>
              </a:rPr>
              <a:t> · Symbols and strings: </a:t>
            </a:r>
            <a:r>
              <a:rPr lang="en-US" sz="1300" b="1" dirty="0">
                <a:solidFill>
                  <a:srgbClr val="3D4A5F"/>
                </a:solidFill>
                <a:latin typeface="IBM Plex Sans" pitchFamily="34" charset="0"/>
                <a:ea typeface="IBM Plex Sans" pitchFamily="34" charset="-122"/>
                <a:cs typeface="IBM Plex Sans" pitchFamily="34" charset="-120"/>
              </a:rPr>
              <a:t>eq neq</a:t>
            </a:r>
            <a:endParaRPr lang="en-US" sz="1300" dirty="0"/>
          </a:p>
        </p:txBody>
      </p:sp>
      <p:sp>
        <p:nvSpPr>
          <p:cNvPr id="7" name="Text 5"/>
          <p:cNvSpPr/>
          <p:nvPr/>
        </p:nvSpPr>
        <p:spPr>
          <a:xfrm>
            <a:off x="6223000" y="1816013"/>
            <a:ext cx="53108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Combine conditions</a:t>
            </a:r>
            <a:endParaRPr lang="en-US" sz="1800" dirty="0"/>
          </a:p>
        </p:txBody>
      </p:sp>
      <p:sp>
        <p:nvSpPr>
          <p:cNvPr id="8" name="Text 6"/>
          <p:cNvSpPr/>
          <p:nvPr/>
        </p:nvSpPr>
        <p:spPr>
          <a:xfrm>
            <a:off x="6223000" y="2217297"/>
            <a:ext cx="5156200" cy="2286000"/>
          </a:xfrm>
          <a:prstGeom prst="roundRect">
            <a:avLst>
              <a:gd name="adj" fmla="val 4444"/>
            </a:avLst>
          </a:prstGeom>
          <a:solidFill>
            <a:srgbClr val="1B2333"/>
          </a:solidFill>
          <a:ln/>
        </p:spPr>
        <p:txBody>
          <a:bodyPr wrap="square" lIns="249642" tIns="198842" rIns="111720" bIns="173442" rtlCol="0" anchor="t">
            <a:normAutofit/>
          </a:bodyPr>
          <a:lstStyle/>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(and (&gt; 5 3) (&lt; 2 1))</a:t>
            </a:r>
            <a:endParaRPr lang="en-US" sz="1500" dirty="0"/>
          </a:p>
          <a:p>
            <a:pPr algn="l" indent="0" marL="0">
              <a:lnSpc>
                <a:spcPts val="2400"/>
              </a:lnSpc>
              <a:buNone/>
            </a:pPr>
            <a:r>
              <a:rPr lang="en-US" sz="1500" dirty="0">
                <a:solidFill>
                  <a:srgbClr val="8FD19E"/>
                </a:solidFill>
                <a:latin typeface="JetBrains Mono" pitchFamily="49" charset="0"/>
                <a:ea typeface="JetBrains Mono" pitchFamily="49" charset="-122"/>
                <a:cs typeface="JetBrains Mono" pitchFamily="49" charset="-120"/>
              </a:rPr>
              <a:t>FALSE</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(or (&gt; 5 3) (&lt; 2 1))</a:t>
            </a:r>
            <a:endParaRPr lang="en-US" sz="1500" dirty="0"/>
          </a:p>
          <a:p>
            <a:pPr algn="l" indent="0" marL="0">
              <a:lnSpc>
                <a:spcPts val="2400"/>
              </a:lnSpc>
              <a:buNone/>
            </a:pPr>
            <a:r>
              <a:rPr lang="en-US" sz="1500" dirty="0">
                <a:solidFill>
                  <a:srgbClr val="8FD19E"/>
                </a:solidFill>
                <a:latin typeface="JetBrains Mono" pitchFamily="49" charset="0"/>
                <a:ea typeface="JetBrains Mono" pitchFamily="49" charset="-122"/>
                <a:cs typeface="JetBrains Mono" pitchFamily="49" charset="-120"/>
              </a:rPr>
              <a:t>TRUE</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(not (&gt; 5 3))</a:t>
            </a:r>
            <a:endParaRPr lang="en-US" sz="1500" dirty="0"/>
          </a:p>
          <a:p>
            <a:pPr algn="l" indent="0" marL="0">
              <a:lnSpc>
                <a:spcPts val="2400"/>
              </a:lnSpc>
              <a:buNone/>
            </a:pPr>
            <a:r>
              <a:rPr lang="en-US" sz="1500" dirty="0">
                <a:solidFill>
                  <a:srgbClr val="8FD19E"/>
                </a:solidFill>
                <a:latin typeface="JetBrains Mono" pitchFamily="49" charset="0"/>
                <a:ea typeface="JetBrains Mono" pitchFamily="49" charset="-122"/>
                <a:cs typeface="JetBrains Mono" pitchFamily="49" charset="-120"/>
              </a:rPr>
              <a:t>FALSE</a:t>
            </a:r>
            <a:endParaRPr lang="en-US" sz="1500" dirty="0"/>
          </a:p>
        </p:txBody>
      </p:sp>
      <p:sp>
        <p:nvSpPr>
          <p:cNvPr id="9" name="Text 7"/>
          <p:cNvSpPr/>
          <p:nvPr/>
        </p:nvSpPr>
        <p:spPr>
          <a:xfrm>
            <a:off x="6223000" y="4630297"/>
            <a:ext cx="5310886"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Same prefix rule: the operator comes first.</a:t>
            </a:r>
            <a:endParaRPr lang="en-US" sz="1300" dirty="0"/>
          </a:p>
        </p:txBody>
      </p:sp>
      <p:sp>
        <p:nvSpPr>
          <p:cNvPr id="10" name="Text 8"/>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7</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Variables with bind</a:t>
            </a:r>
            <a:endParaRPr lang="en-US" sz="3200" dirty="0"/>
          </a:p>
        </p:txBody>
      </p:sp>
      <p:sp>
        <p:nvSpPr>
          <p:cNvPr id="4" name="Text 2"/>
          <p:cNvSpPr/>
          <p:nvPr/>
        </p:nvSpPr>
        <p:spPr>
          <a:xfrm>
            <a:off x="819150" y="1822363"/>
            <a:ext cx="5041900" cy="771878"/>
          </a:xfrm>
          <a:prstGeom prst="roundRect">
            <a:avLst>
              <a:gd name="adj" fmla="val 12340"/>
            </a:avLst>
          </a:prstGeom>
          <a:solidFill>
            <a:srgbClr val="FFFFFF"/>
          </a:solidFill>
          <a:ln w="12700">
            <a:solidFill>
              <a:srgbClr val="D7DEE9"/>
            </a:solidFill>
            <a:prstDash val="solid"/>
          </a:ln>
        </p:spPr>
        <p:txBody>
          <a:bodyPr wrap="square" lIns="110857" tIns="180241" rIns="110857" bIns="154841" rtlCol="0" anchor="t">
            <a:normAutofit/>
          </a:bodyPr>
          <a:lstStyle/>
          <a:p>
            <a:pPr algn="ctr" indent="0" marL="0">
              <a:lnSpc>
                <a:spcPts val="2800"/>
              </a:lnSpc>
              <a:buNone/>
            </a:pPr>
            <a:r>
              <a:rPr lang="en-US" sz="2000" b="1" dirty="0">
                <a:solidFill>
                  <a:srgbClr val="14213D"/>
                </a:solidFill>
                <a:latin typeface="JetBrains Mono" pitchFamily="49" charset="0"/>
                <a:ea typeface="JetBrains Mono" pitchFamily="49" charset="-122"/>
                <a:cs typeface="JetBrains Mono" pitchFamily="49" charset="-120"/>
              </a:rPr>
              <a:t>(bind </a:t>
            </a:r>
            <a:r>
              <a:rPr lang="en-US" sz="2000" b="1" dirty="0">
                <a:solidFill>
                  <a:srgbClr val="C2621A"/>
                </a:solidFill>
                <a:latin typeface="JetBrains Mono" pitchFamily="49" charset="0"/>
                <a:ea typeface="JetBrains Mono" pitchFamily="49" charset="-122"/>
                <a:cs typeface="JetBrains Mono" pitchFamily="49" charset="-120"/>
              </a:rPr>
              <a:t>?name</a:t>
            </a:r>
            <a:r>
              <a:rPr lang="en-US" sz="2000" b="1" dirty="0">
                <a:solidFill>
                  <a:srgbClr val="14213D"/>
                </a:solidFill>
                <a:latin typeface="JetBrains Mono" pitchFamily="49" charset="0"/>
                <a:ea typeface="JetBrains Mono" pitchFamily="49" charset="-122"/>
                <a:cs typeface="JetBrains Mono" pitchFamily="49" charset="-120"/>
              </a:rPr>
              <a:t> value)</a:t>
            </a:r>
            <a:endParaRPr lang="en-US" sz="2000" dirty="0"/>
          </a:p>
        </p:txBody>
      </p:sp>
      <p:sp>
        <p:nvSpPr>
          <p:cNvPr id="5" name="Text 3"/>
          <p:cNvSpPr/>
          <p:nvPr/>
        </p:nvSpPr>
        <p:spPr>
          <a:xfrm>
            <a:off x="883920" y="2752992"/>
            <a:ext cx="5127498"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D4A5F"/>
                </a:solidFill>
                <a:latin typeface="IBM Plex Sans" pitchFamily="34" charset="0"/>
                <a:ea typeface="IBM Plex Sans" pitchFamily="34" charset="-122"/>
                <a:cs typeface="IBM Plex Sans" pitchFamily="34" charset="-120"/>
              </a:rPr>
              <a:t>A variable always starts with </a:t>
            </a:r>
            <a:r>
              <a:rPr lang="en-US" sz="1500" b="1" dirty="0">
                <a:solidFill>
                  <a:srgbClr val="3D4A5F"/>
                </a:solidFill>
                <a:latin typeface="IBM Plex Sans" pitchFamily="34" charset="0"/>
                <a:ea typeface="IBM Plex Sans" pitchFamily="34" charset="-122"/>
                <a:cs typeface="IBM Plex Sans" pitchFamily="34" charset="-120"/>
              </a:rPr>
              <a:t>?</a:t>
            </a:r>
            <a:endParaRPr lang="en-US" sz="1500" dirty="0"/>
          </a:p>
          <a:p>
            <a:pPr algn="l" marL="182880" indent="-182880">
              <a:lnSpc>
                <a:spcPts val="2250"/>
              </a:lnSpc>
              <a:buSzPct val="100000"/>
              <a:buChar char="•"/>
            </a:pPr>
            <a:r>
              <a:rPr lang="en-US" sz="1500" b="1" dirty="0">
                <a:solidFill>
                  <a:srgbClr val="3D4A5F"/>
                </a:solidFill>
                <a:latin typeface="IBM Plex Sans" pitchFamily="34" charset="0"/>
                <a:ea typeface="IBM Plex Sans" pitchFamily="34" charset="-122"/>
                <a:cs typeface="IBM Plex Sans" pitchFamily="34" charset="-120"/>
              </a:rPr>
              <a:t>bind</a:t>
            </a:r>
            <a:r>
              <a:rPr lang="en-US" sz="1500" dirty="0">
                <a:solidFill>
                  <a:srgbClr val="3D4A5F"/>
                </a:solidFill>
                <a:latin typeface="IBM Plex Sans" pitchFamily="34" charset="0"/>
                <a:ea typeface="IBM Plex Sans" pitchFamily="34" charset="-122"/>
                <a:cs typeface="IBM Plex Sans" pitchFamily="34" charset="-120"/>
              </a:rPr>
              <a:t> stores a value in it</a:t>
            </a:r>
            <a:endParaRPr lang="en-US" sz="1500" dirty="0"/>
          </a:p>
          <a:p>
            <a:pPr algn="l" marL="182880" indent="-182880">
              <a:lnSpc>
                <a:spcPts val="2250"/>
              </a:lnSpc>
              <a:buSzPct val="100000"/>
              <a:buChar char="•"/>
            </a:pPr>
            <a:r>
              <a:rPr lang="en-US" sz="1500" dirty="0">
                <a:solidFill>
                  <a:srgbClr val="3D4A5F"/>
                </a:solidFill>
                <a:latin typeface="IBM Plex Sans" pitchFamily="34" charset="0"/>
                <a:ea typeface="IBM Plex Sans" pitchFamily="34" charset="-122"/>
                <a:cs typeface="IBM Plex Sans" pitchFamily="34" charset="-120"/>
              </a:rPr>
              <a:t>Use it anywhere a value is expected</a:t>
            </a:r>
            <a:endParaRPr lang="en-US" sz="1500" dirty="0"/>
          </a:p>
        </p:txBody>
      </p:sp>
      <p:sp>
        <p:nvSpPr>
          <p:cNvPr id="6" name="Text 4"/>
          <p:cNvSpPr/>
          <p:nvPr/>
        </p:nvSpPr>
        <p:spPr>
          <a:xfrm>
            <a:off x="6172200" y="1816013"/>
            <a:ext cx="5207000" cy="2895600"/>
          </a:xfrm>
          <a:prstGeom prst="roundRect">
            <a:avLst>
              <a:gd name="adj" fmla="val 3509"/>
            </a:avLst>
          </a:prstGeom>
          <a:solidFill>
            <a:srgbClr val="1B2333"/>
          </a:solidFill>
          <a:ln/>
        </p:spPr>
        <p:txBody>
          <a:bodyPr wrap="square" lIns="249642" tIns="198842" rIns="110196" bIns="173442" rtlCol="0" anchor="t">
            <a:normAutofit/>
          </a:bodyPr>
          <a:lstStyle/>
          <a:p>
            <a:pPr algn="l" indent="0" marL="0">
              <a:lnSpc>
                <a:spcPts val="2400"/>
              </a:lnSpc>
              <a:buNone/>
            </a:pPr>
            <a:r>
              <a:rPr lang="en-US" sz="1500" dirty="0">
                <a:solidFill>
                  <a:srgbClr val="7F8BA3"/>
                </a:solidFill>
                <a:latin typeface="JetBrains Mono" pitchFamily="49" charset="0"/>
                <a:ea typeface="JetBrains Mono" pitchFamily="49" charset="-122"/>
                <a:cs typeface="JetBrains Mono" pitchFamily="49" charset="-120"/>
              </a:rPr>
              <a:t>CLIPS&gt;</a:t>
            </a:r>
            <a:r>
              <a:rPr lang="en-US" sz="1500" dirty="0">
                <a:solidFill>
                  <a:srgbClr val="E8ECF2"/>
                </a:solidFill>
                <a:latin typeface="JetBrains Mono" pitchFamily="49" charset="0"/>
                <a:ea typeface="JetBrains Mono" pitchFamily="49" charset="-122"/>
                <a:cs typeface="JetBrains Mono" pitchFamily="49" charset="-120"/>
              </a:rPr>
              <a:t> (bind ?x 10)</a:t>
            </a:r>
            <a:endParaRPr lang="en-US" sz="1500" dirty="0"/>
          </a:p>
          <a:p>
            <a:pPr algn="l" indent="0" marL="0">
              <a:lnSpc>
                <a:spcPts val="2400"/>
              </a:lnSpc>
              <a:buNone/>
            </a:pPr>
            <a:r>
              <a:rPr lang="en-US" sz="1500" dirty="0">
                <a:solidFill>
                  <a:srgbClr val="8FD19E"/>
                </a:solidFill>
                <a:latin typeface="JetBrains Mono" pitchFamily="49" charset="0"/>
                <a:ea typeface="JetBrains Mono" pitchFamily="49" charset="-122"/>
                <a:cs typeface="JetBrains Mono" pitchFamily="49" charset="-120"/>
              </a:rPr>
              <a:t>10</a:t>
            </a:r>
            <a:endParaRPr lang="en-US" sz="1500" dirty="0"/>
          </a:p>
          <a:p>
            <a:pPr algn="l" indent="0" marL="0">
              <a:lnSpc>
                <a:spcPts val="2400"/>
              </a:lnSpc>
              <a:buNone/>
            </a:pPr>
            <a:r>
              <a:rPr lang="en-US" sz="1500" dirty="0">
                <a:solidFill>
                  <a:srgbClr val="7F8BA3"/>
                </a:solidFill>
                <a:latin typeface="JetBrains Mono" pitchFamily="49" charset="0"/>
                <a:ea typeface="JetBrains Mono" pitchFamily="49" charset="-122"/>
                <a:cs typeface="JetBrains Mono" pitchFamily="49" charset="-120"/>
              </a:rPr>
              <a:t>CLIPS&gt;</a:t>
            </a:r>
            <a:r>
              <a:rPr lang="en-US" sz="1500" dirty="0">
                <a:solidFill>
                  <a:srgbClr val="E8ECF2"/>
                </a:solidFill>
                <a:latin typeface="JetBrains Mono" pitchFamily="49" charset="0"/>
                <a:ea typeface="JetBrains Mono" pitchFamily="49" charset="-122"/>
                <a:cs typeface="JetBrains Mono" pitchFamily="49" charset="-120"/>
              </a:rPr>
              <a:t> (* ?x ?x)</a:t>
            </a:r>
            <a:endParaRPr lang="en-US" sz="1500" dirty="0"/>
          </a:p>
          <a:p>
            <a:pPr algn="l" indent="0" marL="0">
              <a:lnSpc>
                <a:spcPts val="2400"/>
              </a:lnSpc>
              <a:buNone/>
            </a:pPr>
            <a:r>
              <a:rPr lang="en-US" sz="1500" dirty="0">
                <a:solidFill>
                  <a:srgbClr val="8FD19E"/>
                </a:solidFill>
                <a:latin typeface="JetBrains Mono" pitchFamily="49" charset="0"/>
                <a:ea typeface="JetBrains Mono" pitchFamily="49" charset="-122"/>
                <a:cs typeface="JetBrains Mono" pitchFamily="49" charset="-120"/>
              </a:rPr>
              <a:t>100</a:t>
            </a:r>
            <a:endParaRPr lang="en-US" sz="1500" dirty="0"/>
          </a:p>
          <a:p>
            <a:pPr algn="l" indent="0" marL="0">
              <a:lnSpc>
                <a:spcPts val="2400"/>
              </a:lnSpc>
              <a:buNone/>
            </a:pPr>
            <a:r>
              <a:rPr lang="en-US" sz="1500" dirty="0">
                <a:solidFill>
                  <a:srgbClr val="7F8BA3"/>
                </a:solidFill>
                <a:latin typeface="JetBrains Mono" pitchFamily="49" charset="0"/>
                <a:ea typeface="JetBrains Mono" pitchFamily="49" charset="-122"/>
                <a:cs typeface="JetBrains Mono" pitchFamily="49" charset="-120"/>
              </a:rPr>
              <a:t>; Celsius to Fahrenheit</a:t>
            </a:r>
            <a:endParaRPr lang="en-US" sz="1500" dirty="0"/>
          </a:p>
          <a:p>
            <a:pPr algn="l" indent="0" marL="0">
              <a:lnSpc>
                <a:spcPts val="2400"/>
              </a:lnSpc>
              <a:buNone/>
            </a:pPr>
            <a:r>
              <a:rPr lang="en-US" sz="1500" dirty="0">
                <a:solidFill>
                  <a:srgbClr val="7F8BA3"/>
                </a:solidFill>
                <a:latin typeface="JetBrains Mono" pitchFamily="49" charset="0"/>
                <a:ea typeface="JetBrains Mono" pitchFamily="49" charset="-122"/>
                <a:cs typeface="JetBrains Mono" pitchFamily="49" charset="-120"/>
              </a:rPr>
              <a:t>CLIPS&gt;</a:t>
            </a:r>
            <a:r>
              <a:rPr lang="en-US" sz="1500" dirty="0">
                <a:solidFill>
                  <a:srgbClr val="E8ECF2"/>
                </a:solidFill>
                <a:latin typeface="JetBrains Mono" pitchFamily="49" charset="0"/>
                <a:ea typeface="JetBrains Mono" pitchFamily="49" charset="-122"/>
                <a:cs typeface="JetBrains Mono" pitchFamily="49" charset="-120"/>
              </a:rPr>
              <a:t> (bind ?c 25)</a:t>
            </a:r>
            <a:endParaRPr lang="en-US" sz="1500" dirty="0"/>
          </a:p>
          <a:p>
            <a:pPr algn="l" indent="0" marL="0">
              <a:lnSpc>
                <a:spcPts val="2400"/>
              </a:lnSpc>
              <a:buNone/>
            </a:pPr>
            <a:r>
              <a:rPr lang="en-US" sz="1500" dirty="0">
                <a:solidFill>
                  <a:srgbClr val="7F8BA3"/>
                </a:solidFill>
                <a:latin typeface="JetBrains Mono" pitchFamily="49" charset="0"/>
                <a:ea typeface="JetBrains Mono" pitchFamily="49" charset="-122"/>
                <a:cs typeface="JetBrains Mono" pitchFamily="49" charset="-120"/>
              </a:rPr>
              <a:t>CLIPS&gt;</a:t>
            </a:r>
            <a:r>
              <a:rPr lang="en-US" sz="1500" dirty="0">
                <a:solidFill>
                  <a:srgbClr val="E8ECF2"/>
                </a:solidFill>
                <a:latin typeface="JetBrains Mono" pitchFamily="49" charset="0"/>
                <a:ea typeface="JetBrains Mono" pitchFamily="49" charset="-122"/>
                <a:cs typeface="JetBrains Mono" pitchFamily="49" charset="-120"/>
              </a:rPr>
              <a:t> (+ (* ?c 1.8) 32)</a:t>
            </a:r>
            <a:endParaRPr lang="en-US" sz="1500" dirty="0"/>
          </a:p>
          <a:p>
            <a:pPr algn="l" indent="0" marL="0">
              <a:lnSpc>
                <a:spcPts val="2400"/>
              </a:lnSpc>
              <a:buNone/>
            </a:pPr>
            <a:r>
              <a:rPr lang="en-US" sz="1500" dirty="0">
                <a:solidFill>
                  <a:srgbClr val="8FD19E"/>
                </a:solidFill>
                <a:latin typeface="JetBrains Mono" pitchFamily="49" charset="0"/>
                <a:ea typeface="JetBrains Mono" pitchFamily="49" charset="-122"/>
                <a:cs typeface="JetBrains Mono" pitchFamily="49" charset="-120"/>
              </a:rPr>
              <a:t>77.0</a:t>
            </a:r>
            <a:endParaRPr lang="en-US" sz="1500" dirty="0"/>
          </a:p>
        </p:txBody>
      </p:sp>
      <p:sp>
        <p:nvSpPr>
          <p:cNvPr id="7" name="Text 5"/>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8</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Printing output with printout</a:t>
            </a:r>
            <a:endParaRPr lang="en-US" sz="3200" dirty="0"/>
          </a:p>
        </p:txBody>
      </p:sp>
      <p:sp>
        <p:nvSpPr>
          <p:cNvPr id="4" name="Text 2"/>
          <p:cNvSpPr/>
          <p:nvPr/>
        </p:nvSpPr>
        <p:spPr>
          <a:xfrm>
            <a:off x="819150" y="1822363"/>
            <a:ext cx="10553700" cy="721078"/>
          </a:xfrm>
          <a:prstGeom prst="roundRect">
            <a:avLst>
              <a:gd name="adj" fmla="val 13209"/>
            </a:avLst>
          </a:prstGeom>
          <a:solidFill>
            <a:srgbClr val="FFFFFF"/>
          </a:solidFill>
          <a:ln w="12700">
            <a:solidFill>
              <a:srgbClr val="D7DEE9"/>
            </a:solidFill>
            <a:prstDash val="solid"/>
          </a:ln>
        </p:spPr>
        <p:txBody>
          <a:bodyPr wrap="square" lIns="205641" tIns="154841" rIns="0" bIns="129441" rtlCol="0" anchor="t">
            <a:normAutofit/>
          </a:bodyPr>
          <a:lstStyle/>
          <a:p>
            <a:pPr algn="l" indent="0" marL="0">
              <a:lnSpc>
                <a:spcPts val="2800"/>
              </a:lnSpc>
              <a:buNone/>
            </a:pPr>
            <a:r>
              <a:rPr lang="en-US" sz="2000" b="1" dirty="0">
                <a:solidFill>
                  <a:srgbClr val="14213D"/>
                </a:solidFill>
                <a:latin typeface="JetBrains Mono" pitchFamily="49" charset="0"/>
                <a:ea typeface="JetBrains Mono" pitchFamily="49" charset="-122"/>
                <a:cs typeface="JetBrains Mono" pitchFamily="49" charset="-120"/>
              </a:rPr>
              <a:t>(printout </a:t>
            </a:r>
            <a:r>
              <a:rPr lang="en-US" sz="2000" b="1" dirty="0">
                <a:solidFill>
                  <a:srgbClr val="C2621A"/>
                </a:solidFill>
                <a:latin typeface="JetBrains Mono" pitchFamily="49" charset="0"/>
                <a:ea typeface="JetBrains Mono" pitchFamily="49" charset="-122"/>
                <a:cs typeface="JetBrains Mono" pitchFamily="49" charset="-120"/>
              </a:rPr>
              <a:t>t</a:t>
            </a:r>
            <a:r>
              <a:rPr lang="en-US" sz="2000" b="1" dirty="0">
                <a:solidFill>
                  <a:srgbClr val="14213D"/>
                </a:solidFill>
                <a:latin typeface="JetBrains Mono" pitchFamily="49" charset="0"/>
                <a:ea typeface="JetBrains Mono" pitchFamily="49" charset="-122"/>
                <a:cs typeface="JetBrains Mono" pitchFamily="49" charset="-120"/>
              </a:rPr>
              <a:t> "text" ?var (expression) </a:t>
            </a:r>
            <a:r>
              <a:rPr lang="en-US" sz="2000" b="1" dirty="0">
                <a:solidFill>
                  <a:srgbClr val="C2621A"/>
                </a:solidFill>
                <a:latin typeface="JetBrains Mono" pitchFamily="49" charset="0"/>
                <a:ea typeface="JetBrains Mono" pitchFamily="49" charset="-122"/>
                <a:cs typeface="JetBrains Mono" pitchFamily="49" charset="-120"/>
              </a:rPr>
              <a:t>crlf</a:t>
            </a:r>
            <a:r>
              <a:rPr lang="en-US" sz="2000" b="1" dirty="0">
                <a:solidFill>
                  <a:srgbClr val="14213D"/>
                </a:solidFill>
                <a:latin typeface="JetBrains Mono" pitchFamily="49" charset="0"/>
                <a:ea typeface="JetBrains Mono" pitchFamily="49" charset="-122"/>
                <a:cs typeface="JetBrains Mono" pitchFamily="49" charset="-120"/>
              </a:rPr>
              <a:t>)</a:t>
            </a:r>
            <a:endParaRPr lang="en-US" sz="2000" dirty="0"/>
          </a:p>
        </p:txBody>
      </p:sp>
      <p:sp>
        <p:nvSpPr>
          <p:cNvPr id="5" name="Shape 3"/>
          <p:cNvSpPr/>
          <p:nvPr/>
        </p:nvSpPr>
        <p:spPr>
          <a:xfrm>
            <a:off x="819150" y="2759335"/>
            <a:ext cx="3373967" cy="1234017"/>
          </a:xfrm>
          <a:prstGeom prst="roundRect">
            <a:avLst>
              <a:gd name="adj" fmla="val 7719"/>
            </a:avLst>
          </a:prstGeom>
          <a:solidFill>
            <a:srgbClr val="FFFFFF"/>
          </a:solidFill>
          <a:ln w="12700">
            <a:solidFill>
              <a:srgbClr val="D7DEE9"/>
            </a:solidFill>
            <a:prstDash val="solid"/>
          </a:ln>
        </p:spPr>
      </p:sp>
      <p:sp>
        <p:nvSpPr>
          <p:cNvPr id="6" name="Text 4"/>
          <p:cNvSpPr/>
          <p:nvPr/>
        </p:nvSpPr>
        <p:spPr>
          <a:xfrm>
            <a:off x="1027289" y="2967484"/>
            <a:ext cx="3046420"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IBM Plex Sans" pitchFamily="34" charset="0"/>
                <a:ea typeface="IBM Plex Sans" pitchFamily="34" charset="-122"/>
                <a:cs typeface="IBM Plex Sans" pitchFamily="34" charset="-120"/>
              </a:rPr>
              <a:t>t</a:t>
            </a:r>
            <a:endParaRPr lang="en-US" sz="1600" dirty="0"/>
          </a:p>
        </p:txBody>
      </p:sp>
      <p:sp>
        <p:nvSpPr>
          <p:cNvPr id="7" name="Text 5"/>
          <p:cNvSpPr/>
          <p:nvPr/>
        </p:nvSpPr>
        <p:spPr>
          <a:xfrm>
            <a:off x="1027289" y="3287452"/>
            <a:ext cx="3046420"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Send the output to the terminal (screen)</a:t>
            </a:r>
            <a:endParaRPr lang="en-US" sz="1400" dirty="0"/>
          </a:p>
        </p:txBody>
      </p:sp>
      <p:sp>
        <p:nvSpPr>
          <p:cNvPr id="8" name="Shape 6"/>
          <p:cNvSpPr/>
          <p:nvPr/>
        </p:nvSpPr>
        <p:spPr>
          <a:xfrm>
            <a:off x="4409017" y="2759335"/>
            <a:ext cx="3373967" cy="1234017"/>
          </a:xfrm>
          <a:prstGeom prst="roundRect">
            <a:avLst>
              <a:gd name="adj" fmla="val 7719"/>
            </a:avLst>
          </a:prstGeom>
          <a:solidFill>
            <a:srgbClr val="FFFFFF"/>
          </a:solidFill>
          <a:ln w="12700">
            <a:solidFill>
              <a:srgbClr val="D7DEE9"/>
            </a:solidFill>
            <a:prstDash val="solid"/>
          </a:ln>
        </p:spPr>
      </p:sp>
      <p:sp>
        <p:nvSpPr>
          <p:cNvPr id="9" name="Text 7"/>
          <p:cNvSpPr/>
          <p:nvPr/>
        </p:nvSpPr>
        <p:spPr>
          <a:xfrm>
            <a:off x="4617156" y="2967484"/>
            <a:ext cx="3046420"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IBM Plex Sans" pitchFamily="34" charset="0"/>
                <a:ea typeface="IBM Plex Sans" pitchFamily="34" charset="-122"/>
                <a:cs typeface="IBM Plex Sans" pitchFamily="34" charset="-120"/>
              </a:rPr>
              <a:t>crlf</a:t>
            </a:r>
            <a:endParaRPr lang="en-US" sz="1600" dirty="0"/>
          </a:p>
        </p:txBody>
      </p:sp>
      <p:sp>
        <p:nvSpPr>
          <p:cNvPr id="10" name="Text 8"/>
          <p:cNvSpPr/>
          <p:nvPr/>
        </p:nvSpPr>
        <p:spPr>
          <a:xfrm>
            <a:off x="4617156" y="3287452"/>
            <a:ext cx="304642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Go to a new line</a:t>
            </a:r>
            <a:endParaRPr lang="en-US" sz="1400" dirty="0"/>
          </a:p>
        </p:txBody>
      </p:sp>
      <p:sp>
        <p:nvSpPr>
          <p:cNvPr id="11" name="Shape 9"/>
          <p:cNvSpPr/>
          <p:nvPr/>
        </p:nvSpPr>
        <p:spPr>
          <a:xfrm>
            <a:off x="7998883" y="2759335"/>
            <a:ext cx="3373967" cy="1234017"/>
          </a:xfrm>
          <a:prstGeom prst="roundRect">
            <a:avLst>
              <a:gd name="adj" fmla="val 7719"/>
            </a:avLst>
          </a:prstGeom>
          <a:solidFill>
            <a:srgbClr val="FFFFFF"/>
          </a:solidFill>
          <a:ln w="12700">
            <a:solidFill>
              <a:srgbClr val="D7DEE9"/>
            </a:solidFill>
            <a:prstDash val="solid"/>
          </a:ln>
        </p:spPr>
      </p:sp>
      <p:sp>
        <p:nvSpPr>
          <p:cNvPr id="12" name="Text 10"/>
          <p:cNvSpPr/>
          <p:nvPr/>
        </p:nvSpPr>
        <p:spPr>
          <a:xfrm>
            <a:off x="8207022" y="2967484"/>
            <a:ext cx="3046420"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IBM Plex Sans" pitchFamily="34" charset="0"/>
                <a:ea typeface="IBM Plex Sans" pitchFamily="34" charset="-122"/>
                <a:cs typeface="IBM Plex Sans" pitchFamily="34" charset="-120"/>
              </a:rPr>
              <a:t>Mix freely</a:t>
            </a:r>
            <a:endParaRPr lang="en-US" sz="1600" dirty="0"/>
          </a:p>
        </p:txBody>
      </p:sp>
      <p:sp>
        <p:nvSpPr>
          <p:cNvPr id="13" name="Text 11"/>
          <p:cNvSpPr/>
          <p:nvPr/>
        </p:nvSpPr>
        <p:spPr>
          <a:xfrm>
            <a:off x="8207022" y="3287452"/>
            <a:ext cx="304642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Strings, variables and expressions</a:t>
            </a:r>
            <a:endParaRPr lang="en-US" sz="1400" dirty="0"/>
          </a:p>
        </p:txBody>
      </p:sp>
      <p:sp>
        <p:nvSpPr>
          <p:cNvPr id="14" name="Text 12"/>
          <p:cNvSpPr/>
          <p:nvPr/>
        </p:nvSpPr>
        <p:spPr>
          <a:xfrm>
            <a:off x="812800" y="4202906"/>
            <a:ext cx="10566400" cy="975254"/>
          </a:xfrm>
          <a:prstGeom prst="roundRect">
            <a:avLst>
              <a:gd name="adj" fmla="val 10418"/>
            </a:avLst>
          </a:prstGeom>
          <a:solidFill>
            <a:srgbClr val="1B2333"/>
          </a:solidFill>
          <a:ln/>
        </p:spPr>
        <p:txBody>
          <a:bodyPr wrap="square" lIns="249642" tIns="173442" rIns="0" bIns="148042" rtlCol="0" anchor="t">
            <a:normAutofit/>
          </a:bodyPr>
          <a:lstStyle/>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(printout t ?c " C = " (+ (* ?c 1.8) 32) " F" crlf)</a:t>
            </a:r>
            <a:endParaRPr lang="en-US" sz="1400" dirty="0"/>
          </a:p>
          <a:p>
            <a:pPr algn="l" indent="0" marL="0">
              <a:lnSpc>
                <a:spcPts val="2240"/>
              </a:lnSpc>
              <a:buNone/>
            </a:pPr>
            <a:r>
              <a:rPr lang="en-US" sz="1400" dirty="0">
                <a:solidFill>
                  <a:srgbClr val="8FD19E"/>
                </a:solidFill>
                <a:latin typeface="JetBrains Mono" pitchFamily="49" charset="0"/>
                <a:ea typeface="JetBrains Mono" pitchFamily="49" charset="-122"/>
                <a:cs typeface="JetBrains Mono" pitchFamily="49" charset="-120"/>
              </a:rPr>
              <a:t>25 C = 77.0 F</a:t>
            </a:r>
            <a:endParaRPr lang="en-US" sz="1400" dirty="0"/>
          </a:p>
        </p:txBody>
      </p:sp>
      <p:sp>
        <p:nvSpPr>
          <p:cNvPr id="15" name="Text 13"/>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9</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Decisions with if / then / else</a:t>
            </a:r>
            <a:endParaRPr lang="en-US" sz="3200" dirty="0"/>
          </a:p>
        </p:txBody>
      </p:sp>
      <p:sp>
        <p:nvSpPr>
          <p:cNvPr id="4" name="Text 2"/>
          <p:cNvSpPr/>
          <p:nvPr/>
        </p:nvSpPr>
        <p:spPr>
          <a:xfrm>
            <a:off x="819150" y="1822363"/>
            <a:ext cx="3924300" cy="1330678"/>
          </a:xfrm>
          <a:prstGeom prst="roundRect">
            <a:avLst>
              <a:gd name="adj" fmla="val 7158"/>
            </a:avLst>
          </a:prstGeom>
          <a:solidFill>
            <a:srgbClr val="FFFFFF"/>
          </a:solidFill>
          <a:ln w="12700">
            <a:solidFill>
              <a:srgbClr val="D7DEE9"/>
            </a:solidFill>
            <a:prstDash val="solid"/>
          </a:ln>
        </p:spPr>
        <p:txBody>
          <a:bodyPr wrap="square" lIns="180241" tIns="180241" rIns="75000" bIns="154841" rtlCol="0" anchor="t">
            <a:normAutofit/>
          </a:bodyPr>
          <a:lstStyle/>
          <a:p>
            <a:pPr algn="l" indent="0" marL="0">
              <a:lnSpc>
                <a:spcPts val="2400"/>
              </a:lnSpc>
              <a:buNone/>
            </a:pPr>
            <a:r>
              <a:rPr lang="en-US" sz="1600" b="1" dirty="0">
                <a:solidFill>
                  <a:srgbClr val="14213D"/>
                </a:solidFill>
                <a:latin typeface="JetBrains Mono" pitchFamily="49" charset="0"/>
                <a:ea typeface="JetBrains Mono" pitchFamily="49" charset="-122"/>
                <a:cs typeface="JetBrains Mono" pitchFamily="49" charset="-120"/>
              </a:rPr>
              <a:t>(if </a:t>
            </a:r>
            <a:r>
              <a:rPr lang="en-US" sz="1600" b="1" dirty="0">
                <a:solidFill>
                  <a:srgbClr val="C2621A"/>
                </a:solidFill>
                <a:latin typeface="JetBrains Mono" pitchFamily="49" charset="0"/>
                <a:ea typeface="JetBrains Mono" pitchFamily="49" charset="-122"/>
                <a:cs typeface="JetBrains Mono" pitchFamily="49" charset="-120"/>
              </a:rPr>
              <a:t>condition</a:t>
            </a:r>
            <a:endParaRPr lang="en-US" sz="1600" dirty="0"/>
          </a:p>
          <a:p>
            <a:pPr algn="l" indent="0" marL="0">
              <a:lnSpc>
                <a:spcPts val="2400"/>
              </a:lnSpc>
              <a:buNone/>
            </a:pPr>
            <a:r>
              <a:rPr lang="en-US" sz="1600" b="1" dirty="0">
                <a:solidFill>
                  <a:srgbClr val="14213D"/>
                </a:solidFill>
                <a:latin typeface="JetBrains Mono" pitchFamily="49" charset="0"/>
                <a:ea typeface="JetBrains Mono" pitchFamily="49" charset="-122"/>
                <a:cs typeface="JetBrains Mono" pitchFamily="49" charset="-120"/>
              </a:rPr>
              <a:t> then </a:t>
            </a:r>
            <a:r>
              <a:rPr lang="en-US" sz="1600" b="1" dirty="0">
                <a:solidFill>
                  <a:srgbClr val="C2621A"/>
                </a:solidFill>
                <a:latin typeface="JetBrains Mono" pitchFamily="49" charset="0"/>
                <a:ea typeface="JetBrains Mono" pitchFamily="49" charset="-122"/>
                <a:cs typeface="JetBrains Mono" pitchFamily="49" charset="-120"/>
              </a:rPr>
              <a:t>actions</a:t>
            </a:r>
            <a:endParaRPr lang="en-US" sz="1600" dirty="0"/>
          </a:p>
          <a:p>
            <a:pPr algn="l" indent="0" marL="0">
              <a:lnSpc>
                <a:spcPts val="2400"/>
              </a:lnSpc>
              <a:buNone/>
            </a:pPr>
            <a:r>
              <a:rPr lang="en-US" sz="1600" b="1" dirty="0">
                <a:solidFill>
                  <a:srgbClr val="14213D"/>
                </a:solidFill>
                <a:latin typeface="JetBrains Mono" pitchFamily="49" charset="0"/>
                <a:ea typeface="JetBrains Mono" pitchFamily="49" charset="-122"/>
                <a:cs typeface="JetBrains Mono" pitchFamily="49" charset="-120"/>
              </a:rPr>
              <a:t> else </a:t>
            </a:r>
            <a:r>
              <a:rPr lang="en-US" sz="1600" b="1" dirty="0">
                <a:solidFill>
                  <a:srgbClr val="C2621A"/>
                </a:solidFill>
                <a:latin typeface="JetBrains Mono" pitchFamily="49" charset="0"/>
                <a:ea typeface="JetBrains Mono" pitchFamily="49" charset="-122"/>
                <a:cs typeface="JetBrains Mono" pitchFamily="49" charset="-120"/>
              </a:rPr>
              <a:t>actions</a:t>
            </a:r>
            <a:r>
              <a:rPr lang="en-US" sz="1600" b="1" dirty="0">
                <a:solidFill>
                  <a:srgbClr val="14213D"/>
                </a:solidFill>
                <a:latin typeface="JetBrains Mono" pitchFamily="49" charset="0"/>
                <a:ea typeface="JetBrains Mono" pitchFamily="49" charset="-122"/>
                <a:cs typeface="JetBrains Mono" pitchFamily="49" charset="-120"/>
              </a:rPr>
              <a:t>)</a:t>
            </a:r>
            <a:endParaRPr lang="en-US" sz="1600" dirty="0"/>
          </a:p>
        </p:txBody>
      </p:sp>
      <p:sp>
        <p:nvSpPr>
          <p:cNvPr id="5" name="Text 3"/>
          <p:cNvSpPr/>
          <p:nvPr/>
        </p:nvSpPr>
        <p:spPr>
          <a:xfrm>
            <a:off x="812800" y="3311785"/>
            <a:ext cx="3937000" cy="889000"/>
          </a:xfrm>
          <a:prstGeom prst="roundRect">
            <a:avLst>
              <a:gd name="adj" fmla="val 11429"/>
            </a:avLst>
          </a:prstGeom>
          <a:solidFill>
            <a:srgbClr val="1B2333"/>
          </a:solidFill>
          <a:ln/>
        </p:spPr>
        <p:txBody>
          <a:bodyPr wrap="square" lIns="173442" tIns="148042" rIns="67524" bIns="122642" rtlCol="0" anchor="t">
            <a:normAutofit/>
          </a:bodyPr>
          <a:lstStyle/>
          <a:p>
            <a:pPr algn="l" indent="0" marL="0">
              <a:lnSpc>
                <a:spcPts val="2100"/>
              </a:lnSpc>
              <a:buNone/>
            </a:pPr>
            <a:r>
              <a:rPr lang="en-US" sz="1400" dirty="0">
                <a:solidFill>
                  <a:srgbClr val="E8ECF2"/>
                </a:solidFill>
                <a:latin typeface="JetBrains Mono" pitchFamily="49" charset="0"/>
                <a:ea typeface="JetBrains Mono" pitchFamily="49" charset="-122"/>
                <a:cs typeface="JetBrains Mono" pitchFamily="49" charset="-120"/>
              </a:rPr>
              <a:t>(if (&gt; 7 5) then big else small)</a:t>
            </a:r>
            <a:endParaRPr lang="en-US" sz="1400" dirty="0"/>
          </a:p>
          <a:p>
            <a:pPr algn="l" indent="0" marL="0">
              <a:lnSpc>
                <a:spcPts val="2100"/>
              </a:lnSpc>
              <a:buNone/>
            </a:pPr>
            <a:r>
              <a:rPr lang="en-US" sz="1400" dirty="0">
                <a:solidFill>
                  <a:srgbClr val="8FD19E"/>
                </a:solidFill>
                <a:latin typeface="JetBrains Mono" pitchFamily="49" charset="0"/>
                <a:ea typeface="JetBrains Mono" pitchFamily="49" charset="-122"/>
                <a:cs typeface="JetBrains Mono" pitchFamily="49" charset="-120"/>
              </a:rPr>
              <a:t>big</a:t>
            </a:r>
            <a:endParaRPr lang="en-US" sz="1400" dirty="0"/>
          </a:p>
        </p:txBody>
      </p:sp>
      <p:sp>
        <p:nvSpPr>
          <p:cNvPr id="6" name="Shape 4"/>
          <p:cNvSpPr/>
          <p:nvPr/>
        </p:nvSpPr>
        <p:spPr>
          <a:xfrm>
            <a:off x="5003800" y="1816013"/>
            <a:ext cx="6375400" cy="2754136"/>
          </a:xfrm>
          <a:prstGeom prst="roundRect">
            <a:avLst>
              <a:gd name="adj" fmla="val 3689"/>
            </a:avLst>
          </a:prstGeom>
          <a:solidFill>
            <a:srgbClr val="1B2333"/>
          </a:solidFill>
          <a:ln/>
        </p:spPr>
      </p:sp>
      <p:sp>
        <p:nvSpPr>
          <p:cNvPr id="7" name="Text 5"/>
          <p:cNvSpPr/>
          <p:nvPr/>
        </p:nvSpPr>
        <p:spPr>
          <a:xfrm>
            <a:off x="5283200" y="2044613"/>
            <a:ext cx="5991098" cy="1954036"/>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7F8BA3"/>
                </a:solidFill>
                <a:latin typeface="JetBrains Mono" pitchFamily="49" charset="0"/>
                <a:ea typeface="JetBrains Mono" pitchFamily="49" charset="-122"/>
                <a:cs typeface="JetBrains Mono" pitchFamily="49" charset="-120"/>
              </a:rPr>
              <a:t>; student grade example</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(bind ?g 75)</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(if (&gt;= ?g 85)</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then (printout t "Excellent" crlf)</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else (if (&gt;= ?g 65)</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then (printout t "Good" crlf)</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else (printout t "Fail" crlf)))</a:t>
            </a:r>
            <a:endParaRPr lang="en-US" sz="1400" dirty="0"/>
          </a:p>
        </p:txBody>
      </p:sp>
      <p:sp>
        <p:nvSpPr>
          <p:cNvPr id="8" name="Text 6"/>
          <p:cNvSpPr/>
          <p:nvPr/>
        </p:nvSpPr>
        <p:spPr>
          <a:xfrm>
            <a:off x="5283200" y="4074852"/>
            <a:ext cx="59910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FD19E"/>
                </a:solidFill>
                <a:latin typeface="JetBrains Mono" pitchFamily="49" charset="0"/>
                <a:ea typeface="JetBrains Mono" pitchFamily="49" charset="-122"/>
                <a:cs typeface="JetBrains Mono" pitchFamily="49" charset="-120"/>
              </a:rPr>
              <a:t>Output: Good</a:t>
            </a:r>
            <a:endParaRPr lang="en-US" sz="1500" dirty="0"/>
          </a:p>
        </p:txBody>
      </p:sp>
      <p:sp>
        <p:nvSpPr>
          <p:cNvPr id="9" name="Text 7"/>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10</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Loops: while and loop-for-count</a:t>
            </a:r>
            <a:endParaRPr lang="en-US" sz="3200" dirty="0"/>
          </a:p>
        </p:txBody>
      </p:sp>
      <p:sp>
        <p:nvSpPr>
          <p:cNvPr id="4" name="Text 2"/>
          <p:cNvSpPr/>
          <p:nvPr/>
        </p:nvSpPr>
        <p:spPr>
          <a:xfrm>
            <a:off x="812800" y="1816013"/>
            <a:ext cx="53108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while</a:t>
            </a:r>
            <a:endParaRPr lang="en-US" sz="1800" dirty="0"/>
          </a:p>
        </p:txBody>
      </p:sp>
      <p:sp>
        <p:nvSpPr>
          <p:cNvPr id="5" name="Text 3"/>
          <p:cNvSpPr/>
          <p:nvPr/>
        </p:nvSpPr>
        <p:spPr>
          <a:xfrm>
            <a:off x="812800" y="2217303"/>
            <a:ext cx="5156200" cy="1559278"/>
          </a:xfrm>
          <a:prstGeom prst="roundRect">
            <a:avLst>
              <a:gd name="adj" fmla="val 6516"/>
            </a:avLst>
          </a:prstGeom>
          <a:solidFill>
            <a:srgbClr val="1B2333"/>
          </a:solidFill>
          <a:ln/>
        </p:spPr>
        <p:txBody>
          <a:bodyPr wrap="square" lIns="224242" tIns="198842" rIns="84796" bIns="173442" rtlCol="0" anchor="t">
            <a:normAutofit/>
          </a:bodyPr>
          <a:lstStyle/>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(bind ?i 1)</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(while (&lt;= ?i 5) do</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(printout t ?i " ")</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(bind ?i (+ ?i 1)))</a:t>
            </a:r>
            <a:endParaRPr lang="en-US" sz="1400" dirty="0"/>
          </a:p>
        </p:txBody>
      </p:sp>
      <p:sp>
        <p:nvSpPr>
          <p:cNvPr id="6" name="Text 4"/>
          <p:cNvSpPr/>
          <p:nvPr/>
        </p:nvSpPr>
        <p:spPr>
          <a:xfrm>
            <a:off x="812800" y="3903576"/>
            <a:ext cx="5156200" cy="553685"/>
          </a:xfrm>
          <a:prstGeom prst="roundRect">
            <a:avLst>
              <a:gd name="adj" fmla="val 18350"/>
            </a:avLst>
          </a:prstGeom>
          <a:solidFill>
            <a:srgbClr val="FFF1E3"/>
          </a:solidFill>
          <a:ln/>
        </p:spPr>
        <p:txBody>
          <a:bodyPr wrap="square" lIns="224242" tIns="122642" rIns="84796" bIns="97242" rtlCol="0" anchor="t">
            <a:normAutofit/>
          </a:bodyPr>
          <a:lstStyle/>
          <a:p>
            <a:pPr algn="l" indent="0" marL="0">
              <a:lnSpc>
                <a:spcPts val="1960"/>
              </a:lnSpc>
              <a:buNone/>
            </a:pPr>
            <a:r>
              <a:rPr lang="en-US" sz="1400" b="1" dirty="0">
                <a:solidFill>
                  <a:srgbClr val="5C3410"/>
                </a:solidFill>
                <a:latin typeface="JetBrains Mono" pitchFamily="49" charset="0"/>
                <a:ea typeface="JetBrains Mono" pitchFamily="49" charset="-122"/>
                <a:cs typeface="JetBrains Mono" pitchFamily="49" charset="-120"/>
              </a:rPr>
              <a:t>Output:</a:t>
            </a:r>
            <a:r>
              <a:rPr lang="en-US" sz="1400" dirty="0">
                <a:solidFill>
                  <a:srgbClr val="5C3410"/>
                </a:solidFill>
                <a:latin typeface="JetBrains Mono" pitchFamily="49" charset="0"/>
                <a:ea typeface="JetBrains Mono" pitchFamily="49" charset="-122"/>
                <a:cs typeface="JetBrains Mono" pitchFamily="49" charset="-120"/>
              </a:rPr>
              <a:t> 1 2 3 4 5</a:t>
            </a:r>
            <a:endParaRPr lang="en-US" sz="1400" dirty="0"/>
          </a:p>
        </p:txBody>
      </p:sp>
      <p:sp>
        <p:nvSpPr>
          <p:cNvPr id="7" name="Text 5"/>
          <p:cNvSpPr/>
          <p:nvPr/>
        </p:nvSpPr>
        <p:spPr>
          <a:xfrm>
            <a:off x="6223000" y="1816013"/>
            <a:ext cx="53108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loop-for-count</a:t>
            </a:r>
            <a:endParaRPr lang="en-US" sz="1800" dirty="0"/>
          </a:p>
        </p:txBody>
      </p:sp>
      <p:sp>
        <p:nvSpPr>
          <p:cNvPr id="8" name="Text 6"/>
          <p:cNvSpPr/>
          <p:nvPr/>
        </p:nvSpPr>
        <p:spPr>
          <a:xfrm>
            <a:off x="6223000" y="2217303"/>
            <a:ext cx="5156200" cy="1283758"/>
          </a:xfrm>
          <a:prstGeom prst="roundRect">
            <a:avLst>
              <a:gd name="adj" fmla="val 7914"/>
            </a:avLst>
          </a:prstGeom>
          <a:solidFill>
            <a:srgbClr val="1B2333"/>
          </a:solidFill>
          <a:ln/>
        </p:spPr>
        <p:txBody>
          <a:bodyPr wrap="square" lIns="224242" tIns="198842" rIns="84796" bIns="173442" rtlCol="0" anchor="t">
            <a:normAutofit/>
          </a:bodyPr>
          <a:lstStyle/>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(loop-for-count (?i 1 5) do</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(printout t ?i " squared = "</a:t>
            </a:r>
            <a:endParaRPr lang="en-US" sz="1400" dirty="0"/>
          </a:p>
          <a:p>
            <a:pPr algn="l" indent="0" marL="0">
              <a:lnSpc>
                <a:spcPts val="2170"/>
              </a:lnSpc>
              <a:buNone/>
            </a:pPr>
            <a:r>
              <a:rPr lang="en-US" sz="1400" dirty="0">
                <a:solidFill>
                  <a:srgbClr val="E8ECF2"/>
                </a:solidFill>
                <a:latin typeface="JetBrains Mono" pitchFamily="49" charset="0"/>
                <a:ea typeface="JetBrains Mono" pitchFamily="49" charset="-122"/>
                <a:cs typeface="JetBrains Mono" pitchFamily="49" charset="-120"/>
              </a:rPr>
              <a:t>    (* ?i ?i) crlf))</a:t>
            </a:r>
            <a:endParaRPr lang="en-US" sz="1400" dirty="0"/>
          </a:p>
        </p:txBody>
      </p:sp>
      <p:sp>
        <p:nvSpPr>
          <p:cNvPr id="9" name="Text 7"/>
          <p:cNvSpPr/>
          <p:nvPr/>
        </p:nvSpPr>
        <p:spPr>
          <a:xfrm>
            <a:off x="6223000" y="3628058"/>
            <a:ext cx="5156200" cy="1262239"/>
          </a:xfrm>
          <a:prstGeom prst="roundRect">
            <a:avLst>
              <a:gd name="adj" fmla="val 8049"/>
            </a:avLst>
          </a:prstGeom>
          <a:solidFill>
            <a:srgbClr val="FFF1E3"/>
          </a:solidFill>
          <a:ln/>
        </p:spPr>
        <p:txBody>
          <a:bodyPr wrap="square" lIns="224242" tIns="122642" rIns="84796" bIns="97242" rtlCol="0" anchor="t">
            <a:normAutofit/>
          </a:bodyPr>
          <a:lstStyle/>
          <a:p>
            <a:pPr algn="l" indent="0" marL="0">
              <a:lnSpc>
                <a:spcPts val="1885"/>
              </a:lnSpc>
              <a:buNone/>
            </a:pPr>
            <a:r>
              <a:rPr lang="en-US" sz="1300" b="1" dirty="0">
                <a:solidFill>
                  <a:srgbClr val="5C3410"/>
                </a:solidFill>
                <a:latin typeface="JetBrains Mono" pitchFamily="49" charset="0"/>
                <a:ea typeface="JetBrains Mono" pitchFamily="49" charset="-122"/>
                <a:cs typeface="JetBrains Mono" pitchFamily="49" charset="-120"/>
              </a:rPr>
              <a:t>Output:</a:t>
            </a:r>
            <a:endParaRPr lang="en-US" sz="1300" dirty="0"/>
          </a:p>
          <a:p>
            <a:pPr algn="l" indent="0" marL="0">
              <a:lnSpc>
                <a:spcPts val="1885"/>
              </a:lnSpc>
              <a:buNone/>
            </a:pPr>
            <a:r>
              <a:rPr lang="en-US" sz="1300" dirty="0">
                <a:solidFill>
                  <a:srgbClr val="5C3410"/>
                </a:solidFill>
                <a:latin typeface="JetBrains Mono" pitchFamily="49" charset="0"/>
                <a:ea typeface="JetBrains Mono" pitchFamily="49" charset="-122"/>
                <a:cs typeface="JetBrains Mono" pitchFamily="49" charset="-120"/>
              </a:rPr>
              <a:t>1 squared = 1</a:t>
            </a:r>
            <a:endParaRPr lang="en-US" sz="1300" dirty="0"/>
          </a:p>
          <a:p>
            <a:pPr algn="l" indent="0" marL="0">
              <a:lnSpc>
                <a:spcPts val="1885"/>
              </a:lnSpc>
              <a:buNone/>
            </a:pPr>
            <a:r>
              <a:rPr lang="en-US" sz="1300" dirty="0">
                <a:solidFill>
                  <a:srgbClr val="5C3410"/>
                </a:solidFill>
                <a:latin typeface="JetBrains Mono" pitchFamily="49" charset="0"/>
                <a:ea typeface="JetBrains Mono" pitchFamily="49" charset="-122"/>
                <a:cs typeface="JetBrains Mono" pitchFamily="49" charset="-120"/>
              </a:rPr>
              <a:t>2 squared = 4</a:t>
            </a:r>
            <a:endParaRPr lang="en-US" sz="1300" dirty="0"/>
          </a:p>
          <a:p>
            <a:pPr algn="l" indent="0" marL="0">
              <a:lnSpc>
                <a:spcPts val="1885"/>
              </a:lnSpc>
              <a:buNone/>
            </a:pPr>
            <a:r>
              <a:rPr lang="en-US" sz="1300" dirty="0">
                <a:solidFill>
                  <a:srgbClr val="5C3410"/>
                </a:solidFill>
                <a:latin typeface="JetBrains Mono" pitchFamily="49" charset="0"/>
                <a:ea typeface="JetBrains Mono" pitchFamily="49" charset="-122"/>
                <a:cs typeface="JetBrains Mono" pitchFamily="49" charset="-120"/>
              </a:rPr>
              <a:t>3 squared = 9 … 5 squared = 25</a:t>
            </a:r>
            <a:endParaRPr lang="en-US" sz="1300" dirty="0"/>
          </a:p>
        </p:txBody>
      </p:sp>
      <p:sp>
        <p:nvSpPr>
          <p:cNvPr id="10" name="Text 8"/>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21A"/>
                </a:solidFill>
                <a:latin typeface="IBM Plex Sans" pitchFamily="34" charset="0"/>
                <a:ea typeface="IBM Plex Sans" pitchFamily="34" charset="-122"/>
                <a:cs typeface="IBM Plex Sans" pitchFamily="34" charset="-120"/>
              </a:rPr>
              <a:t>CLIPS BASICS · 11</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Strings and lists (multifields)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27302"/>
          <a:ext cx="5144911" cy="1922639"/>
        </p:xfrm>
        <a:graphic>
          <a:graphicData uri="http://schemas.openxmlformats.org/drawingml/2006/table">
            <a:tbl>
              <a:tblPr/>
              <a:tblGrid>
                <a:gridCol w="3395641"/>
                <a:gridCol w="1749270"/>
              </a:tblGrid>
              <a:tr h="384528">
                <a:tc>
                  <a:txBody>
                    <a:bodyPr/>
                    <a:lstStyle/>
                    <a:p>
                      <a:pPr indent="0" marL="0">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Strings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Result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(str-cat "Hello " "Ali")</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"Hello Ali"</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(str-length "CLIPS")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5</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(upcase "clips")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"CLIPS"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(sym-cat ab cd)</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abcd</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4289" y="1827302"/>
          <a:ext cx="5144911" cy="1922639"/>
        </p:xfrm>
        <a:graphic>
          <a:graphicData uri="http://schemas.openxmlformats.org/drawingml/2006/table">
            <a:tbl>
              <a:tblPr/>
              <a:tblGrid>
                <a:gridCol w="3601438"/>
                <a:gridCol w="1543473"/>
              </a:tblGrid>
              <a:tr h="384528">
                <a:tc>
                  <a:txBody>
                    <a:bodyPr/>
                    <a:lstStyle/>
                    <a:p>
                      <a:pPr indent="0" marL="0">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Lists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Result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(create$ 1 2 3)</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(1 2 3)</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(length$ (create$ a b c))</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3</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(nth$ 2 (create$ a b c))</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b</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(member$ b (create$ a b c))</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bl>
          </a:graphicData>
        </a:graphic>
      </p:graphicFrame>
      <p:sp>
        <p:nvSpPr>
          <p:cNvPr id="6" name="Text 2"/>
          <p:cNvSpPr/>
          <p:nvPr/>
        </p:nvSpPr>
        <p:spPr>
          <a:xfrm>
            <a:off x="812800" y="3953135"/>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Functions that work on lists end with </a:t>
            </a:r>
            <a:r>
              <a:rPr lang="en-US" sz="1400" b="1" dirty="0">
                <a:solidFill>
                  <a:srgbClr val="3D4A5F"/>
                </a:solidFill>
                <a:latin typeface="IBM Plex Sans" pitchFamily="34" charset="0"/>
                <a:ea typeface="IBM Plex Sans" pitchFamily="34" charset="-122"/>
                <a:cs typeface="IBM Plex Sans" pitchFamily="34" charset="-120"/>
              </a:rPr>
              <a:t>$</a:t>
            </a:r>
            <a:r>
              <a:rPr lang="en-US" sz="1400" dirty="0">
                <a:solidFill>
                  <a:srgbClr val="3D4A5F"/>
                </a:solidFill>
                <a:latin typeface="IBM Plex Sans" pitchFamily="34" charset="0"/>
                <a:ea typeface="IBM Plex Sans" pitchFamily="34" charset="-122"/>
                <a:cs typeface="IBM Plex Sans" pitchFamily="34" charset="-120"/>
              </a:rPr>
              <a:t>. Positions start at </a:t>
            </a:r>
            <a:r>
              <a:rPr lang="en-US" sz="1400" b="1" dirty="0">
                <a:solidFill>
                  <a:srgbClr val="3D4A5F"/>
                </a:solidFill>
                <a:latin typeface="IBM Plex Sans" pitchFamily="34" charset="0"/>
                <a:ea typeface="IBM Plex Sans" pitchFamily="34" charset="-122"/>
                <a:cs typeface="IBM Plex Sans" pitchFamily="34" charset="-120"/>
              </a:rPr>
              <a:t>1</a:t>
            </a:r>
            <a:r>
              <a:rPr lang="en-US" sz="1400" dirty="0">
                <a:solidFill>
                  <a:srgbClr val="3D4A5F"/>
                </a:solidFill>
                <a:latin typeface="IBM Plex Sans" pitchFamily="34" charset="0"/>
                <a:ea typeface="IBM Plex Sans" pitchFamily="34" charset="-122"/>
                <a:cs typeface="IBM Plex Sans" pitchFamily="34" charset="-120"/>
              </a:rPr>
              <a:t>, not 0.</a:t>
            </a:r>
            <a:endParaRPr lang="en-US" sz="1400" dirty="0"/>
          </a:p>
        </p:txBody>
      </p:sp>
      <p:sp>
        <p:nvSpPr>
          <p:cNvPr id="7" name="Text 3"/>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541909"/>
            <a:ext cx="10883392" cy="274285"/>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913A"/>
                </a:solidFill>
                <a:latin typeface="IBM Plex Sans" pitchFamily="34" charset="0"/>
                <a:ea typeface="IBM Plex Sans" pitchFamily="34" charset="-122"/>
                <a:cs typeface="IBM Plex Sans" pitchFamily="34" charset="-120"/>
              </a:rPr>
              <a:t>FROM CALCULATING TO REASONING</a:t>
            </a:r>
            <a:endParaRPr lang="en-US" sz="1400" dirty="0"/>
          </a:p>
        </p:txBody>
      </p:sp>
      <p:sp>
        <p:nvSpPr>
          <p:cNvPr id="3" name="Text 1"/>
          <p:cNvSpPr/>
          <p:nvPr>
            <p:ph type="title"/>
          </p:nvPr>
        </p:nvSpPr>
        <p:spPr>
          <a:xfrm>
            <a:off x="812800" y="2095587"/>
            <a:ext cx="9810750" cy="1869281"/>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6F2"/>
                </a:solidFill>
                <a:latin typeface="IBM Plex Sans" pitchFamily="34" charset="0"/>
                <a:ea typeface="IBM Plex Sans" pitchFamily="34" charset="-122"/>
                <a:cs typeface="IBM Plex Sans" pitchFamily="34" charset="-120"/>
              </a:rPr>
              <a:t>So far we told CLIPS </a:t>
            </a:r>
            <a:r>
              <a:rPr lang="en-US" sz="4400" b="1" i="0" dirty="0">
                <a:solidFill>
                  <a:srgbClr val="7FB3F0"/>
                </a:solidFill>
                <a:latin typeface="IBM Plex Sans" pitchFamily="34" charset="0"/>
                <a:ea typeface="IBM Plex Sans" pitchFamily="34" charset="-122"/>
                <a:cs typeface="IBM Plex Sans" pitchFamily="34" charset="-120"/>
              </a:rPr>
              <a:t>what to compute</a:t>
            </a:r>
            <a:r>
              <a:rPr lang="en-US" sz="4400" b="1" i="0" dirty="0">
                <a:solidFill>
                  <a:srgbClr val="F7F6F2"/>
                </a:solidFill>
                <a:latin typeface="IBM Plex Sans" pitchFamily="34" charset="0"/>
                <a:ea typeface="IBM Plex Sans" pitchFamily="34" charset="-122"/>
                <a:cs typeface="IBM Plex Sans" pitchFamily="34" charset="-120"/>
              </a:rPr>
              <a:t>. Now we give it </a:t>
            </a:r>
            <a:r>
              <a:rPr lang="en-US" sz="4400" b="1" i="0" dirty="0">
                <a:solidFill>
                  <a:srgbClr val="E8913A"/>
                </a:solidFill>
                <a:latin typeface="IBM Plex Sans" pitchFamily="34" charset="0"/>
                <a:ea typeface="IBM Plex Sans" pitchFamily="34" charset="-122"/>
                <a:cs typeface="IBM Plex Sans" pitchFamily="34" charset="-120"/>
              </a:rPr>
              <a:t>knowledge</a:t>
            </a:r>
            <a:r>
              <a:rPr lang="en-US" sz="4400" b="1" i="0" dirty="0">
                <a:solidFill>
                  <a:srgbClr val="F7F6F2"/>
                </a:solidFill>
                <a:latin typeface="IBM Plex Sans" pitchFamily="34" charset="0"/>
                <a:ea typeface="IBM Plex Sans" pitchFamily="34" charset="-122"/>
                <a:cs typeface="IBM Plex Sans" pitchFamily="34" charset="-120"/>
              </a:rPr>
              <a:t> and let it decide.</a:t>
            </a:r>
            <a:endParaRPr lang="en-US" sz="4400" dirty="0"/>
          </a:p>
        </p:txBody>
      </p:sp>
      <p:sp>
        <p:nvSpPr>
          <p:cNvPr id="4" name="Shape 2"/>
          <p:cNvSpPr/>
          <p:nvPr/>
        </p:nvSpPr>
        <p:spPr>
          <a:xfrm>
            <a:off x="812800" y="4244268"/>
            <a:ext cx="3386667" cy="1071827"/>
          </a:xfrm>
          <a:prstGeom prst="roundRect">
            <a:avLst>
              <a:gd name="adj" fmla="val 9479"/>
            </a:avLst>
          </a:prstGeom>
          <a:solidFill>
            <a:srgbClr val="1F2E4F"/>
          </a:solidFill>
          <a:ln/>
        </p:spPr>
      </p:sp>
      <p:sp>
        <p:nvSpPr>
          <p:cNvPr id="5" name="Text 3"/>
          <p:cNvSpPr/>
          <p:nvPr/>
        </p:nvSpPr>
        <p:spPr>
          <a:xfrm>
            <a:off x="1041400" y="4472868"/>
            <a:ext cx="3017351" cy="314942"/>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7FB3F0"/>
                </a:solidFill>
                <a:latin typeface="IBM Plex Sans" pitchFamily="34" charset="0"/>
                <a:ea typeface="IBM Plex Sans" pitchFamily="34" charset="-122"/>
                <a:cs typeface="IBM Plex Sans" pitchFamily="34" charset="-120"/>
              </a:rPr>
              <a:t>Facts</a:t>
            </a:r>
            <a:endParaRPr lang="en-US" sz="1900" dirty="0"/>
          </a:p>
        </p:txBody>
      </p:sp>
      <p:sp>
        <p:nvSpPr>
          <p:cNvPr id="6" name="Text 4"/>
          <p:cNvSpPr/>
          <p:nvPr/>
        </p:nvSpPr>
        <p:spPr>
          <a:xfrm>
            <a:off x="1041400" y="4838613"/>
            <a:ext cx="3017351"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7DA"/>
                </a:solidFill>
                <a:latin typeface="IBM Plex Sans" pitchFamily="34" charset="0"/>
                <a:ea typeface="IBM Plex Sans" pitchFamily="34" charset="-122"/>
                <a:cs typeface="IBM Plex Sans" pitchFamily="34" charset="-120"/>
              </a:rPr>
              <a:t>What we know: (weather hot)</a:t>
            </a:r>
            <a:endParaRPr lang="en-US" sz="1400" dirty="0"/>
          </a:p>
        </p:txBody>
      </p:sp>
      <p:sp>
        <p:nvSpPr>
          <p:cNvPr id="7" name="Shape 5"/>
          <p:cNvSpPr/>
          <p:nvPr/>
        </p:nvSpPr>
        <p:spPr>
          <a:xfrm>
            <a:off x="4402667" y="4244268"/>
            <a:ext cx="3386667" cy="1071827"/>
          </a:xfrm>
          <a:prstGeom prst="roundRect">
            <a:avLst>
              <a:gd name="adj" fmla="val 9479"/>
            </a:avLst>
          </a:prstGeom>
          <a:solidFill>
            <a:srgbClr val="1F2E4F"/>
          </a:solidFill>
          <a:ln/>
        </p:spPr>
      </p:sp>
      <p:sp>
        <p:nvSpPr>
          <p:cNvPr id="8" name="Text 6"/>
          <p:cNvSpPr/>
          <p:nvPr/>
        </p:nvSpPr>
        <p:spPr>
          <a:xfrm>
            <a:off x="4631267" y="4472868"/>
            <a:ext cx="3017351" cy="314942"/>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7FB3F0"/>
                </a:solidFill>
                <a:latin typeface="IBM Plex Sans" pitchFamily="34" charset="0"/>
                <a:ea typeface="IBM Plex Sans" pitchFamily="34" charset="-122"/>
                <a:cs typeface="IBM Plex Sans" pitchFamily="34" charset="-120"/>
              </a:rPr>
              <a:t>Rules</a:t>
            </a:r>
            <a:endParaRPr lang="en-US" sz="1900" dirty="0"/>
          </a:p>
        </p:txBody>
      </p:sp>
      <p:sp>
        <p:nvSpPr>
          <p:cNvPr id="9" name="Text 7"/>
          <p:cNvSpPr/>
          <p:nvPr/>
        </p:nvSpPr>
        <p:spPr>
          <a:xfrm>
            <a:off x="4631267" y="4838613"/>
            <a:ext cx="3158067"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7DA"/>
                </a:solidFill>
                <a:latin typeface="IBM Plex Sans" pitchFamily="34" charset="0"/>
                <a:ea typeface="IBM Plex Sans" pitchFamily="34" charset="-122"/>
                <a:cs typeface="IBM Plex Sans" pitchFamily="34" charset="-120"/>
              </a:rPr>
              <a:t>What to do: IF hot THEN drink water</a:t>
            </a:r>
            <a:endParaRPr lang="en-US" sz="1400" dirty="0"/>
          </a:p>
        </p:txBody>
      </p:sp>
      <p:sp>
        <p:nvSpPr>
          <p:cNvPr id="10" name="Shape 8"/>
          <p:cNvSpPr/>
          <p:nvPr/>
        </p:nvSpPr>
        <p:spPr>
          <a:xfrm>
            <a:off x="7992533" y="4244268"/>
            <a:ext cx="3386667" cy="1071827"/>
          </a:xfrm>
          <a:prstGeom prst="roundRect">
            <a:avLst>
              <a:gd name="adj" fmla="val 9479"/>
            </a:avLst>
          </a:prstGeom>
          <a:solidFill>
            <a:srgbClr val="1F2E4F"/>
          </a:solidFill>
          <a:ln/>
        </p:spPr>
      </p:sp>
      <p:sp>
        <p:nvSpPr>
          <p:cNvPr id="11" name="Text 9"/>
          <p:cNvSpPr/>
          <p:nvPr/>
        </p:nvSpPr>
        <p:spPr>
          <a:xfrm>
            <a:off x="8221133" y="4472868"/>
            <a:ext cx="3017351" cy="314942"/>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7FB3F0"/>
                </a:solidFill>
                <a:latin typeface="IBM Plex Sans" pitchFamily="34" charset="0"/>
                <a:ea typeface="IBM Plex Sans" pitchFamily="34" charset="-122"/>
                <a:cs typeface="IBM Plex Sans" pitchFamily="34" charset="-120"/>
              </a:rPr>
              <a:t>Inference</a:t>
            </a:r>
            <a:endParaRPr lang="en-US" sz="1900" dirty="0"/>
          </a:p>
        </p:txBody>
      </p:sp>
      <p:sp>
        <p:nvSpPr>
          <p:cNvPr id="12" name="Text 10"/>
          <p:cNvSpPr/>
          <p:nvPr/>
        </p:nvSpPr>
        <p:spPr>
          <a:xfrm>
            <a:off x="8221133" y="4838613"/>
            <a:ext cx="3017351"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7DA"/>
                </a:solidFill>
                <a:latin typeface="IBM Plex Sans" pitchFamily="34" charset="0"/>
                <a:ea typeface="IBM Plex Sans" pitchFamily="34" charset="-122"/>
                <a:cs typeface="IBM Plex Sans" pitchFamily="34" charset="-120"/>
              </a:rPr>
              <a:t>CLIPS matches and fires on (run)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6.7</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Simple example: facts and a rule</a:t>
            </a:r>
            <a:endParaRPr lang="en-US" sz="3200" dirty="0"/>
          </a:p>
        </p:txBody>
      </p:sp>
      <p:sp>
        <p:nvSpPr>
          <p:cNvPr id="4" name="Text 2"/>
          <p:cNvSpPr/>
          <p:nvPr/>
        </p:nvSpPr>
        <p:spPr>
          <a:xfrm>
            <a:off x="812800" y="1816013"/>
            <a:ext cx="53108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Declaring facts</a:t>
            </a:r>
            <a:endParaRPr lang="en-US" sz="1800" dirty="0"/>
          </a:p>
        </p:txBody>
      </p:sp>
      <p:sp>
        <p:nvSpPr>
          <p:cNvPr id="5" name="Text 3"/>
          <p:cNvSpPr/>
          <p:nvPr/>
        </p:nvSpPr>
        <p:spPr>
          <a:xfrm>
            <a:off x="812800" y="2217303"/>
            <a:ext cx="5156200" cy="1645708"/>
          </a:xfrm>
          <a:prstGeom prst="roundRect">
            <a:avLst>
              <a:gd name="adj" fmla="val 6174"/>
            </a:avLst>
          </a:prstGeom>
          <a:solidFill>
            <a:srgbClr val="1B2333"/>
          </a:solidFill>
          <a:ln/>
        </p:spPr>
        <p:txBody>
          <a:bodyPr wrap="square" lIns="249642" tIns="224242" rIns="111720" bIns="198842" rtlCol="0" anchor="t">
            <a:normAutofit/>
          </a:bodyPr>
          <a:lstStyle/>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a:t>
            </a:r>
            <a:r>
              <a:rPr lang="en-US" sz="1400" dirty="0">
                <a:solidFill>
                  <a:srgbClr val="7FB3F0"/>
                </a:solidFill>
                <a:latin typeface="JetBrains Mono" pitchFamily="49" charset="0"/>
                <a:ea typeface="JetBrains Mono" pitchFamily="49" charset="-122"/>
                <a:cs typeface="JetBrains Mono" pitchFamily="49" charset="-120"/>
              </a:rPr>
              <a:t>deffacts</a:t>
            </a:r>
            <a:r>
              <a:rPr lang="en-US" sz="1400" dirty="0">
                <a:solidFill>
                  <a:srgbClr val="E8ECF2"/>
                </a:solidFill>
                <a:latin typeface="JetBrains Mono" pitchFamily="49" charset="0"/>
                <a:ea typeface="JetBrains Mono" pitchFamily="49" charset="-122"/>
                <a:cs typeface="JetBrains Mono" pitchFamily="49" charset="-120"/>
              </a:rPr>
              <a:t> initial-data</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(weather hot)</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(season summer)</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a:t>
            </a:r>
            <a:endParaRPr lang="en-US" sz="1400" dirty="0"/>
          </a:p>
        </p:txBody>
      </p:sp>
      <p:sp>
        <p:nvSpPr>
          <p:cNvPr id="6" name="Text 4"/>
          <p:cNvSpPr/>
          <p:nvPr/>
        </p:nvSpPr>
        <p:spPr>
          <a:xfrm>
            <a:off x="812800" y="3990008"/>
            <a:ext cx="5310886" cy="27428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F"/>
                </a:solidFill>
                <a:latin typeface="IBM Plex Sans" pitchFamily="34" charset="0"/>
                <a:ea typeface="IBM Plex Sans" pitchFamily="34" charset="-122"/>
                <a:cs typeface="IBM Plex Sans" pitchFamily="34" charset="-120"/>
              </a:rPr>
              <a:t>deffacts</a:t>
            </a:r>
            <a:r>
              <a:rPr lang="en-US" sz="1400" dirty="0">
                <a:solidFill>
                  <a:srgbClr val="3D4A5F"/>
                </a:solidFill>
                <a:latin typeface="IBM Plex Sans" pitchFamily="34" charset="0"/>
                <a:ea typeface="IBM Plex Sans" pitchFamily="34" charset="-122"/>
                <a:cs typeface="IBM Plex Sans" pitchFamily="34" charset="-120"/>
              </a:rPr>
              <a:t> lists the facts that enter working memory on </a:t>
            </a:r>
            <a:r>
              <a:rPr lang="en-US" sz="1400" b="1" dirty="0">
                <a:solidFill>
                  <a:srgbClr val="3D4A5F"/>
                </a:solidFill>
                <a:latin typeface="IBM Plex Sans" pitchFamily="34" charset="0"/>
                <a:ea typeface="IBM Plex Sans" pitchFamily="34" charset="-122"/>
                <a:cs typeface="IBM Plex Sans" pitchFamily="34" charset="-120"/>
              </a:rPr>
              <a:t>(reset)</a:t>
            </a:r>
            <a:r>
              <a:rPr lang="en-US" sz="1400" dirty="0">
                <a:solidFill>
                  <a:srgbClr val="3D4A5F"/>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6223000" y="1816013"/>
            <a:ext cx="53108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B6CB0"/>
                </a:solidFill>
                <a:latin typeface="IBM Plex Sans" pitchFamily="34" charset="0"/>
                <a:ea typeface="IBM Plex Sans" pitchFamily="34" charset="-122"/>
                <a:cs typeface="IBM Plex Sans" pitchFamily="34" charset="-120"/>
              </a:rPr>
              <a:t>Rule example</a:t>
            </a:r>
            <a:endParaRPr lang="en-US" sz="1800" dirty="0"/>
          </a:p>
        </p:txBody>
      </p:sp>
      <p:sp>
        <p:nvSpPr>
          <p:cNvPr id="8" name="Text 6"/>
          <p:cNvSpPr/>
          <p:nvPr/>
        </p:nvSpPr>
        <p:spPr>
          <a:xfrm>
            <a:off x="6223000" y="2217303"/>
            <a:ext cx="5156200" cy="2214563"/>
          </a:xfrm>
          <a:prstGeom prst="roundRect">
            <a:avLst>
              <a:gd name="adj" fmla="val 4588"/>
            </a:avLst>
          </a:prstGeom>
          <a:solidFill>
            <a:srgbClr val="1B2333"/>
          </a:solidFill>
          <a:ln/>
        </p:spPr>
        <p:txBody>
          <a:bodyPr wrap="square" lIns="249642" tIns="224242" rIns="111720" bIns="198842" rtlCol="0" anchor="t">
            <a:normAutofit/>
          </a:bodyPr>
          <a:lstStyle/>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a:t>
            </a:r>
            <a:r>
              <a:rPr lang="en-US" sz="1400" dirty="0">
                <a:solidFill>
                  <a:srgbClr val="7FB3F0"/>
                </a:solidFill>
                <a:latin typeface="JetBrains Mono" pitchFamily="49" charset="0"/>
                <a:ea typeface="JetBrains Mono" pitchFamily="49" charset="-122"/>
                <a:cs typeface="JetBrains Mono" pitchFamily="49" charset="-120"/>
              </a:rPr>
              <a:t>defrule</a:t>
            </a:r>
            <a:r>
              <a:rPr lang="en-US" sz="1400" dirty="0">
                <a:solidFill>
                  <a:srgbClr val="E8ECF2"/>
                </a:solidFill>
                <a:latin typeface="JetBrains Mono" pitchFamily="49" charset="0"/>
                <a:ea typeface="JetBrains Mono" pitchFamily="49" charset="-122"/>
                <a:cs typeface="JetBrains Mono" pitchFamily="49" charset="-120"/>
              </a:rPr>
              <a:t> suggest-drink</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(weather hot)</a:t>
            </a:r>
            <a:r>
              <a:rPr lang="en-US" sz="1400" dirty="0">
                <a:solidFill>
                  <a:srgbClr val="7F8BA3"/>
                </a:solidFill>
                <a:latin typeface="JetBrains Mono" pitchFamily="49" charset="0"/>
                <a:ea typeface="JetBrains Mono" pitchFamily="49" charset="-122"/>
                <a:cs typeface="JetBrains Mono" pitchFamily="49" charset="-120"/>
              </a:rPr>
              <a:t>  ; IF</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a:t>
            </a:r>
            <a:r>
              <a:rPr lang="en-US" sz="1400" dirty="0">
                <a:solidFill>
                  <a:srgbClr val="E8913A"/>
                </a:solidFill>
                <a:latin typeface="JetBrains Mono" pitchFamily="49" charset="0"/>
                <a:ea typeface="JetBrains Mono" pitchFamily="49" charset="-122"/>
                <a:cs typeface="JetBrains Mono" pitchFamily="49" charset="-120"/>
              </a:rPr>
              <a:t>=&gt;</a:t>
            </a:r>
            <a:r>
              <a:rPr lang="en-US" sz="1400" dirty="0">
                <a:solidFill>
                  <a:srgbClr val="7F8BA3"/>
                </a:solidFill>
                <a:latin typeface="JetBrains Mono" pitchFamily="49" charset="0"/>
                <a:ea typeface="JetBrains Mono" pitchFamily="49" charset="-122"/>
                <a:cs typeface="JetBrains Mono" pitchFamily="49" charset="-120"/>
              </a:rPr>
              <a:t>           ; THEN</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(printout t</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"Recommendation: Drink Water!" crlf)</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a:t>
            </a:r>
            <a:endParaRPr lang="en-US" sz="1400" dirty="0"/>
          </a:p>
        </p:txBody>
      </p:sp>
      <p:sp>
        <p:nvSpPr>
          <p:cNvPr id="9" name="Text 7"/>
          <p:cNvSpPr/>
          <p:nvPr/>
        </p:nvSpPr>
        <p:spPr>
          <a:xfrm>
            <a:off x="6223000" y="4558866"/>
            <a:ext cx="5310886"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Left of </a:t>
            </a:r>
            <a:r>
              <a:rPr lang="en-US" sz="1400" b="1" dirty="0">
                <a:solidFill>
                  <a:srgbClr val="3D4A5F"/>
                </a:solidFill>
                <a:latin typeface="IBM Plex Sans" pitchFamily="34" charset="0"/>
                <a:ea typeface="IBM Plex Sans" pitchFamily="34" charset="-122"/>
                <a:cs typeface="IBM Plex Sans" pitchFamily="34" charset="-120"/>
              </a:rPr>
              <a:t>=&gt;</a:t>
            </a:r>
            <a:r>
              <a:rPr lang="en-US" sz="1400" dirty="0">
                <a:solidFill>
                  <a:srgbClr val="3D4A5F"/>
                </a:solidFill>
                <a:latin typeface="IBM Plex Sans" pitchFamily="34" charset="0"/>
                <a:ea typeface="IBM Plex Sans" pitchFamily="34" charset="-122"/>
                <a:cs typeface="IBM Plex Sans" pitchFamily="34" charset="-120"/>
              </a:rPr>
              <a:t> = conditions; right of </a:t>
            </a:r>
            <a:r>
              <a:rPr lang="en-US" sz="1400" b="1" dirty="0">
                <a:solidFill>
                  <a:srgbClr val="3D4A5F"/>
                </a:solidFill>
                <a:latin typeface="IBM Plex Sans" pitchFamily="34" charset="0"/>
                <a:ea typeface="IBM Plex Sans" pitchFamily="34" charset="-122"/>
                <a:cs typeface="IBM Plex Sans" pitchFamily="34" charset="-120"/>
              </a:rPr>
              <a:t>=&gt;</a:t>
            </a:r>
            <a:r>
              <a:rPr lang="en-US" sz="1400" dirty="0">
                <a:solidFill>
                  <a:srgbClr val="3D4A5F"/>
                </a:solidFill>
                <a:latin typeface="IBM Plex Sans" pitchFamily="34" charset="0"/>
                <a:ea typeface="IBM Plex Sans" pitchFamily="34" charset="-122"/>
                <a:cs typeface="IBM Plex Sans" pitchFamily="34" charset="-120"/>
              </a:rPr>
              <a:t> = actions.</a:t>
            </a:r>
            <a:endParaRPr lang="en-US" sz="1400" dirty="0"/>
          </a:p>
        </p:txBody>
      </p:sp>
      <p:sp>
        <p:nvSpPr>
          <p:cNvPr id="10" name="Text 8"/>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6.7</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Running the program</a:t>
            </a:r>
            <a:endParaRPr lang="en-US" sz="3200" dirty="0"/>
          </a:p>
        </p:txBody>
      </p:sp>
      <p:sp>
        <p:nvSpPr>
          <p:cNvPr id="4" name="Text 2"/>
          <p:cNvSpPr/>
          <p:nvPr/>
        </p:nvSpPr>
        <p:spPr>
          <a:xfrm>
            <a:off x="812800" y="1816013"/>
            <a:ext cx="4064000" cy="1239485"/>
          </a:xfrm>
          <a:prstGeom prst="roundRect">
            <a:avLst>
              <a:gd name="adj" fmla="val 8197"/>
            </a:avLst>
          </a:prstGeom>
          <a:solidFill>
            <a:srgbClr val="1B2333"/>
          </a:solidFill>
          <a:ln/>
        </p:spPr>
        <p:txBody>
          <a:bodyPr wrap="square" lIns="249642" tIns="224242" rIns="144486" bIns="198842" rtlCol="0" anchor="t">
            <a:normAutofit/>
          </a:bodyPr>
          <a:lstStyle/>
          <a:p>
            <a:pPr algn="l" indent="0" marL="0">
              <a:lnSpc>
                <a:spcPts val="2880"/>
              </a:lnSpc>
              <a:buNone/>
            </a:pPr>
            <a:r>
              <a:rPr lang="en-US" sz="1800" dirty="0">
                <a:solidFill>
                  <a:srgbClr val="7F8BA3"/>
                </a:solidFill>
                <a:latin typeface="JetBrains Mono" pitchFamily="49" charset="0"/>
                <a:ea typeface="JetBrains Mono" pitchFamily="49" charset="-122"/>
                <a:cs typeface="JetBrains Mono" pitchFamily="49" charset="-120"/>
              </a:rPr>
              <a:t>CLIPS&gt;</a:t>
            </a:r>
            <a:r>
              <a:rPr lang="en-US" sz="1800" dirty="0">
                <a:solidFill>
                  <a:srgbClr val="E8ECF2"/>
                </a:solidFill>
                <a:latin typeface="JetBrains Mono" pitchFamily="49" charset="0"/>
                <a:ea typeface="JetBrains Mono" pitchFamily="49" charset="-122"/>
                <a:cs typeface="JetBrains Mono" pitchFamily="49" charset="-120"/>
              </a:rPr>
              <a:t> (reset)</a:t>
            </a:r>
            <a:endParaRPr lang="en-US" sz="1800" dirty="0"/>
          </a:p>
          <a:p>
            <a:pPr algn="l" indent="0" marL="0">
              <a:lnSpc>
                <a:spcPts val="2880"/>
              </a:lnSpc>
              <a:buNone/>
            </a:pPr>
            <a:r>
              <a:rPr lang="en-US" sz="1800" dirty="0">
                <a:solidFill>
                  <a:srgbClr val="7F8BA3"/>
                </a:solidFill>
                <a:latin typeface="JetBrains Mono" pitchFamily="49" charset="0"/>
                <a:ea typeface="JetBrains Mono" pitchFamily="49" charset="-122"/>
                <a:cs typeface="JetBrains Mono" pitchFamily="49" charset="-120"/>
              </a:rPr>
              <a:t>CLIPS&gt;</a:t>
            </a:r>
            <a:r>
              <a:rPr lang="en-US" sz="1800" dirty="0">
                <a:solidFill>
                  <a:srgbClr val="E8ECF2"/>
                </a:solidFill>
                <a:latin typeface="JetBrains Mono" pitchFamily="49" charset="0"/>
                <a:ea typeface="JetBrains Mono" pitchFamily="49" charset="-122"/>
                <a:cs typeface="JetBrains Mono" pitchFamily="49" charset="-120"/>
              </a:rPr>
              <a:t> (run)</a:t>
            </a:r>
            <a:endParaRPr lang="en-US" sz="1800" dirty="0"/>
          </a:p>
        </p:txBody>
      </p:sp>
      <p:sp>
        <p:nvSpPr>
          <p:cNvPr id="5" name="Shape 3"/>
          <p:cNvSpPr/>
          <p:nvPr/>
        </p:nvSpPr>
        <p:spPr>
          <a:xfrm>
            <a:off x="812800" y="3182503"/>
            <a:ext cx="4064000" cy="998097"/>
          </a:xfrm>
          <a:prstGeom prst="roundRect">
            <a:avLst>
              <a:gd name="adj" fmla="val 10179"/>
            </a:avLst>
          </a:prstGeom>
          <a:solidFill>
            <a:srgbClr val="FFF1E3"/>
          </a:solidFill>
          <a:ln/>
        </p:spPr>
      </p:sp>
      <p:sp>
        <p:nvSpPr>
          <p:cNvPr id="6" name="Text 4"/>
          <p:cNvSpPr/>
          <p:nvPr/>
        </p:nvSpPr>
        <p:spPr>
          <a:xfrm>
            <a:off x="1092200" y="3385703"/>
            <a:ext cx="3610356"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9A4A0C"/>
                </a:solidFill>
                <a:latin typeface="IBM Plex Sans" pitchFamily="34" charset="0"/>
                <a:ea typeface="IBM Plex Sans" pitchFamily="34" charset="-122"/>
                <a:cs typeface="IBM Plex Sans" pitchFamily="34" charset="-120"/>
              </a:rPr>
              <a:t>OUTPUT</a:t>
            </a:r>
            <a:endParaRPr lang="en-US" sz="1300" dirty="0"/>
          </a:p>
        </p:txBody>
      </p:sp>
      <p:sp>
        <p:nvSpPr>
          <p:cNvPr id="7" name="Text 5"/>
          <p:cNvSpPr/>
          <p:nvPr/>
        </p:nvSpPr>
        <p:spPr>
          <a:xfrm>
            <a:off x="1092200" y="3692971"/>
            <a:ext cx="37846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3410"/>
                </a:solidFill>
                <a:latin typeface="JetBrains Mono" pitchFamily="49" charset="0"/>
                <a:ea typeface="JetBrains Mono" pitchFamily="49" charset="-122"/>
                <a:cs typeface="JetBrains Mono" pitchFamily="49" charset="-120"/>
              </a:rPr>
              <a:t>Recommendation: Drink Water!</a:t>
            </a:r>
            <a:endParaRPr lang="en-US" sz="1600" dirty="0"/>
          </a:p>
        </p:txBody>
      </p:sp>
      <p:sp>
        <p:nvSpPr>
          <p:cNvPr id="8" name="Shape 6"/>
          <p:cNvSpPr/>
          <p:nvPr/>
        </p:nvSpPr>
        <p:spPr>
          <a:xfrm>
            <a:off x="5137150" y="1822363"/>
            <a:ext cx="6235700" cy="863247"/>
          </a:xfrm>
          <a:prstGeom prst="roundRect">
            <a:avLst>
              <a:gd name="adj" fmla="val 11034"/>
            </a:avLst>
          </a:prstGeom>
          <a:solidFill>
            <a:srgbClr val="FFFFFF"/>
          </a:solidFill>
          <a:ln w="12700">
            <a:solidFill>
              <a:srgbClr val="D7DEE9"/>
            </a:solidFill>
            <a:prstDash val="solid"/>
          </a:ln>
        </p:spPr>
      </p:sp>
      <p:sp>
        <p:nvSpPr>
          <p:cNvPr id="9" name="Text 7"/>
          <p:cNvSpPr/>
          <p:nvPr/>
        </p:nvSpPr>
        <p:spPr>
          <a:xfrm>
            <a:off x="5345289" y="2076190"/>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621A"/>
                </a:solidFill>
                <a:latin typeface="IBM Plex Sans" pitchFamily="34" charset="0"/>
                <a:ea typeface="IBM Plex Sans" pitchFamily="34" charset="-122"/>
                <a:cs typeface="IBM Plex Sans" pitchFamily="34" charset="-120"/>
              </a:rPr>
              <a:t>1</a:t>
            </a:r>
            <a:endParaRPr lang="en-US" sz="2000" dirty="0"/>
          </a:p>
        </p:txBody>
      </p:sp>
      <p:sp>
        <p:nvSpPr>
          <p:cNvPr id="10" name="Text 8"/>
          <p:cNvSpPr/>
          <p:nvPr/>
        </p:nvSpPr>
        <p:spPr>
          <a:xfrm>
            <a:off x="5802489" y="2005099"/>
            <a:ext cx="5523089" cy="52316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F"/>
                </a:solidFill>
                <a:latin typeface="IBM Plex Sans" pitchFamily="34" charset="0"/>
                <a:ea typeface="IBM Plex Sans" pitchFamily="34" charset="-122"/>
                <a:cs typeface="IBM Plex Sans" pitchFamily="34" charset="-120"/>
              </a:rPr>
              <a:t>(reset)</a:t>
            </a:r>
            <a:r>
              <a:rPr lang="en-US" sz="1400" dirty="0">
                <a:solidFill>
                  <a:srgbClr val="3D4A5F"/>
                </a:solidFill>
                <a:latin typeface="IBM Plex Sans" pitchFamily="34" charset="0"/>
                <a:ea typeface="IBM Plex Sans" pitchFamily="34" charset="-122"/>
                <a:cs typeface="IBM Plex Sans" pitchFamily="34" charset="-120"/>
              </a:rPr>
              <a:t> puts (weather hot) and (season summer) in working memory</a:t>
            </a:r>
            <a:endParaRPr lang="en-US" sz="1400" dirty="0"/>
          </a:p>
        </p:txBody>
      </p:sp>
      <p:sp>
        <p:nvSpPr>
          <p:cNvPr id="11" name="Shape 9"/>
          <p:cNvSpPr/>
          <p:nvPr/>
        </p:nvSpPr>
        <p:spPr>
          <a:xfrm>
            <a:off x="5137150" y="2825316"/>
            <a:ext cx="6235700" cy="863247"/>
          </a:xfrm>
          <a:prstGeom prst="roundRect">
            <a:avLst>
              <a:gd name="adj" fmla="val 11034"/>
            </a:avLst>
          </a:prstGeom>
          <a:solidFill>
            <a:srgbClr val="FFFFFF"/>
          </a:solidFill>
          <a:ln w="12700">
            <a:solidFill>
              <a:srgbClr val="D7DEE9"/>
            </a:solidFill>
            <a:prstDash val="solid"/>
          </a:ln>
        </p:spPr>
      </p:sp>
      <p:sp>
        <p:nvSpPr>
          <p:cNvPr id="12" name="Text 10"/>
          <p:cNvSpPr/>
          <p:nvPr/>
        </p:nvSpPr>
        <p:spPr>
          <a:xfrm>
            <a:off x="5345289" y="3079130"/>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621A"/>
                </a:solidFill>
                <a:latin typeface="IBM Plex Sans" pitchFamily="34" charset="0"/>
                <a:ea typeface="IBM Plex Sans" pitchFamily="34" charset="-122"/>
                <a:cs typeface="IBM Plex Sans" pitchFamily="34" charset="-120"/>
              </a:rPr>
              <a:t>2</a:t>
            </a:r>
            <a:endParaRPr lang="en-US" sz="2000" dirty="0"/>
          </a:p>
        </p:txBody>
      </p:sp>
      <p:sp>
        <p:nvSpPr>
          <p:cNvPr id="13" name="Text 11"/>
          <p:cNvSpPr/>
          <p:nvPr/>
        </p:nvSpPr>
        <p:spPr>
          <a:xfrm>
            <a:off x="5802489" y="3008052"/>
            <a:ext cx="5523089"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The engine sees that </a:t>
            </a:r>
            <a:r>
              <a:rPr lang="en-US" sz="1400" b="1" dirty="0">
                <a:solidFill>
                  <a:srgbClr val="3D4A5F"/>
                </a:solidFill>
                <a:latin typeface="IBM Plex Sans" pitchFamily="34" charset="0"/>
                <a:ea typeface="IBM Plex Sans" pitchFamily="34" charset="-122"/>
                <a:cs typeface="IBM Plex Sans" pitchFamily="34" charset="-120"/>
              </a:rPr>
              <a:t>suggest-drink</a:t>
            </a:r>
            <a:r>
              <a:rPr lang="en-US" sz="1400" dirty="0">
                <a:solidFill>
                  <a:srgbClr val="3D4A5F"/>
                </a:solidFill>
                <a:latin typeface="IBM Plex Sans" pitchFamily="34" charset="0"/>
                <a:ea typeface="IBM Plex Sans" pitchFamily="34" charset="-122"/>
                <a:cs typeface="IBM Plex Sans" pitchFamily="34" charset="-120"/>
              </a:rPr>
              <a:t> matches and puts it on the agenda</a:t>
            </a:r>
            <a:endParaRPr lang="en-US" sz="1400" dirty="0"/>
          </a:p>
        </p:txBody>
      </p:sp>
      <p:sp>
        <p:nvSpPr>
          <p:cNvPr id="14" name="Shape 12"/>
          <p:cNvSpPr/>
          <p:nvPr/>
        </p:nvSpPr>
        <p:spPr>
          <a:xfrm>
            <a:off x="5137150" y="3828256"/>
            <a:ext cx="6235700" cy="721078"/>
          </a:xfrm>
          <a:prstGeom prst="roundRect">
            <a:avLst>
              <a:gd name="adj" fmla="val 13209"/>
            </a:avLst>
          </a:prstGeom>
          <a:solidFill>
            <a:srgbClr val="FFFFFF"/>
          </a:solidFill>
          <a:ln w="12700">
            <a:solidFill>
              <a:srgbClr val="D7DEE9"/>
            </a:solidFill>
            <a:prstDash val="solid"/>
          </a:ln>
        </p:spPr>
      </p:sp>
      <p:sp>
        <p:nvSpPr>
          <p:cNvPr id="15" name="Text 13"/>
          <p:cNvSpPr/>
          <p:nvPr/>
        </p:nvSpPr>
        <p:spPr>
          <a:xfrm>
            <a:off x="5345289" y="4010992"/>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621A"/>
                </a:solidFill>
                <a:latin typeface="IBM Plex Sans" pitchFamily="34" charset="0"/>
                <a:ea typeface="IBM Plex Sans" pitchFamily="34" charset="-122"/>
                <a:cs typeface="IBM Plex Sans" pitchFamily="34" charset="-120"/>
              </a:rPr>
              <a:t>3</a:t>
            </a:r>
            <a:endParaRPr lang="en-US" sz="2000" dirty="0"/>
          </a:p>
        </p:txBody>
      </p:sp>
      <p:sp>
        <p:nvSpPr>
          <p:cNvPr id="16" name="Text 14"/>
          <p:cNvSpPr/>
          <p:nvPr/>
        </p:nvSpPr>
        <p:spPr>
          <a:xfrm>
            <a:off x="5802489" y="4064360"/>
            <a:ext cx="4418330" cy="27428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F"/>
                </a:solidFill>
                <a:latin typeface="IBM Plex Sans" pitchFamily="34" charset="0"/>
                <a:ea typeface="IBM Plex Sans" pitchFamily="34" charset="-122"/>
                <a:cs typeface="IBM Plex Sans" pitchFamily="34" charset="-120"/>
              </a:rPr>
              <a:t>(run)</a:t>
            </a:r>
            <a:r>
              <a:rPr lang="en-US" sz="1400" dirty="0">
                <a:solidFill>
                  <a:srgbClr val="3D4A5F"/>
                </a:solidFill>
                <a:latin typeface="IBM Plex Sans" pitchFamily="34" charset="0"/>
                <a:ea typeface="IBM Plex Sans" pitchFamily="34" charset="-122"/>
                <a:cs typeface="IBM Plex Sans" pitchFamily="34" charset="-120"/>
              </a:rPr>
              <a:t> fires it and the action prints the message</a:t>
            </a:r>
            <a:endParaRPr lang="en-US" sz="1400" dirty="0"/>
          </a:p>
        </p:txBody>
      </p:sp>
      <p:sp>
        <p:nvSpPr>
          <p:cNvPr id="17" name="Text 15"/>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3383"/>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6.8</a:t>
            </a:r>
            <a:endParaRPr lang="en-US" sz="1300" dirty="0"/>
          </a:p>
        </p:txBody>
      </p:sp>
      <p:sp>
        <p:nvSpPr>
          <p:cNvPr id="3" name="Text 1"/>
          <p:cNvSpPr/>
          <p:nvPr>
            <p:ph type="title"/>
          </p:nvPr>
        </p:nvSpPr>
        <p:spPr>
          <a:xfrm>
            <a:off x="812800" y="1142380"/>
            <a:ext cx="10883392" cy="48630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13D"/>
                </a:solidFill>
                <a:latin typeface="IBM Plex Sans" pitchFamily="34" charset="0"/>
                <a:ea typeface="IBM Plex Sans" pitchFamily="34" charset="-122"/>
                <a:cs typeface="IBM Plex Sans" pitchFamily="34" charset="-120"/>
              </a:rPr>
              <a:t>Structured facts using templates</a:t>
            </a:r>
            <a:endParaRPr lang="en-US" sz="3190" dirty="0"/>
          </a:p>
        </p:txBody>
      </p:sp>
      <p:sp>
        <p:nvSpPr>
          <p:cNvPr id="4" name="Text 2"/>
          <p:cNvSpPr/>
          <p:nvPr/>
        </p:nvSpPr>
        <p:spPr>
          <a:xfrm>
            <a:off x="812800" y="1806488"/>
            <a:ext cx="6502400" cy="3251200"/>
          </a:xfrm>
          <a:prstGeom prst="roundRect">
            <a:avLst>
              <a:gd name="adj" fmla="val 3125"/>
            </a:avLst>
          </a:prstGeom>
          <a:solidFill>
            <a:srgbClr val="1B2333"/>
          </a:solidFill>
          <a:ln/>
        </p:spPr>
        <p:txBody>
          <a:bodyPr wrap="square" lIns="249642" tIns="224242" rIns="71334" bIns="198842" rtlCol="0" anchor="t">
            <a:normAutofit/>
          </a:bodyPr>
          <a:lstStyle/>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a:t>
            </a:r>
            <a:r>
              <a:rPr lang="en-US" sz="1500" dirty="0">
                <a:solidFill>
                  <a:srgbClr val="7FB3F0"/>
                </a:solidFill>
                <a:latin typeface="JetBrains Mono" pitchFamily="49" charset="0"/>
                <a:ea typeface="JetBrains Mono" pitchFamily="49" charset="-122"/>
                <a:cs typeface="JetBrains Mono" pitchFamily="49" charset="-120"/>
              </a:rPr>
              <a:t>deftemplate</a:t>
            </a:r>
            <a:r>
              <a:rPr lang="en-US" sz="1500" dirty="0">
                <a:solidFill>
                  <a:srgbClr val="E8ECF2"/>
                </a:solidFill>
                <a:latin typeface="JetBrains Mono" pitchFamily="49" charset="0"/>
                <a:ea typeface="JetBrains Mono" pitchFamily="49" charset="-122"/>
                <a:cs typeface="JetBrains Mono" pitchFamily="49" charset="-120"/>
              </a:rPr>
              <a:t> student</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  (slot name)</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  (slot gpa)</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a:t>
            </a:r>
            <a:r>
              <a:rPr lang="en-US" sz="1500" dirty="0">
                <a:solidFill>
                  <a:srgbClr val="7FB3F0"/>
                </a:solidFill>
                <a:latin typeface="JetBrains Mono" pitchFamily="49" charset="0"/>
                <a:ea typeface="JetBrains Mono" pitchFamily="49" charset="-122"/>
                <a:cs typeface="JetBrains Mono" pitchFamily="49" charset="-120"/>
              </a:rPr>
              <a:t>deffacts</a:t>
            </a:r>
            <a:r>
              <a:rPr lang="en-US" sz="1500" dirty="0">
                <a:solidFill>
                  <a:srgbClr val="E8ECF2"/>
                </a:solidFill>
                <a:latin typeface="JetBrains Mono" pitchFamily="49" charset="0"/>
                <a:ea typeface="JetBrains Mono" pitchFamily="49" charset="-122"/>
                <a:cs typeface="JetBrains Mono" pitchFamily="49" charset="-120"/>
              </a:rPr>
              <a:t> students</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  (student (name "Ali") (gpa 3.5))</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  (student (name "Sara") (gpa 2.1))</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a:t>
            </a:r>
            <a:endParaRPr lang="en-US" sz="1500" dirty="0"/>
          </a:p>
        </p:txBody>
      </p:sp>
      <p:sp>
        <p:nvSpPr>
          <p:cNvPr id="5" name="Shape 3"/>
          <p:cNvSpPr/>
          <p:nvPr/>
        </p:nvSpPr>
        <p:spPr>
          <a:xfrm>
            <a:off x="7575550" y="1812838"/>
            <a:ext cx="3797300" cy="1230930"/>
          </a:xfrm>
          <a:prstGeom prst="roundRect">
            <a:avLst>
              <a:gd name="adj" fmla="val 7738"/>
            </a:avLst>
          </a:prstGeom>
          <a:solidFill>
            <a:srgbClr val="FFFFFF"/>
          </a:solidFill>
          <a:ln w="12700">
            <a:solidFill>
              <a:srgbClr val="D7DEE9"/>
            </a:solidFill>
            <a:prstDash val="solid"/>
          </a:ln>
        </p:spPr>
      </p:sp>
      <p:sp>
        <p:nvSpPr>
          <p:cNvPr id="6" name="Text 4"/>
          <p:cNvSpPr/>
          <p:nvPr/>
        </p:nvSpPr>
        <p:spPr>
          <a:xfrm>
            <a:off x="7783689" y="2020974"/>
            <a:ext cx="3482453" cy="278165"/>
          </a:xfrm>
          <a:prstGeom prst="rect">
            <a:avLst/>
          </a:prstGeom>
          <a:noFill/>
          <a:ln/>
        </p:spPr>
        <p:txBody>
          <a:bodyPr wrap="square" lIns="0" tIns="0" rIns="0" bIns="0" rtlCol="0" anchor="t">
            <a:normAutofit/>
          </a:bodyPr>
          <a:lstStyle/>
          <a:p>
            <a:pPr algn="l" indent="0" marL="0">
              <a:lnSpc>
                <a:spcPts val="2021"/>
              </a:lnSpc>
              <a:buNone/>
            </a:pPr>
            <a:r>
              <a:rPr lang="en-US" sz="1684" b="1" dirty="0">
                <a:solidFill>
                  <a:srgbClr val="2B6CB0"/>
                </a:solidFill>
                <a:latin typeface="IBM Plex Sans" pitchFamily="34" charset="0"/>
                <a:ea typeface="IBM Plex Sans" pitchFamily="34" charset="-122"/>
                <a:cs typeface="IBM Plex Sans" pitchFamily="34" charset="-120"/>
              </a:rPr>
              <a:t>deftemplate</a:t>
            </a:r>
            <a:endParaRPr lang="en-US" sz="1684" dirty="0"/>
          </a:p>
        </p:txBody>
      </p:sp>
      <p:sp>
        <p:nvSpPr>
          <p:cNvPr id="7" name="Text 5"/>
          <p:cNvSpPr/>
          <p:nvPr/>
        </p:nvSpPr>
        <p:spPr>
          <a:xfrm>
            <a:off x="7783689" y="2349946"/>
            <a:ext cx="3482453" cy="511087"/>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3D4A5F"/>
                </a:solidFill>
                <a:latin typeface="IBM Plex Sans" pitchFamily="34" charset="0"/>
                <a:ea typeface="IBM Plex Sans" pitchFamily="34" charset="-122"/>
                <a:cs typeface="IBM Plex Sans" pitchFamily="34" charset="-120"/>
              </a:rPr>
              <a:t>Defines the shape of a fact, like a record or a table row.</a:t>
            </a:r>
            <a:endParaRPr lang="en-US" sz="1365" dirty="0"/>
          </a:p>
        </p:txBody>
      </p:sp>
      <p:sp>
        <p:nvSpPr>
          <p:cNvPr id="8" name="Shape 6"/>
          <p:cNvSpPr/>
          <p:nvPr/>
        </p:nvSpPr>
        <p:spPr>
          <a:xfrm>
            <a:off x="7575550" y="3208871"/>
            <a:ext cx="3797300" cy="1230842"/>
          </a:xfrm>
          <a:prstGeom prst="roundRect">
            <a:avLst>
              <a:gd name="adj" fmla="val 7739"/>
            </a:avLst>
          </a:prstGeom>
          <a:solidFill>
            <a:srgbClr val="FFFFFF"/>
          </a:solidFill>
          <a:ln w="12700">
            <a:solidFill>
              <a:srgbClr val="D7DEE9"/>
            </a:solidFill>
            <a:prstDash val="solid"/>
          </a:ln>
        </p:spPr>
      </p:sp>
      <p:sp>
        <p:nvSpPr>
          <p:cNvPr id="9" name="Text 7"/>
          <p:cNvSpPr/>
          <p:nvPr/>
        </p:nvSpPr>
        <p:spPr>
          <a:xfrm>
            <a:off x="7783689" y="3417007"/>
            <a:ext cx="3482453" cy="278077"/>
          </a:xfrm>
          <a:prstGeom prst="rect">
            <a:avLst/>
          </a:prstGeom>
          <a:noFill/>
          <a:ln/>
        </p:spPr>
        <p:txBody>
          <a:bodyPr wrap="square" lIns="0" tIns="0" rIns="0" bIns="0" rtlCol="0" anchor="t">
            <a:normAutofit/>
          </a:bodyPr>
          <a:lstStyle/>
          <a:p>
            <a:pPr algn="l" indent="0" marL="0">
              <a:lnSpc>
                <a:spcPts val="2021"/>
              </a:lnSpc>
              <a:buNone/>
            </a:pPr>
            <a:r>
              <a:rPr lang="en-US" sz="1684" b="1" dirty="0">
                <a:solidFill>
                  <a:srgbClr val="2B6CB0"/>
                </a:solidFill>
                <a:latin typeface="IBM Plex Sans" pitchFamily="34" charset="0"/>
                <a:ea typeface="IBM Plex Sans" pitchFamily="34" charset="-122"/>
                <a:cs typeface="IBM Plex Sans" pitchFamily="34" charset="-120"/>
              </a:rPr>
              <a:t>slot</a:t>
            </a:r>
            <a:endParaRPr lang="en-US" sz="1684" dirty="0"/>
          </a:p>
        </p:txBody>
      </p:sp>
      <p:sp>
        <p:nvSpPr>
          <p:cNvPr id="10" name="Text 8"/>
          <p:cNvSpPr/>
          <p:nvPr/>
        </p:nvSpPr>
        <p:spPr>
          <a:xfrm>
            <a:off x="7783689" y="3745880"/>
            <a:ext cx="3482453" cy="511087"/>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3D4A5F"/>
                </a:solidFill>
                <a:latin typeface="IBM Plex Sans" pitchFamily="34" charset="0"/>
                <a:ea typeface="IBM Plex Sans" pitchFamily="34" charset="-122"/>
                <a:cs typeface="IBM Plex Sans" pitchFamily="34" charset="-120"/>
              </a:rPr>
              <a:t>A named field holding one value: name, gpa.</a:t>
            </a:r>
            <a:endParaRPr lang="en-US" sz="1365" dirty="0"/>
          </a:p>
        </p:txBody>
      </p:sp>
      <p:sp>
        <p:nvSpPr>
          <p:cNvPr id="11" name="Shape 9"/>
          <p:cNvSpPr/>
          <p:nvPr/>
        </p:nvSpPr>
        <p:spPr>
          <a:xfrm>
            <a:off x="7575550" y="4604804"/>
            <a:ext cx="3797300" cy="1230842"/>
          </a:xfrm>
          <a:prstGeom prst="roundRect">
            <a:avLst>
              <a:gd name="adj" fmla="val 7739"/>
            </a:avLst>
          </a:prstGeom>
          <a:solidFill>
            <a:srgbClr val="FFFFFF"/>
          </a:solidFill>
          <a:ln w="12700">
            <a:solidFill>
              <a:srgbClr val="D7DEE9"/>
            </a:solidFill>
            <a:prstDash val="solid"/>
          </a:ln>
        </p:spPr>
      </p:sp>
      <p:sp>
        <p:nvSpPr>
          <p:cNvPr id="12" name="Text 10"/>
          <p:cNvSpPr/>
          <p:nvPr/>
        </p:nvSpPr>
        <p:spPr>
          <a:xfrm>
            <a:off x="7783689" y="4812953"/>
            <a:ext cx="3482453" cy="278077"/>
          </a:xfrm>
          <a:prstGeom prst="rect">
            <a:avLst/>
          </a:prstGeom>
          <a:noFill/>
          <a:ln/>
        </p:spPr>
        <p:txBody>
          <a:bodyPr wrap="square" lIns="0" tIns="0" rIns="0" bIns="0" rtlCol="0" anchor="t">
            <a:normAutofit/>
          </a:bodyPr>
          <a:lstStyle/>
          <a:p>
            <a:pPr algn="l" indent="0" marL="0">
              <a:lnSpc>
                <a:spcPts val="2021"/>
              </a:lnSpc>
              <a:buNone/>
            </a:pPr>
            <a:r>
              <a:rPr lang="en-US" sz="1684" b="1" dirty="0">
                <a:solidFill>
                  <a:srgbClr val="2B6CB0"/>
                </a:solidFill>
                <a:latin typeface="IBM Plex Sans" pitchFamily="34" charset="0"/>
                <a:ea typeface="IBM Plex Sans" pitchFamily="34" charset="-122"/>
                <a:cs typeface="IBM Plex Sans" pitchFamily="34" charset="-120"/>
              </a:rPr>
              <a:t>Why?</a:t>
            </a:r>
            <a:endParaRPr lang="en-US" sz="1684" dirty="0"/>
          </a:p>
        </p:txBody>
      </p:sp>
      <p:sp>
        <p:nvSpPr>
          <p:cNvPr id="13" name="Text 11"/>
          <p:cNvSpPr/>
          <p:nvPr/>
        </p:nvSpPr>
        <p:spPr>
          <a:xfrm>
            <a:off x="7783689" y="5141826"/>
            <a:ext cx="3482453" cy="511087"/>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3D4A5F"/>
                </a:solidFill>
                <a:latin typeface="IBM Plex Sans" pitchFamily="34" charset="0"/>
                <a:ea typeface="IBM Plex Sans" pitchFamily="34" charset="-122"/>
                <a:cs typeface="IBM Plex Sans" pitchFamily="34" charset="-120"/>
              </a:rPr>
              <a:t>Order no longer matters and every value has a label.</a:t>
            </a:r>
            <a:endParaRPr lang="en-US" sz="1365" dirty="0"/>
          </a:p>
        </p:txBody>
      </p:sp>
      <p:sp>
        <p:nvSpPr>
          <p:cNvPr id="14" name="Text 12"/>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6.9</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Rule with slot matching</a:t>
            </a:r>
            <a:endParaRPr lang="en-US" sz="3200" dirty="0"/>
          </a:p>
        </p:txBody>
      </p:sp>
      <p:sp>
        <p:nvSpPr>
          <p:cNvPr id="4" name="Text 2"/>
          <p:cNvSpPr/>
          <p:nvPr/>
        </p:nvSpPr>
        <p:spPr>
          <a:xfrm>
            <a:off x="812800" y="1816013"/>
            <a:ext cx="6883400" cy="2966244"/>
          </a:xfrm>
          <a:prstGeom prst="roundRect">
            <a:avLst>
              <a:gd name="adj" fmla="val 3425"/>
            </a:avLst>
          </a:prstGeom>
          <a:solidFill>
            <a:srgbClr val="1B2333"/>
          </a:solidFill>
          <a:ln/>
        </p:spPr>
        <p:txBody>
          <a:bodyPr wrap="square" lIns="249642" tIns="173442" rIns="59904" bIns="148042" rtlCol="0" anchor="t">
            <a:normAutofit/>
          </a:bodyPr>
          <a:lstStyle/>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a:t>
            </a:r>
            <a:r>
              <a:rPr lang="en-US" sz="1400" dirty="0">
                <a:solidFill>
                  <a:srgbClr val="7FB3F0"/>
                </a:solidFill>
                <a:latin typeface="JetBrains Mono" pitchFamily="49" charset="0"/>
                <a:ea typeface="JetBrains Mono" pitchFamily="49" charset="-122"/>
                <a:cs typeface="JetBrains Mono" pitchFamily="49" charset="-120"/>
              </a:rPr>
              <a:t>defrule</a:t>
            </a:r>
            <a:r>
              <a:rPr lang="en-US" sz="1400" dirty="0">
                <a:solidFill>
                  <a:srgbClr val="E8ECF2"/>
                </a:solidFill>
                <a:latin typeface="JetBrains Mono" pitchFamily="49" charset="0"/>
                <a:ea typeface="JetBrains Mono" pitchFamily="49" charset="-122"/>
                <a:cs typeface="JetBrains Mono" pitchFamily="49" charset="-120"/>
              </a:rPr>
              <a:t> honor-student</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(student (name </a:t>
            </a:r>
            <a:r>
              <a:rPr lang="en-US" sz="1400" dirty="0">
                <a:solidFill>
                  <a:srgbClr val="E8913A"/>
                </a:solidFill>
                <a:latin typeface="JetBrains Mono" pitchFamily="49" charset="0"/>
                <a:ea typeface="JetBrains Mono" pitchFamily="49" charset="-122"/>
                <a:cs typeface="JetBrains Mono" pitchFamily="49" charset="-120"/>
              </a:rPr>
              <a:t>?n</a:t>
            </a:r>
            <a:r>
              <a:rPr lang="en-US" sz="1400" dirty="0">
                <a:solidFill>
                  <a:srgbClr val="E8ECF2"/>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(gpa </a:t>
            </a:r>
            <a:r>
              <a:rPr lang="en-US" sz="1400" dirty="0">
                <a:solidFill>
                  <a:srgbClr val="E8913A"/>
                </a:solidFill>
                <a:latin typeface="JetBrains Mono" pitchFamily="49" charset="0"/>
                <a:ea typeface="JetBrains Mono" pitchFamily="49" charset="-122"/>
                <a:cs typeface="JetBrains Mono" pitchFamily="49" charset="-120"/>
              </a:rPr>
              <a:t>?g&amp;:(&gt;= ?g 3.0)</a:t>
            </a:r>
            <a:r>
              <a:rPr lang="en-US" sz="1400" dirty="0">
                <a:solidFill>
                  <a:srgbClr val="E8ECF2"/>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=&gt;</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(printout t ?n " is an Honor Student!" crlf)</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endParaRPr lang="en-US" sz="1400" dirty="0"/>
          </a:p>
          <a:p>
            <a:pPr algn="l" indent="0" marL="0">
              <a:lnSpc>
                <a:spcPts val="2240"/>
              </a:lnSpc>
              <a:buNone/>
            </a:pPr>
            <a:r>
              <a:rPr lang="en-US" sz="1400" dirty="0">
                <a:solidFill>
                  <a:srgbClr val="7F8BA3"/>
                </a:solidFill>
                <a:latin typeface="JetBrains Mono" pitchFamily="49" charset="0"/>
                <a:ea typeface="JetBrains Mono" pitchFamily="49" charset="-122"/>
                <a:cs typeface="JetBrains Mono" pitchFamily="49" charset="-120"/>
              </a:rPr>
              <a:t>CLIPS&gt;</a:t>
            </a:r>
            <a:r>
              <a:rPr lang="en-US" sz="1400" dirty="0">
                <a:solidFill>
                  <a:srgbClr val="E8ECF2"/>
                </a:solidFill>
                <a:latin typeface="JetBrains Mono" pitchFamily="49" charset="0"/>
                <a:ea typeface="JetBrains Mono" pitchFamily="49" charset="-122"/>
                <a:cs typeface="JetBrains Mono" pitchFamily="49" charset="-120"/>
              </a:rPr>
              <a:t> (reset)</a:t>
            </a:r>
            <a:endParaRPr lang="en-US" sz="1400" dirty="0"/>
          </a:p>
          <a:p>
            <a:pPr algn="l" indent="0" marL="0">
              <a:lnSpc>
                <a:spcPts val="2240"/>
              </a:lnSpc>
              <a:buNone/>
            </a:pPr>
            <a:r>
              <a:rPr lang="en-US" sz="1400" dirty="0">
                <a:solidFill>
                  <a:srgbClr val="7F8BA3"/>
                </a:solidFill>
                <a:latin typeface="JetBrains Mono" pitchFamily="49" charset="0"/>
                <a:ea typeface="JetBrains Mono" pitchFamily="49" charset="-122"/>
                <a:cs typeface="JetBrains Mono" pitchFamily="49" charset="-120"/>
              </a:rPr>
              <a:t>CLIPS&gt;</a:t>
            </a:r>
            <a:r>
              <a:rPr lang="en-US" sz="1400" dirty="0">
                <a:solidFill>
                  <a:srgbClr val="E8ECF2"/>
                </a:solidFill>
                <a:latin typeface="JetBrains Mono" pitchFamily="49" charset="0"/>
                <a:ea typeface="JetBrains Mono" pitchFamily="49" charset="-122"/>
                <a:cs typeface="JetBrains Mono" pitchFamily="49" charset="-120"/>
              </a:rPr>
              <a:t> (run)</a:t>
            </a:r>
            <a:endParaRPr lang="en-US" sz="1400" dirty="0"/>
          </a:p>
        </p:txBody>
      </p:sp>
      <p:sp>
        <p:nvSpPr>
          <p:cNvPr id="5" name="Shape 3"/>
          <p:cNvSpPr/>
          <p:nvPr/>
        </p:nvSpPr>
        <p:spPr>
          <a:xfrm>
            <a:off x="812800" y="4909257"/>
            <a:ext cx="6883400" cy="571500"/>
          </a:xfrm>
          <a:prstGeom prst="roundRect">
            <a:avLst>
              <a:gd name="adj" fmla="val 17778"/>
            </a:avLst>
          </a:prstGeom>
          <a:solidFill>
            <a:srgbClr val="FFF1E3"/>
          </a:solidFill>
          <a:ln/>
        </p:spPr>
      </p:sp>
      <p:sp>
        <p:nvSpPr>
          <p:cNvPr id="6" name="Text 4"/>
          <p:cNvSpPr/>
          <p:nvPr/>
        </p:nvSpPr>
        <p:spPr>
          <a:xfrm>
            <a:off x="1092200" y="5079467"/>
            <a:ext cx="845608"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9A4A0C"/>
                </a:solidFill>
                <a:latin typeface="IBM Plex Sans" pitchFamily="34" charset="0"/>
                <a:ea typeface="IBM Plex Sans" pitchFamily="34" charset="-122"/>
                <a:cs typeface="IBM Plex Sans" pitchFamily="34" charset="-120"/>
              </a:rPr>
              <a:t>OUTPUT</a:t>
            </a:r>
            <a:endParaRPr lang="en-US" sz="1300" dirty="0"/>
          </a:p>
        </p:txBody>
      </p:sp>
      <p:sp>
        <p:nvSpPr>
          <p:cNvPr id="7" name="Text 5"/>
          <p:cNvSpPr/>
          <p:nvPr/>
        </p:nvSpPr>
        <p:spPr>
          <a:xfrm>
            <a:off x="1937808" y="5061657"/>
            <a:ext cx="32918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3410"/>
                </a:solidFill>
                <a:latin typeface="JetBrains Mono" pitchFamily="49" charset="0"/>
                <a:ea typeface="JetBrains Mono" pitchFamily="49" charset="-122"/>
                <a:cs typeface="JetBrains Mono" pitchFamily="49" charset="-120"/>
              </a:rPr>
              <a:t>Ali is an Honor Student!</a:t>
            </a:r>
            <a:endParaRPr lang="en-US" sz="1500" dirty="0"/>
          </a:p>
        </p:txBody>
      </p:sp>
      <p:sp>
        <p:nvSpPr>
          <p:cNvPr id="8" name="Shape 6"/>
          <p:cNvSpPr/>
          <p:nvPr/>
        </p:nvSpPr>
        <p:spPr>
          <a:xfrm>
            <a:off x="7956550" y="1822363"/>
            <a:ext cx="3416300" cy="1162844"/>
          </a:xfrm>
          <a:prstGeom prst="roundRect">
            <a:avLst>
              <a:gd name="adj" fmla="val 8191"/>
            </a:avLst>
          </a:prstGeom>
          <a:solidFill>
            <a:srgbClr val="FFFFFF"/>
          </a:solidFill>
          <a:ln w="12700">
            <a:solidFill>
              <a:srgbClr val="D7DEE9"/>
            </a:solidFill>
            <a:prstDash val="solid"/>
          </a:ln>
        </p:spPr>
      </p:sp>
      <p:sp>
        <p:nvSpPr>
          <p:cNvPr id="9" name="Text 7"/>
          <p:cNvSpPr/>
          <p:nvPr/>
        </p:nvSpPr>
        <p:spPr>
          <a:xfrm>
            <a:off x="8139289" y="2005099"/>
            <a:ext cx="31423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621A"/>
                </a:solidFill>
                <a:latin typeface="JetBrains Mono" pitchFamily="49" charset="0"/>
                <a:ea typeface="JetBrains Mono" pitchFamily="49" charset="-122"/>
                <a:cs typeface="JetBrains Mono" pitchFamily="49" charset="-120"/>
              </a:rPr>
              <a:t>?n ?g</a:t>
            </a:r>
            <a:endParaRPr lang="en-US" sz="1600" dirty="0"/>
          </a:p>
        </p:txBody>
      </p:sp>
      <p:sp>
        <p:nvSpPr>
          <p:cNvPr id="10" name="Text 8"/>
          <p:cNvSpPr/>
          <p:nvPr/>
        </p:nvSpPr>
        <p:spPr>
          <a:xfrm>
            <a:off x="8139289" y="2340335"/>
            <a:ext cx="3142347"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Variables take the slot values of each matching fact</a:t>
            </a:r>
            <a:endParaRPr lang="en-US" sz="1300" dirty="0"/>
          </a:p>
        </p:txBody>
      </p:sp>
      <p:sp>
        <p:nvSpPr>
          <p:cNvPr id="11" name="Shape 9"/>
          <p:cNvSpPr/>
          <p:nvPr/>
        </p:nvSpPr>
        <p:spPr>
          <a:xfrm>
            <a:off x="7956550" y="3124907"/>
            <a:ext cx="3416300" cy="931774"/>
          </a:xfrm>
          <a:prstGeom prst="roundRect">
            <a:avLst>
              <a:gd name="adj" fmla="val 10222"/>
            </a:avLst>
          </a:prstGeom>
          <a:solidFill>
            <a:srgbClr val="FFFFFF"/>
          </a:solidFill>
          <a:ln w="12700">
            <a:solidFill>
              <a:srgbClr val="D7DEE9"/>
            </a:solidFill>
            <a:prstDash val="solid"/>
          </a:ln>
        </p:spPr>
      </p:sp>
      <p:sp>
        <p:nvSpPr>
          <p:cNvPr id="12" name="Text 10"/>
          <p:cNvSpPr/>
          <p:nvPr/>
        </p:nvSpPr>
        <p:spPr>
          <a:xfrm>
            <a:off x="8139289" y="3307643"/>
            <a:ext cx="31423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621A"/>
                </a:solidFill>
                <a:latin typeface="JetBrains Mono" pitchFamily="49" charset="0"/>
                <a:ea typeface="JetBrains Mono" pitchFamily="49" charset="-122"/>
                <a:cs typeface="JetBrains Mono" pitchFamily="49" charset="-120"/>
              </a:rPr>
              <a:t>&amp;:</a:t>
            </a:r>
            <a:endParaRPr lang="en-US" sz="1600" dirty="0"/>
          </a:p>
        </p:txBody>
      </p:sp>
      <p:sp>
        <p:nvSpPr>
          <p:cNvPr id="13" name="Text 11"/>
          <p:cNvSpPr/>
          <p:nvPr/>
        </p:nvSpPr>
        <p:spPr>
          <a:xfrm>
            <a:off x="8139289" y="3642878"/>
            <a:ext cx="3142347"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“and the value must satisfy this test”</a:t>
            </a:r>
            <a:endParaRPr lang="en-US" sz="1300" dirty="0"/>
          </a:p>
        </p:txBody>
      </p:sp>
      <p:sp>
        <p:nvSpPr>
          <p:cNvPr id="14" name="Shape 12"/>
          <p:cNvSpPr/>
          <p:nvPr/>
        </p:nvSpPr>
        <p:spPr>
          <a:xfrm>
            <a:off x="7956550" y="4196383"/>
            <a:ext cx="3416300" cy="1162844"/>
          </a:xfrm>
          <a:prstGeom prst="roundRect">
            <a:avLst>
              <a:gd name="adj" fmla="val 8191"/>
            </a:avLst>
          </a:prstGeom>
          <a:solidFill>
            <a:srgbClr val="FFFFFF"/>
          </a:solidFill>
          <a:ln w="12700">
            <a:solidFill>
              <a:srgbClr val="D7DEE9"/>
            </a:solidFill>
            <a:prstDash val="solid"/>
          </a:ln>
        </p:spPr>
      </p:sp>
      <p:sp>
        <p:nvSpPr>
          <p:cNvPr id="15" name="Text 13"/>
          <p:cNvSpPr/>
          <p:nvPr/>
        </p:nvSpPr>
        <p:spPr>
          <a:xfrm>
            <a:off x="8139289" y="4379119"/>
            <a:ext cx="31423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621A"/>
                </a:solidFill>
                <a:latin typeface="JetBrains Mono" pitchFamily="49" charset="0"/>
                <a:ea typeface="JetBrains Mono" pitchFamily="49" charset="-122"/>
                <a:cs typeface="JetBrains Mono" pitchFamily="49" charset="-120"/>
              </a:rPr>
              <a:t>(&gt;= ?g 3.0)</a:t>
            </a:r>
            <a:endParaRPr lang="en-US" sz="1600" dirty="0"/>
          </a:p>
        </p:txBody>
      </p:sp>
      <p:sp>
        <p:nvSpPr>
          <p:cNvPr id="16" name="Text 14"/>
          <p:cNvSpPr/>
          <p:nvPr/>
        </p:nvSpPr>
        <p:spPr>
          <a:xfrm>
            <a:off x="8139289" y="4714342"/>
            <a:ext cx="3142347"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F"/>
                </a:solidFill>
                <a:latin typeface="IBM Plex Sans" pitchFamily="34" charset="0"/>
                <a:ea typeface="IBM Plex Sans" pitchFamily="34" charset="-122"/>
                <a:cs typeface="IBM Plex Sans" pitchFamily="34" charset="-120"/>
              </a:rPr>
              <a:t>The comparison from the basics: Ali (3.5) passes, Sara (2.1) does not</a:t>
            </a:r>
            <a:endParaRPr lang="en-US" sz="1300" dirty="0"/>
          </a:p>
        </p:txBody>
      </p:sp>
      <p:sp>
        <p:nvSpPr>
          <p:cNvPr id="17" name="Text 15"/>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229557"/>
            <a:ext cx="5389372" cy="274285"/>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913A"/>
                </a:solidFill>
                <a:latin typeface="IBM Plex Sans" pitchFamily="34" charset="0"/>
                <a:ea typeface="IBM Plex Sans" pitchFamily="34" charset="-122"/>
                <a:cs typeface="IBM Plex Sans" pitchFamily="34" charset="-120"/>
              </a:rPr>
              <a:t>2.7 · DEFFUNCTION CONSTRUCT</a:t>
            </a:r>
            <a:endParaRPr lang="en-US" sz="1400" dirty="0"/>
          </a:p>
        </p:txBody>
      </p:sp>
      <p:sp>
        <p:nvSpPr>
          <p:cNvPr id="3" name="Text 1"/>
          <p:cNvSpPr/>
          <p:nvPr>
            <p:ph type="title"/>
          </p:nvPr>
        </p:nvSpPr>
        <p:spPr>
          <a:xfrm>
            <a:off x="812800" y="2681647"/>
            <a:ext cx="538937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IBM Plex Sans" pitchFamily="34" charset="0"/>
                <a:ea typeface="IBM Plex Sans" pitchFamily="34" charset="-122"/>
                <a:cs typeface="IBM Plex Sans" pitchFamily="34" charset="-120"/>
              </a:rPr>
              <a:t>Write your own reusable functions</a:t>
            </a:r>
            <a:endParaRPr lang="en-US" sz="4000" dirty="0"/>
          </a:p>
        </p:txBody>
      </p:sp>
      <p:sp>
        <p:nvSpPr>
          <p:cNvPr id="4" name="Text 2"/>
          <p:cNvSpPr/>
          <p:nvPr/>
        </p:nvSpPr>
        <p:spPr>
          <a:xfrm>
            <a:off x="812800" y="4002447"/>
            <a:ext cx="5389372" cy="651404"/>
          </a:xfrm>
          <a:prstGeom prst="rect">
            <a:avLst/>
          </a:prstGeom>
          <a:noFill/>
          <a:ln/>
        </p:spPr>
        <p:txBody>
          <a:bodyPr wrap="square" lIns="0" tIns="0" rIns="0" bIns="0" rtlCol="0" anchor="t">
            <a:normAutofit/>
          </a:bodyPr>
          <a:lstStyle/>
          <a:p>
            <a:pPr algn="l" indent="0" marL="0">
              <a:lnSpc>
                <a:spcPts val="2465"/>
              </a:lnSpc>
              <a:buNone/>
            </a:pPr>
            <a:r>
              <a:rPr lang="en-US" sz="1700" b="1" dirty="0">
                <a:solidFill>
                  <a:srgbClr val="F7F6F2"/>
                </a:solidFill>
                <a:latin typeface="IBM Plex Sans" pitchFamily="34" charset="0"/>
                <a:ea typeface="IBM Plex Sans" pitchFamily="34" charset="-122"/>
                <a:cs typeface="IBM Plex Sans" pitchFamily="34" charset="-120"/>
              </a:rPr>
              <a:t>7.1 Purpose:</a:t>
            </a:r>
            <a:r>
              <a:rPr lang="en-US" sz="1700" dirty="0">
                <a:solidFill>
                  <a:srgbClr val="BCC7DA"/>
                </a:solidFill>
                <a:latin typeface="IBM Plex Sans" pitchFamily="34" charset="0"/>
                <a:ea typeface="IBM Plex Sans" pitchFamily="34" charset="-122"/>
                <a:cs typeface="IBM Plex Sans" pitchFamily="34" charset="-120"/>
              </a:rPr>
              <a:t> deffunction defines reusable functions that compute values or perform operations.</a:t>
            </a:r>
            <a:endParaRPr lang="en-US" sz="1700" dirty="0"/>
          </a:p>
        </p:txBody>
      </p:sp>
      <p:sp>
        <p:nvSpPr>
          <p:cNvPr id="5" name="Text 3"/>
          <p:cNvSpPr/>
          <p:nvPr/>
        </p:nvSpPr>
        <p:spPr>
          <a:xfrm>
            <a:off x="6553200" y="2121160"/>
            <a:ext cx="4970780"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7FB3F0"/>
                </a:solidFill>
                <a:latin typeface="IBM Plex Sans" pitchFamily="34" charset="0"/>
                <a:ea typeface="IBM Plex Sans" pitchFamily="34" charset="-122"/>
                <a:cs typeface="IBM Plex Sans" pitchFamily="34" charset="-120"/>
              </a:rPr>
              <a:t>7.2 SYNTAX</a:t>
            </a:r>
            <a:endParaRPr lang="en-US" sz="1300" dirty="0"/>
          </a:p>
        </p:txBody>
      </p:sp>
      <p:sp>
        <p:nvSpPr>
          <p:cNvPr id="6" name="Text 4"/>
          <p:cNvSpPr/>
          <p:nvPr/>
        </p:nvSpPr>
        <p:spPr>
          <a:xfrm>
            <a:off x="6559550" y="2485591"/>
            <a:ext cx="4813300" cy="1869017"/>
          </a:xfrm>
          <a:prstGeom prst="roundRect">
            <a:avLst>
              <a:gd name="adj" fmla="val 5096"/>
            </a:avLst>
          </a:prstGeom>
          <a:solidFill>
            <a:srgbClr val="0E1729"/>
          </a:solidFill>
          <a:ln w="12700">
            <a:solidFill>
              <a:srgbClr val="33456B"/>
            </a:solidFill>
            <a:prstDash val="solid"/>
          </a:ln>
        </p:spPr>
        <p:txBody>
          <a:bodyPr wrap="square" lIns="256441" tIns="256441" rIns="129102" bIns="231041" rtlCol="0" anchor="t">
            <a:normAutofit/>
          </a:bodyPr>
          <a:lstStyle/>
          <a:p>
            <a:pPr algn="l" indent="0" marL="0">
              <a:lnSpc>
                <a:spcPts val="2560"/>
              </a:lnSpc>
              <a:buNone/>
            </a:pPr>
            <a:r>
              <a:rPr lang="en-US" sz="1600" dirty="0">
                <a:solidFill>
                  <a:srgbClr val="E8ECF2"/>
                </a:solidFill>
                <a:latin typeface="JetBrains Mono" pitchFamily="49" charset="0"/>
                <a:ea typeface="JetBrains Mono" pitchFamily="49" charset="-122"/>
                <a:cs typeface="JetBrains Mono" pitchFamily="49" charset="-120"/>
              </a:rPr>
              <a:t>(</a:t>
            </a:r>
            <a:r>
              <a:rPr lang="en-US" sz="1600" dirty="0">
                <a:solidFill>
                  <a:srgbClr val="7FB3F0"/>
                </a:solidFill>
                <a:latin typeface="JetBrains Mono" pitchFamily="49" charset="0"/>
                <a:ea typeface="JetBrains Mono" pitchFamily="49" charset="-122"/>
                <a:cs typeface="JetBrains Mono" pitchFamily="49" charset="-120"/>
              </a:rPr>
              <a:t>deffunction</a:t>
            </a:r>
            <a:r>
              <a:rPr lang="en-US" sz="1600" dirty="0">
                <a:solidFill>
                  <a:srgbClr val="E8ECF2"/>
                </a:solidFill>
                <a:latin typeface="JetBrains Mono" pitchFamily="49" charset="0"/>
                <a:ea typeface="JetBrains Mono" pitchFamily="49" charset="-122"/>
                <a:cs typeface="JetBrains Mono" pitchFamily="49" charset="-120"/>
              </a:rPr>
              <a:t> function-name</a:t>
            </a:r>
            <a:endParaRPr lang="en-US" sz="1600" dirty="0"/>
          </a:p>
          <a:p>
            <a:pPr algn="l" indent="0" marL="0">
              <a:lnSpc>
                <a:spcPts val="2560"/>
              </a:lnSpc>
              <a:buNone/>
            </a:pPr>
            <a:r>
              <a:rPr lang="en-US" sz="1600" dirty="0">
                <a:solidFill>
                  <a:srgbClr val="E8ECF2"/>
                </a:solidFill>
                <a:latin typeface="JetBrains Mono" pitchFamily="49" charset="0"/>
                <a:ea typeface="JetBrains Mono" pitchFamily="49" charset="-122"/>
                <a:cs typeface="JetBrains Mono" pitchFamily="49" charset="-120"/>
              </a:rPr>
              <a:t>    (</a:t>
            </a:r>
            <a:r>
              <a:rPr lang="en-US" sz="1600" dirty="0">
                <a:solidFill>
                  <a:srgbClr val="E8913A"/>
                </a:solidFill>
                <a:latin typeface="JetBrains Mono" pitchFamily="49" charset="0"/>
                <a:ea typeface="JetBrains Mono" pitchFamily="49" charset="-122"/>
                <a:cs typeface="JetBrains Mono" pitchFamily="49" charset="-120"/>
              </a:rPr>
              <a:t>parameter-list</a:t>
            </a:r>
            <a:r>
              <a:rPr lang="en-US" sz="1600" dirty="0">
                <a:solidFill>
                  <a:srgbClr val="E8ECF2"/>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CF2"/>
                </a:solidFill>
                <a:latin typeface="JetBrains Mono" pitchFamily="49" charset="0"/>
                <a:ea typeface="JetBrains Mono" pitchFamily="49" charset="-122"/>
                <a:cs typeface="JetBrains Mono" pitchFamily="49" charset="-120"/>
              </a:rPr>
              <a:t>  </a:t>
            </a:r>
            <a:r>
              <a:rPr lang="en-US" sz="1600" dirty="0">
                <a:solidFill>
                  <a:srgbClr val="7F8BA3"/>
                </a:solidFill>
                <a:latin typeface="JetBrains Mono" pitchFamily="49" charset="0"/>
                <a:ea typeface="JetBrains Mono" pitchFamily="49" charset="-122"/>
                <a:cs typeface="JetBrains Mono" pitchFamily="49" charset="-120"/>
              </a:rPr>
              <a:t>; function body</a:t>
            </a:r>
            <a:endParaRPr lang="en-US" sz="1600" dirty="0"/>
          </a:p>
          <a:p>
            <a:pPr algn="l" indent="0" marL="0">
              <a:lnSpc>
                <a:spcPts val="2560"/>
              </a:lnSpc>
              <a:buNone/>
            </a:pPr>
            <a:r>
              <a:rPr lang="en-US" sz="1600" dirty="0">
                <a:solidFill>
                  <a:srgbClr val="E8ECF2"/>
                </a:solidFill>
                <a:latin typeface="JetBrains Mono" pitchFamily="49" charset="0"/>
                <a:ea typeface="JetBrains Mono" pitchFamily="49" charset="-122"/>
                <a:cs typeface="JetBrains Mono" pitchFamily="49" charset="-120"/>
              </a:rPr>
              <a:t>)</a:t>
            </a:r>
            <a:endParaRPr lang="en-US" sz="1600" dirty="0"/>
          </a:p>
        </p:txBody>
      </p:sp>
      <p:sp>
        <p:nvSpPr>
          <p:cNvPr id="7" name="Text 5"/>
          <p:cNvSpPr/>
          <p:nvPr/>
        </p:nvSpPr>
        <p:spPr>
          <a:xfrm>
            <a:off x="6553200" y="4487949"/>
            <a:ext cx="497078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7DA"/>
                </a:solidFill>
                <a:latin typeface="IBM Plex Sans" pitchFamily="34" charset="0"/>
                <a:ea typeface="IBM Plex Sans" pitchFamily="34" charset="-122"/>
                <a:cs typeface="IBM Plex Sans" pitchFamily="34" charset="-120"/>
              </a:rPr>
              <a:t>Call it like any built-in: </a:t>
            </a:r>
            <a:r>
              <a:rPr lang="en-US" sz="1400" dirty="0">
                <a:solidFill>
                  <a:srgbClr val="F7F6F2"/>
                </a:solidFill>
                <a:latin typeface="IBM Plex Sans" pitchFamily="34" charset="0"/>
                <a:ea typeface="IBM Plex Sans" pitchFamily="34" charset="-122"/>
                <a:cs typeface="IBM Plex Sans" pitchFamily="34" charset="-120"/>
              </a:rPr>
              <a:t>(function-name arg1 arg2)</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7.3 · EXAMPLE 1</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Add two numbers</a:t>
            </a:r>
            <a:endParaRPr lang="en-US" sz="3200" dirty="0"/>
          </a:p>
        </p:txBody>
      </p:sp>
      <p:sp>
        <p:nvSpPr>
          <p:cNvPr id="4" name="Text 2"/>
          <p:cNvSpPr/>
          <p:nvPr/>
        </p:nvSpPr>
        <p:spPr>
          <a:xfrm>
            <a:off x="812800" y="1816013"/>
            <a:ext cx="10566400" cy="1656027"/>
          </a:xfrm>
          <a:prstGeom prst="roundRect">
            <a:avLst>
              <a:gd name="adj" fmla="val 6135"/>
            </a:avLst>
          </a:prstGeom>
          <a:solidFill>
            <a:srgbClr val="1B2333"/>
          </a:solidFill>
          <a:ln/>
        </p:spPr>
        <p:txBody>
          <a:bodyPr wrap="square" lIns="275042" tIns="249642" rIns="0" bIns="224242" rtlCol="0" anchor="t">
            <a:normAutofit/>
          </a:bodyPr>
          <a:lstStyle/>
          <a:p>
            <a:pPr algn="l" indent="0" marL="0">
              <a:lnSpc>
                <a:spcPts val="2880"/>
              </a:lnSpc>
              <a:buNone/>
            </a:pPr>
            <a:r>
              <a:rPr lang="en-US" sz="1800" dirty="0">
                <a:solidFill>
                  <a:srgbClr val="E8ECF2"/>
                </a:solidFill>
                <a:latin typeface="JetBrains Mono" pitchFamily="49" charset="0"/>
                <a:ea typeface="JetBrains Mono" pitchFamily="49" charset="-122"/>
                <a:cs typeface="JetBrains Mono" pitchFamily="49" charset="-120"/>
              </a:rPr>
              <a:t>(</a:t>
            </a:r>
            <a:r>
              <a:rPr lang="en-US" sz="1800" dirty="0">
                <a:solidFill>
                  <a:srgbClr val="7FB3F0"/>
                </a:solidFill>
                <a:latin typeface="JetBrains Mono" pitchFamily="49" charset="0"/>
                <a:ea typeface="JetBrains Mono" pitchFamily="49" charset="-122"/>
                <a:cs typeface="JetBrains Mono" pitchFamily="49" charset="-120"/>
              </a:rPr>
              <a:t>deffunction</a:t>
            </a:r>
            <a:r>
              <a:rPr lang="en-US" sz="1800" dirty="0">
                <a:solidFill>
                  <a:srgbClr val="E8ECF2"/>
                </a:solidFill>
                <a:latin typeface="JetBrains Mono" pitchFamily="49" charset="0"/>
                <a:ea typeface="JetBrains Mono" pitchFamily="49" charset="-122"/>
                <a:cs typeface="JetBrains Mono" pitchFamily="49" charset="-120"/>
              </a:rPr>
              <a:t> add-numbers (</a:t>
            </a:r>
            <a:r>
              <a:rPr lang="en-US" sz="1800" dirty="0">
                <a:solidFill>
                  <a:srgbClr val="E8913A"/>
                </a:solidFill>
                <a:latin typeface="JetBrains Mono" pitchFamily="49" charset="0"/>
                <a:ea typeface="JetBrains Mono" pitchFamily="49" charset="-122"/>
                <a:cs typeface="JetBrains Mono" pitchFamily="49" charset="-120"/>
              </a:rPr>
              <a:t>?a ?b</a:t>
            </a:r>
            <a:r>
              <a:rPr lang="en-US" sz="1800" dirty="0">
                <a:solidFill>
                  <a:srgbClr val="E8ECF2"/>
                </a:solidFill>
                <a:latin typeface="JetBrains Mono" pitchFamily="49" charset="0"/>
                <a:ea typeface="JetBrains Mono" pitchFamily="49" charset="-122"/>
                <a:cs typeface="JetBrains Mono" pitchFamily="49" charset="-120"/>
              </a:rPr>
              <a:t>)</a:t>
            </a:r>
            <a:endParaRPr lang="en-US" sz="1800" dirty="0"/>
          </a:p>
          <a:p>
            <a:pPr algn="l" indent="0" marL="0">
              <a:lnSpc>
                <a:spcPts val="2880"/>
              </a:lnSpc>
              <a:buNone/>
            </a:pPr>
            <a:r>
              <a:rPr lang="en-US" sz="1800" dirty="0">
                <a:solidFill>
                  <a:srgbClr val="E8ECF2"/>
                </a:solidFill>
                <a:latin typeface="JetBrains Mono" pitchFamily="49" charset="0"/>
                <a:ea typeface="JetBrains Mono" pitchFamily="49" charset="-122"/>
                <a:cs typeface="JetBrains Mono" pitchFamily="49" charset="-120"/>
              </a:rPr>
              <a:t>  (printout t ?a " + " ?b " = " (+ ?a ?b) crlf)</a:t>
            </a:r>
            <a:endParaRPr lang="en-US" sz="1800" dirty="0"/>
          </a:p>
          <a:p>
            <a:pPr algn="l" indent="0" marL="0">
              <a:lnSpc>
                <a:spcPts val="2880"/>
              </a:lnSpc>
              <a:buNone/>
            </a:pPr>
            <a:r>
              <a:rPr lang="en-US" sz="1800" dirty="0">
                <a:solidFill>
                  <a:srgbClr val="E8ECF2"/>
                </a:solidFill>
                <a:latin typeface="JetBrains Mono" pitchFamily="49" charset="0"/>
                <a:ea typeface="JetBrains Mono" pitchFamily="49" charset="-122"/>
                <a:cs typeface="JetBrains Mono" pitchFamily="49" charset="-120"/>
              </a:rPr>
              <a:t>)</a:t>
            </a:r>
            <a:endParaRPr lang="en-US" sz="1800" dirty="0"/>
          </a:p>
        </p:txBody>
      </p:sp>
      <p:sp>
        <p:nvSpPr>
          <p:cNvPr id="5" name="Shape 3"/>
          <p:cNvSpPr/>
          <p:nvPr/>
        </p:nvSpPr>
        <p:spPr>
          <a:xfrm>
            <a:off x="819150" y="3681586"/>
            <a:ext cx="5180189" cy="1094317"/>
          </a:xfrm>
          <a:prstGeom prst="roundRect">
            <a:avLst>
              <a:gd name="adj" fmla="val 8704"/>
            </a:avLst>
          </a:prstGeom>
          <a:solidFill>
            <a:srgbClr val="FFFFFF"/>
          </a:solidFill>
          <a:ln w="12700">
            <a:solidFill>
              <a:srgbClr val="D7DEE9"/>
            </a:solidFill>
            <a:prstDash val="solid"/>
          </a:ln>
        </p:spPr>
      </p:sp>
      <p:sp>
        <p:nvSpPr>
          <p:cNvPr id="6" name="Text 4"/>
          <p:cNvSpPr/>
          <p:nvPr/>
        </p:nvSpPr>
        <p:spPr>
          <a:xfrm>
            <a:off x="1052689" y="3915135"/>
            <a:ext cx="4854504"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CALL</a:t>
            </a:r>
            <a:endParaRPr lang="en-US" sz="1300" dirty="0"/>
          </a:p>
        </p:txBody>
      </p:sp>
      <p:sp>
        <p:nvSpPr>
          <p:cNvPr id="7" name="Text 5"/>
          <p:cNvSpPr/>
          <p:nvPr/>
        </p:nvSpPr>
        <p:spPr>
          <a:xfrm>
            <a:off x="1052689" y="4222403"/>
            <a:ext cx="4854504" cy="34536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JetBrains Mono" pitchFamily="49" charset="0"/>
                <a:ea typeface="JetBrains Mono" pitchFamily="49" charset="-122"/>
                <a:cs typeface="JetBrains Mono" pitchFamily="49" charset="-120"/>
              </a:rPr>
              <a:t>(add-numbers 4 6)</a:t>
            </a:r>
            <a:endParaRPr lang="en-US" sz="1800" dirty="0"/>
          </a:p>
        </p:txBody>
      </p:sp>
      <p:sp>
        <p:nvSpPr>
          <p:cNvPr id="8" name="Shape 6"/>
          <p:cNvSpPr/>
          <p:nvPr/>
        </p:nvSpPr>
        <p:spPr>
          <a:xfrm>
            <a:off x="6208889" y="3675236"/>
            <a:ext cx="5170311" cy="1107017"/>
          </a:xfrm>
          <a:prstGeom prst="roundRect">
            <a:avLst>
              <a:gd name="adj" fmla="val 9178"/>
            </a:avLst>
          </a:prstGeom>
          <a:solidFill>
            <a:srgbClr val="FFF1E3"/>
          </a:solidFill>
          <a:ln/>
        </p:spPr>
      </p:sp>
      <p:sp>
        <p:nvSpPr>
          <p:cNvPr id="9" name="Text 7"/>
          <p:cNvSpPr/>
          <p:nvPr/>
        </p:nvSpPr>
        <p:spPr>
          <a:xfrm>
            <a:off x="6437489" y="3903836"/>
            <a:ext cx="4854504"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9A4A0C"/>
                </a:solidFill>
                <a:latin typeface="IBM Plex Sans" pitchFamily="34" charset="0"/>
                <a:ea typeface="IBM Plex Sans" pitchFamily="34" charset="-122"/>
                <a:cs typeface="IBM Plex Sans" pitchFamily="34" charset="-120"/>
              </a:rPr>
              <a:t>OUTPUT</a:t>
            </a:r>
            <a:endParaRPr lang="en-US" sz="1300" dirty="0"/>
          </a:p>
        </p:txBody>
      </p:sp>
      <p:sp>
        <p:nvSpPr>
          <p:cNvPr id="10" name="Text 8"/>
          <p:cNvSpPr/>
          <p:nvPr/>
        </p:nvSpPr>
        <p:spPr>
          <a:xfrm>
            <a:off x="6437489" y="4211104"/>
            <a:ext cx="4854504" cy="34536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C3410"/>
                </a:solidFill>
                <a:latin typeface="JetBrains Mono" pitchFamily="49" charset="0"/>
                <a:ea typeface="JetBrains Mono" pitchFamily="49" charset="-122"/>
                <a:cs typeface="JetBrains Mono" pitchFamily="49" charset="-120"/>
              </a:rPr>
              <a:t>4 + 6 = 10</a:t>
            </a:r>
            <a:endParaRPr lang="en-US" sz="1800" dirty="0"/>
          </a:p>
        </p:txBody>
      </p:sp>
      <p:sp>
        <p:nvSpPr>
          <p:cNvPr id="11" name="Text 9"/>
          <p:cNvSpPr/>
          <p:nvPr/>
        </p:nvSpPr>
        <p:spPr>
          <a:xfrm>
            <a:off x="812800" y="4985457"/>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The body is one </a:t>
            </a:r>
            <a:r>
              <a:rPr lang="en-US" sz="1400" b="1" dirty="0">
                <a:solidFill>
                  <a:srgbClr val="3D4A5F"/>
                </a:solidFill>
                <a:latin typeface="IBM Plex Sans" pitchFamily="34" charset="0"/>
                <a:ea typeface="IBM Plex Sans" pitchFamily="34" charset="-122"/>
                <a:cs typeface="IBM Plex Sans" pitchFamily="34" charset="-120"/>
              </a:rPr>
              <a:t>printout</a:t>
            </a:r>
            <a:r>
              <a:rPr lang="en-US" sz="1400" dirty="0">
                <a:solidFill>
                  <a:srgbClr val="3D4A5F"/>
                </a:solidFill>
                <a:latin typeface="IBM Plex Sans" pitchFamily="34" charset="0"/>
                <a:ea typeface="IBM Plex Sans" pitchFamily="34" charset="-122"/>
                <a:cs typeface="IBM Plex Sans" pitchFamily="34" charset="-120"/>
              </a:rPr>
              <a:t> action mixing strings, the parameters and the expression </a:t>
            </a:r>
            <a:r>
              <a:rPr lang="en-US" sz="1400" b="1" dirty="0">
                <a:solidFill>
                  <a:srgbClr val="3D4A5F"/>
                </a:solidFill>
                <a:latin typeface="IBM Plex Sans" pitchFamily="34" charset="0"/>
                <a:ea typeface="IBM Plex Sans" pitchFamily="34" charset="-122"/>
                <a:cs typeface="IBM Plex Sans" pitchFamily="34" charset="-120"/>
              </a:rPr>
              <a:t>(+ ?a ?b)</a:t>
            </a:r>
            <a:r>
              <a:rPr lang="en-US" sz="1400" dirty="0">
                <a:solidFill>
                  <a:srgbClr val="3D4A5F"/>
                </a:solidFill>
                <a:latin typeface="IBM Plex Sans" pitchFamily="34" charset="0"/>
                <a:ea typeface="IBM Plex Sans" pitchFamily="34" charset="-122"/>
                <a:cs typeface="IBM Plex Sans" pitchFamily="34" charset="-120"/>
              </a:rPr>
              <a:t>.</a:t>
            </a:r>
            <a:endParaRPr lang="en-US" sz="1400" dirty="0"/>
          </a:p>
        </p:txBody>
      </p:sp>
      <p:sp>
        <p:nvSpPr>
          <p:cNvPr id="12" name="Text 10"/>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7.3 · EXAMPLE 2</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Check number type</a:t>
            </a:r>
            <a:endParaRPr lang="en-US" sz="3200" dirty="0"/>
          </a:p>
        </p:txBody>
      </p:sp>
      <p:sp>
        <p:nvSpPr>
          <p:cNvPr id="4" name="Text 2"/>
          <p:cNvSpPr/>
          <p:nvPr/>
        </p:nvSpPr>
        <p:spPr>
          <a:xfrm>
            <a:off x="812800" y="1816013"/>
            <a:ext cx="6375400" cy="2498990"/>
          </a:xfrm>
          <a:prstGeom prst="roundRect">
            <a:avLst>
              <a:gd name="adj" fmla="val 4066"/>
            </a:avLst>
          </a:prstGeom>
          <a:solidFill>
            <a:srgbClr val="1B2333"/>
          </a:solidFill>
          <a:ln/>
        </p:spPr>
        <p:txBody>
          <a:bodyPr wrap="square" lIns="249642" tIns="224242" rIns="75144" bIns="198842" rtlCol="0" anchor="t">
            <a:normAutofit/>
          </a:bodyPr>
          <a:lstStyle/>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a:t>
            </a:r>
            <a:r>
              <a:rPr lang="en-US" sz="1400" dirty="0">
                <a:solidFill>
                  <a:srgbClr val="7FB3F0"/>
                </a:solidFill>
                <a:latin typeface="JetBrains Mono" pitchFamily="49" charset="0"/>
                <a:ea typeface="JetBrains Mono" pitchFamily="49" charset="-122"/>
                <a:cs typeface="JetBrains Mono" pitchFamily="49" charset="-120"/>
              </a:rPr>
              <a:t>deffunction</a:t>
            </a:r>
            <a:r>
              <a:rPr lang="en-US" sz="1400" dirty="0">
                <a:solidFill>
                  <a:srgbClr val="E8ECF2"/>
                </a:solidFill>
                <a:latin typeface="JetBrains Mono" pitchFamily="49" charset="0"/>
                <a:ea typeface="JetBrains Mono" pitchFamily="49" charset="-122"/>
                <a:cs typeface="JetBrains Mono" pitchFamily="49" charset="-120"/>
              </a:rPr>
              <a:t> check-num (</a:t>
            </a:r>
            <a:r>
              <a:rPr lang="en-US" sz="1400" dirty="0">
                <a:solidFill>
                  <a:srgbClr val="E8913A"/>
                </a:solidFill>
                <a:latin typeface="JetBrains Mono" pitchFamily="49" charset="0"/>
                <a:ea typeface="JetBrains Mono" pitchFamily="49" charset="-122"/>
                <a:cs typeface="JetBrains Mono" pitchFamily="49" charset="-120"/>
              </a:rPr>
              <a:t>?n</a:t>
            </a:r>
            <a:r>
              <a:rPr lang="en-US" sz="1400" dirty="0">
                <a:solidFill>
                  <a:srgbClr val="E8ECF2"/>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(if (numberp ?n) then</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(if (= ?n 0) then Zero</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else (if (&gt; ?n 0) then Positive</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else Negative))</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else</a:t>
            </a:r>
            <a:endParaRPr lang="en-US" sz="1400" dirty="0"/>
          </a:p>
          <a:p>
            <a:pPr algn="l" indent="0" marL="0">
              <a:lnSpc>
                <a:spcPts val="2240"/>
              </a:lnSpc>
              <a:buNone/>
            </a:pPr>
            <a:r>
              <a:rPr lang="en-US" sz="1400" dirty="0">
                <a:solidFill>
                  <a:srgbClr val="E8ECF2"/>
                </a:solidFill>
                <a:latin typeface="JetBrains Mono" pitchFamily="49" charset="0"/>
                <a:ea typeface="JetBrains Mono" pitchFamily="49" charset="-122"/>
                <a:cs typeface="JetBrains Mono" pitchFamily="49" charset="-120"/>
              </a:rPr>
              <a:t>      Non-numeric))</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53489" y="1827302"/>
          <a:ext cx="3925711" cy="1922639"/>
        </p:xfrm>
        <a:graphic>
          <a:graphicData uri="http://schemas.openxmlformats.org/drawingml/2006/table">
            <a:tbl>
              <a:tblPr/>
              <a:tblGrid>
                <a:gridCol w="2276912"/>
                <a:gridCol w="1648799"/>
              </a:tblGrid>
              <a:tr h="384528">
                <a:tc>
                  <a:txBody>
                    <a:bodyPr/>
                    <a:lstStyle/>
                    <a:p>
                      <a:pPr indent="0" marL="0">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Call</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indent="0" marL="0">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Returns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(check-num 3)</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Positive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(check-num -5)</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Negative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(check-num 0)</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Zero</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1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4528">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(check-num one)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indent="0" marL="0">
                        <a:lnSpc>
                          <a:spcPts val="1960"/>
                        </a:lnSpc>
                        <a:buNone/>
                      </a:pPr>
                      <a:r>
                        <a:rPr lang="en-US" sz="1400" dirty="0">
                          <a:solidFill>
                            <a:srgbClr val="1E2A3F"/>
                          </a:solidFill>
                          <a:latin typeface="JetBrains Mono" pitchFamily="49" charset="0"/>
                          <a:ea typeface="JetBrains Mono" pitchFamily="49" charset="-122"/>
                          <a:cs typeface="JetBrains Mono" pitchFamily="49" charset="-120"/>
                        </a:rPr>
                        <a:t>Non-numeric</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bl>
          </a:graphicData>
        </a:graphic>
      </p:graphicFrame>
      <p:sp>
        <p:nvSpPr>
          <p:cNvPr id="6" name="Text 3"/>
          <p:cNvSpPr/>
          <p:nvPr/>
        </p:nvSpPr>
        <p:spPr>
          <a:xfrm>
            <a:off x="812800" y="4518199"/>
            <a:ext cx="10883392" cy="27428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F"/>
                </a:solidFill>
                <a:latin typeface="IBM Plex Sans" pitchFamily="34" charset="0"/>
                <a:ea typeface="IBM Plex Sans" pitchFamily="34" charset="-122"/>
                <a:cs typeface="IBM Plex Sans" pitchFamily="34" charset="-120"/>
              </a:rPr>
              <a:t>numberp</a:t>
            </a:r>
            <a:r>
              <a:rPr lang="en-US" sz="1400" dirty="0">
                <a:solidFill>
                  <a:srgbClr val="3D4A5F"/>
                </a:solidFill>
                <a:latin typeface="IBM Plex Sans" pitchFamily="34" charset="0"/>
                <a:ea typeface="IBM Plex Sans" pitchFamily="34" charset="-122"/>
                <a:cs typeface="IBM Plex Sans" pitchFamily="34" charset="-120"/>
              </a:rPr>
              <a:t> guards the comparisons, so a symbol like </a:t>
            </a:r>
            <a:r>
              <a:rPr lang="en-US" sz="1400" b="1" dirty="0">
                <a:solidFill>
                  <a:srgbClr val="3D4A5F"/>
                </a:solidFill>
                <a:latin typeface="IBM Plex Sans" pitchFamily="34" charset="0"/>
                <a:ea typeface="IBM Plex Sans" pitchFamily="34" charset="-122"/>
                <a:cs typeface="IBM Plex Sans" pitchFamily="34" charset="-120"/>
              </a:rPr>
              <a:t>one</a:t>
            </a:r>
            <a:r>
              <a:rPr lang="en-US" sz="1400" dirty="0">
                <a:solidFill>
                  <a:srgbClr val="3D4A5F"/>
                </a:solidFill>
                <a:latin typeface="IBM Plex Sans" pitchFamily="34" charset="0"/>
                <a:ea typeface="IBM Plex Sans" pitchFamily="34" charset="-122"/>
                <a:cs typeface="IBM Plex Sans" pitchFamily="34" charset="-120"/>
              </a:rPr>
              <a:t> never reaches </a:t>
            </a:r>
            <a:r>
              <a:rPr lang="en-US" sz="1400" b="1" dirty="0">
                <a:solidFill>
                  <a:srgbClr val="3D4A5F"/>
                </a:solidFill>
                <a:latin typeface="IBM Plex Sans" pitchFamily="34" charset="0"/>
                <a:ea typeface="IBM Plex Sans" pitchFamily="34" charset="-122"/>
                <a:cs typeface="IBM Plex Sans" pitchFamily="34" charset="-120"/>
              </a:rPr>
              <a:t>&gt;</a:t>
            </a:r>
            <a:r>
              <a:rPr lang="en-US" sz="1400" dirty="0">
                <a:solidFill>
                  <a:srgbClr val="3D4A5F"/>
                </a:solidFill>
                <a:latin typeface="IBM Plex Sans" pitchFamily="34" charset="0"/>
                <a:ea typeface="IBM Plex Sans" pitchFamily="34" charset="-122"/>
                <a:cs typeface="IBM Plex Sans" pitchFamily="34" charset="-120"/>
              </a:rPr>
              <a:t> and causes no error.</a:t>
            </a:r>
            <a:endParaRPr lang="en-US" sz="1400" dirty="0"/>
          </a:p>
        </p:txBody>
      </p:sp>
      <p:sp>
        <p:nvSpPr>
          <p:cNvPr id="7" name="Text 4"/>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2" cy="25646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B6CB0"/>
                </a:solidFill>
                <a:latin typeface="IBM Plex Sans" pitchFamily="34" charset="0"/>
                <a:ea typeface="IBM Plex Sans" pitchFamily="34" charset="-122"/>
                <a:cs typeface="IBM Plex Sans" pitchFamily="34" charset="-120"/>
              </a:rPr>
              <a:t>7.3 · EXAMPLE 3</a:t>
            </a:r>
            <a:endParaRPr lang="en-US" sz="1300" dirty="0"/>
          </a:p>
        </p:txBody>
      </p:sp>
      <p:sp>
        <p:nvSpPr>
          <p:cNvPr id="3" name="Text 1"/>
          <p:cNvSpPr/>
          <p:nvPr>
            <p:ph type="title"/>
          </p:nvPr>
        </p:nvSpPr>
        <p:spPr>
          <a:xfrm>
            <a:off x="812800" y="1145468"/>
            <a:ext cx="10883392"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IBM Plex Sans" pitchFamily="34" charset="0"/>
                <a:ea typeface="IBM Plex Sans" pitchFamily="34" charset="-122"/>
                <a:cs typeface="IBM Plex Sans" pitchFamily="34" charset="-120"/>
              </a:rPr>
              <a:t>Recursive example: factorial</a:t>
            </a:r>
            <a:endParaRPr lang="en-US" sz="3200" dirty="0"/>
          </a:p>
        </p:txBody>
      </p:sp>
      <p:sp>
        <p:nvSpPr>
          <p:cNvPr id="4" name="Text 2"/>
          <p:cNvSpPr/>
          <p:nvPr/>
        </p:nvSpPr>
        <p:spPr>
          <a:xfrm>
            <a:off x="812800" y="1816013"/>
            <a:ext cx="6756400" cy="1727200"/>
          </a:xfrm>
          <a:prstGeom prst="roundRect">
            <a:avLst>
              <a:gd name="adj" fmla="val 5882"/>
            </a:avLst>
          </a:prstGeom>
          <a:solidFill>
            <a:srgbClr val="1B2333"/>
          </a:solidFill>
          <a:ln/>
        </p:spPr>
        <p:txBody>
          <a:bodyPr wrap="square" lIns="249642" tIns="224242" rIns="63714" bIns="198842" rtlCol="0" anchor="t">
            <a:normAutofit/>
          </a:bodyPr>
          <a:lstStyle/>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a:t>
            </a:r>
            <a:r>
              <a:rPr lang="en-US" sz="1500" dirty="0">
                <a:solidFill>
                  <a:srgbClr val="7FB3F0"/>
                </a:solidFill>
                <a:latin typeface="JetBrains Mono" pitchFamily="49" charset="0"/>
                <a:ea typeface="JetBrains Mono" pitchFamily="49" charset="-122"/>
                <a:cs typeface="JetBrains Mono" pitchFamily="49" charset="-120"/>
              </a:rPr>
              <a:t>deffunction</a:t>
            </a:r>
            <a:r>
              <a:rPr lang="en-US" sz="1500" dirty="0">
                <a:solidFill>
                  <a:srgbClr val="E8ECF2"/>
                </a:solidFill>
                <a:latin typeface="JetBrains Mono" pitchFamily="49" charset="0"/>
                <a:ea typeface="JetBrains Mono" pitchFamily="49" charset="-122"/>
                <a:cs typeface="JetBrains Mono" pitchFamily="49" charset="-120"/>
              </a:rPr>
              <a:t> factorial (</a:t>
            </a:r>
            <a:r>
              <a:rPr lang="en-US" sz="1500" dirty="0">
                <a:solidFill>
                  <a:srgbClr val="E8913A"/>
                </a:solidFill>
                <a:latin typeface="JetBrains Mono" pitchFamily="49" charset="0"/>
                <a:ea typeface="JetBrains Mono" pitchFamily="49" charset="-122"/>
                <a:cs typeface="JetBrains Mono" pitchFamily="49" charset="-120"/>
              </a:rPr>
              <a:t>?n</a:t>
            </a:r>
            <a:r>
              <a:rPr lang="en-US" sz="1500" dirty="0">
                <a:solidFill>
                  <a:srgbClr val="E8ECF2"/>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  (if (= ?n 0) then 1</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      else (* ?n (</a:t>
            </a:r>
            <a:r>
              <a:rPr lang="en-US" sz="1500" dirty="0">
                <a:solidFill>
                  <a:srgbClr val="E8913A"/>
                </a:solidFill>
                <a:latin typeface="JetBrains Mono" pitchFamily="49" charset="0"/>
                <a:ea typeface="JetBrains Mono" pitchFamily="49" charset="-122"/>
                <a:cs typeface="JetBrains Mono" pitchFamily="49" charset="-120"/>
              </a:rPr>
              <a:t>factorial</a:t>
            </a:r>
            <a:r>
              <a:rPr lang="en-US" sz="1500" dirty="0">
                <a:solidFill>
                  <a:srgbClr val="E8ECF2"/>
                </a:solidFill>
                <a:latin typeface="JetBrains Mono" pitchFamily="49" charset="0"/>
                <a:ea typeface="JetBrains Mono" pitchFamily="49" charset="-122"/>
                <a:cs typeface="JetBrains Mono" pitchFamily="49" charset="-120"/>
              </a:rPr>
              <a:t> (- ?n 1))))</a:t>
            </a:r>
            <a:endParaRPr lang="en-US" sz="1500" dirty="0"/>
          </a:p>
          <a:p>
            <a:pPr algn="l" indent="0" marL="0">
              <a:lnSpc>
                <a:spcPts val="2400"/>
              </a:lnSpc>
              <a:buNone/>
            </a:pPr>
            <a:r>
              <a:rPr lang="en-US" sz="1500" dirty="0">
                <a:solidFill>
                  <a:srgbClr val="E8ECF2"/>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812800" y="3670213"/>
            <a:ext cx="6756400" cy="640027"/>
          </a:xfrm>
          <a:prstGeom prst="roundRect">
            <a:avLst>
              <a:gd name="adj" fmla="val 15874"/>
            </a:avLst>
          </a:prstGeom>
          <a:solidFill>
            <a:srgbClr val="FFF1E3"/>
          </a:solidFill>
          <a:ln/>
        </p:spPr>
        <p:txBody>
          <a:bodyPr wrap="square" lIns="249642" tIns="135342" rIns="249642" bIns="135342" rtlCol="0" anchor="ctr">
            <a:normAutofit/>
          </a:bodyPr>
          <a:lstStyle/>
          <a:p>
            <a:pPr algn="l" indent="0" marL="0">
              <a:lnSpc>
                <a:spcPts val="2240"/>
              </a:lnSpc>
              <a:buNone/>
            </a:pPr>
            <a:r>
              <a:rPr lang="en-US" sz="1600" dirty="0">
                <a:solidFill>
                  <a:srgbClr val="5C3410"/>
                </a:solidFill>
                <a:latin typeface="JetBrains Mono" pitchFamily="49" charset="0"/>
                <a:ea typeface="JetBrains Mono" pitchFamily="49" charset="-122"/>
                <a:cs typeface="JetBrains Mono" pitchFamily="49" charset="-120"/>
              </a:rPr>
              <a:t>(factorial 5) → </a:t>
            </a:r>
            <a:r>
              <a:rPr lang="en-US" sz="1600" b="1" dirty="0">
                <a:solidFill>
                  <a:srgbClr val="5C3410"/>
                </a:solidFill>
                <a:latin typeface="JetBrains Mono" pitchFamily="49" charset="0"/>
                <a:ea typeface="JetBrains Mono" pitchFamily="49" charset="-122"/>
                <a:cs typeface="JetBrains Mono" pitchFamily="49" charset="-120"/>
              </a:rPr>
              <a:t>120</a:t>
            </a:r>
            <a:endParaRPr lang="en-US" sz="1600" dirty="0"/>
          </a:p>
        </p:txBody>
      </p:sp>
      <p:sp>
        <p:nvSpPr>
          <p:cNvPr id="6" name="Shape 4"/>
          <p:cNvSpPr/>
          <p:nvPr/>
        </p:nvSpPr>
        <p:spPr>
          <a:xfrm>
            <a:off x="7829550" y="1822363"/>
            <a:ext cx="3543300" cy="2481527"/>
          </a:xfrm>
          <a:prstGeom prst="roundRect">
            <a:avLst>
              <a:gd name="adj" fmla="val 3838"/>
            </a:avLst>
          </a:prstGeom>
          <a:solidFill>
            <a:srgbClr val="FFFFFF"/>
          </a:solidFill>
          <a:ln w="12700">
            <a:solidFill>
              <a:srgbClr val="D7DEE9"/>
            </a:solidFill>
            <a:prstDash val="solid"/>
          </a:ln>
        </p:spPr>
      </p:sp>
      <p:sp>
        <p:nvSpPr>
          <p:cNvPr id="7" name="Text 5"/>
          <p:cNvSpPr/>
          <p:nvPr/>
        </p:nvSpPr>
        <p:spPr>
          <a:xfrm>
            <a:off x="8063089" y="2055899"/>
            <a:ext cx="3168509"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IBM Plex Sans" pitchFamily="34" charset="0"/>
                <a:ea typeface="IBM Plex Sans" pitchFamily="34" charset="-122"/>
                <a:cs typeface="IBM Plex Sans" pitchFamily="34" charset="-120"/>
              </a:rPr>
              <a:t>How it unfolds</a:t>
            </a:r>
            <a:endParaRPr lang="en-US" sz="1600" dirty="0"/>
          </a:p>
        </p:txBody>
      </p:sp>
      <p:sp>
        <p:nvSpPr>
          <p:cNvPr id="8" name="Text 6"/>
          <p:cNvSpPr/>
          <p:nvPr/>
        </p:nvSpPr>
        <p:spPr>
          <a:xfrm>
            <a:off x="8063089" y="2375867"/>
            <a:ext cx="3168509" cy="1610254"/>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5 × factorial(4)</a:t>
            </a:r>
            <a:endParaRPr lang="en-US" sz="1300" dirty="0"/>
          </a:p>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5 × 4 × factorial(3)</a:t>
            </a:r>
            <a:endParaRPr lang="en-US" sz="1300" dirty="0"/>
          </a:p>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5 × 4 × 3 × factorial(2)</a:t>
            </a:r>
            <a:endParaRPr lang="en-US" sz="1300" dirty="0"/>
          </a:p>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5 × 4 × 3 × 2 × factorial(1)</a:t>
            </a:r>
            <a:endParaRPr lang="en-US" sz="1300" dirty="0"/>
          </a:p>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5 × 4 × 3 × 2 × 1 × </a:t>
            </a:r>
            <a:r>
              <a:rPr lang="en-US" sz="1300" dirty="0">
                <a:solidFill>
                  <a:srgbClr val="C2621A"/>
                </a:solidFill>
                <a:latin typeface="JetBrains Mono" pitchFamily="49" charset="0"/>
                <a:ea typeface="JetBrains Mono" pitchFamily="49" charset="-122"/>
                <a:cs typeface="JetBrains Mono" pitchFamily="49" charset="-120"/>
              </a:rPr>
              <a:t>1</a:t>
            </a:r>
            <a:endParaRPr lang="en-US" sz="1300" dirty="0"/>
          </a:p>
          <a:p>
            <a:pPr algn="l" indent="0" marL="0">
              <a:lnSpc>
                <a:spcPts val="2080"/>
              </a:lnSpc>
              <a:buNone/>
            </a:pPr>
            <a:r>
              <a:rPr lang="en-US" sz="1300" dirty="0">
                <a:solidFill>
                  <a:srgbClr val="14213D"/>
                </a:solidFill>
                <a:latin typeface="JetBrains Mono" pitchFamily="49" charset="0"/>
                <a:ea typeface="JetBrains Mono" pitchFamily="49" charset="-122"/>
                <a:cs typeface="JetBrains Mono" pitchFamily="49" charset="-120"/>
              </a:rPr>
              <a:t>= </a:t>
            </a:r>
            <a:r>
              <a:rPr lang="en-US" sz="1300" b="1" dirty="0">
                <a:solidFill>
                  <a:srgbClr val="14213D"/>
                </a:solidFill>
                <a:latin typeface="JetBrains Mono" pitchFamily="49" charset="0"/>
                <a:ea typeface="JetBrains Mono" pitchFamily="49" charset="-122"/>
                <a:cs typeface="JetBrains Mono" pitchFamily="49" charset="-120"/>
              </a:rPr>
              <a:t>120</a:t>
            </a:r>
            <a:endParaRPr lang="en-US" sz="1300" dirty="0"/>
          </a:p>
        </p:txBody>
      </p:sp>
      <p:sp>
        <p:nvSpPr>
          <p:cNvPr id="9" name="Text 7"/>
          <p:cNvSpPr/>
          <p:nvPr/>
        </p:nvSpPr>
        <p:spPr>
          <a:xfrm>
            <a:off x="812800" y="4513436"/>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F"/>
                </a:solidFill>
                <a:latin typeface="IBM Plex Sans" pitchFamily="34" charset="0"/>
                <a:ea typeface="IBM Plex Sans" pitchFamily="34" charset="-122"/>
                <a:cs typeface="IBM Plex Sans" pitchFamily="34" charset="-120"/>
              </a:rPr>
              <a:t>The function calls itself with a smaller number until it reaches the </a:t>
            </a:r>
            <a:r>
              <a:rPr lang="en-US" sz="1400" b="1" dirty="0">
                <a:solidFill>
                  <a:srgbClr val="3D4A5F"/>
                </a:solidFill>
                <a:latin typeface="IBM Plex Sans" pitchFamily="34" charset="0"/>
                <a:ea typeface="IBM Plex Sans" pitchFamily="34" charset="-122"/>
                <a:cs typeface="IBM Plex Sans" pitchFamily="34" charset="-120"/>
              </a:rPr>
              <a:t>base case</a:t>
            </a:r>
            <a:r>
              <a:rPr lang="en-US" sz="1400" dirty="0">
                <a:solidFill>
                  <a:srgbClr val="3D4A5F"/>
                </a:solidFill>
                <a:latin typeface="IBM Plex Sans" pitchFamily="34" charset="0"/>
                <a:ea typeface="IBM Plex Sans" pitchFamily="34" charset="-122"/>
                <a:cs typeface="IBM Plex Sans" pitchFamily="34" charset="-120"/>
              </a:rPr>
              <a:t> </a:t>
            </a:r>
            <a:r>
              <a:rPr lang="en-US" sz="1400" b="1" dirty="0">
                <a:solidFill>
                  <a:srgbClr val="3D4A5F"/>
                </a:solidFill>
                <a:latin typeface="IBM Plex Sans" pitchFamily="34" charset="0"/>
                <a:ea typeface="IBM Plex Sans" pitchFamily="34" charset="-122"/>
                <a:cs typeface="IBM Plex Sans" pitchFamily="34" charset="-120"/>
              </a:rPr>
              <a:t>(= ?n 0)</a:t>
            </a:r>
            <a:r>
              <a:rPr lang="en-US" sz="1400" dirty="0">
                <a:solidFill>
                  <a:srgbClr val="3D4A5F"/>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812800" y="6238255"/>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9"/>
                </a:solidFill>
                <a:latin typeface="IBM Plex Sans" pitchFamily="34" charset="0"/>
                <a:ea typeface="IBM Plex Sans" pitchFamily="34" charset="-122"/>
                <a:cs typeface="IBM Plex Sans" pitchFamily="34" charset="-120"/>
              </a:rPr>
              <a:t>Section 3 · Introduction to CLIPS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755155"/>
            <a:ext cx="10883392" cy="274285"/>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913A"/>
                </a:solidFill>
                <a:latin typeface="IBM Plex Sans" pitchFamily="34" charset="0"/>
                <a:ea typeface="IBM Plex Sans" pitchFamily="34" charset="-122"/>
                <a:cs typeface="IBM Plex Sans" pitchFamily="34" charset="-120"/>
              </a:rPr>
              <a:t>SUMMARY</a:t>
            </a:r>
            <a:endParaRPr lang="en-US" sz="1400" dirty="0"/>
          </a:p>
        </p:txBody>
      </p:sp>
      <p:sp>
        <p:nvSpPr>
          <p:cNvPr id="3" name="Text 1"/>
          <p:cNvSpPr/>
          <p:nvPr>
            <p:ph type="title"/>
          </p:nvPr>
        </p:nvSpPr>
        <p:spPr>
          <a:xfrm>
            <a:off x="812800" y="2308845"/>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IBM Plex Sans" pitchFamily="34" charset="0"/>
                <a:ea typeface="IBM Plex Sans" pitchFamily="34" charset="-122"/>
                <a:cs typeface="IBM Plex Sans" pitchFamily="34" charset="-120"/>
              </a:rPr>
              <a:t>What you can do in CLIPS now</a:t>
            </a:r>
            <a:endParaRPr lang="en-US" sz="4000" dirty="0"/>
          </a:p>
        </p:txBody>
      </p:sp>
      <p:sp>
        <p:nvSpPr>
          <p:cNvPr id="4" name="Shape 2"/>
          <p:cNvSpPr/>
          <p:nvPr/>
        </p:nvSpPr>
        <p:spPr>
          <a:xfrm>
            <a:off x="812800" y="3172445"/>
            <a:ext cx="3403600" cy="1323269"/>
          </a:xfrm>
          <a:prstGeom prst="roundRect">
            <a:avLst>
              <a:gd name="adj" fmla="val 7678"/>
            </a:avLst>
          </a:prstGeom>
          <a:solidFill>
            <a:srgbClr val="1F2E4F"/>
          </a:solidFill>
          <a:ln/>
        </p:spPr>
      </p:sp>
      <p:sp>
        <p:nvSpPr>
          <p:cNvPr id="5" name="Text 3"/>
          <p:cNvSpPr/>
          <p:nvPr/>
        </p:nvSpPr>
        <p:spPr>
          <a:xfrm>
            <a:off x="1041400" y="3401045"/>
            <a:ext cx="3034792"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B3F0"/>
                </a:solidFill>
                <a:latin typeface="IBM Plex Sans" pitchFamily="34" charset="0"/>
                <a:ea typeface="IBM Plex Sans" pitchFamily="34" charset="-122"/>
                <a:cs typeface="IBM Plex Sans" pitchFamily="34" charset="-120"/>
              </a:rPr>
              <a:t>Basics</a:t>
            </a:r>
            <a:endParaRPr lang="en-US" sz="1800" dirty="0"/>
          </a:p>
        </p:txBody>
      </p:sp>
      <p:sp>
        <p:nvSpPr>
          <p:cNvPr id="6" name="Text 4"/>
          <p:cNvSpPr/>
          <p:nvPr/>
        </p:nvSpPr>
        <p:spPr>
          <a:xfrm>
            <a:off x="1041400" y="3751523"/>
            <a:ext cx="3034792" cy="540985"/>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CC7DA"/>
                </a:solidFill>
                <a:latin typeface="IBM Plex Sans" pitchFamily="34" charset="0"/>
                <a:ea typeface="IBM Plex Sans" pitchFamily="34" charset="-122"/>
                <a:cs typeface="IBM Plex Sans" pitchFamily="34" charset="-120"/>
              </a:rPr>
              <a:t>Prefix expressions, math, comparison, bind, printout, if, loops</a:t>
            </a:r>
            <a:endParaRPr lang="en-US" sz="1400" dirty="0"/>
          </a:p>
        </p:txBody>
      </p:sp>
      <p:sp>
        <p:nvSpPr>
          <p:cNvPr id="7" name="Shape 5"/>
          <p:cNvSpPr/>
          <p:nvPr/>
        </p:nvSpPr>
        <p:spPr>
          <a:xfrm>
            <a:off x="4394200" y="3172445"/>
            <a:ext cx="3403600" cy="1323269"/>
          </a:xfrm>
          <a:prstGeom prst="roundRect">
            <a:avLst>
              <a:gd name="adj" fmla="val 7678"/>
            </a:avLst>
          </a:prstGeom>
          <a:solidFill>
            <a:srgbClr val="1F2E4F"/>
          </a:solidFill>
          <a:ln/>
        </p:spPr>
      </p:sp>
      <p:sp>
        <p:nvSpPr>
          <p:cNvPr id="8" name="Text 6"/>
          <p:cNvSpPr/>
          <p:nvPr/>
        </p:nvSpPr>
        <p:spPr>
          <a:xfrm>
            <a:off x="4622800" y="3401045"/>
            <a:ext cx="3034792"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B3F0"/>
                </a:solidFill>
                <a:latin typeface="IBM Plex Sans" pitchFamily="34" charset="0"/>
                <a:ea typeface="IBM Plex Sans" pitchFamily="34" charset="-122"/>
                <a:cs typeface="IBM Plex Sans" pitchFamily="34" charset="-120"/>
              </a:rPr>
              <a:t>Knowledge</a:t>
            </a:r>
            <a:endParaRPr lang="en-US" sz="1800" dirty="0"/>
          </a:p>
        </p:txBody>
      </p:sp>
      <p:sp>
        <p:nvSpPr>
          <p:cNvPr id="9" name="Text 7"/>
          <p:cNvSpPr/>
          <p:nvPr/>
        </p:nvSpPr>
        <p:spPr>
          <a:xfrm>
            <a:off x="4622800" y="3751523"/>
            <a:ext cx="3034792" cy="540985"/>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CC7DA"/>
                </a:solidFill>
                <a:latin typeface="IBM Plex Sans" pitchFamily="34" charset="0"/>
                <a:ea typeface="IBM Plex Sans" pitchFamily="34" charset="-122"/>
                <a:cs typeface="IBM Plex Sans" pitchFamily="34" charset="-120"/>
              </a:rPr>
              <a:t>deffacts, deftemplate and defrule; run with (reset) and (run)</a:t>
            </a:r>
            <a:endParaRPr lang="en-US" sz="1400" dirty="0"/>
          </a:p>
        </p:txBody>
      </p:sp>
      <p:sp>
        <p:nvSpPr>
          <p:cNvPr id="10" name="Shape 8"/>
          <p:cNvSpPr/>
          <p:nvPr/>
        </p:nvSpPr>
        <p:spPr>
          <a:xfrm>
            <a:off x="7975600" y="3172445"/>
            <a:ext cx="3403600" cy="1323269"/>
          </a:xfrm>
          <a:prstGeom prst="roundRect">
            <a:avLst>
              <a:gd name="adj" fmla="val 7678"/>
            </a:avLst>
          </a:prstGeom>
          <a:solidFill>
            <a:srgbClr val="1F2E4F"/>
          </a:solidFill>
          <a:ln/>
        </p:spPr>
      </p:sp>
      <p:sp>
        <p:nvSpPr>
          <p:cNvPr id="11" name="Text 9"/>
          <p:cNvSpPr/>
          <p:nvPr/>
        </p:nvSpPr>
        <p:spPr>
          <a:xfrm>
            <a:off x="8204200" y="3401045"/>
            <a:ext cx="3034792"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B3F0"/>
                </a:solidFill>
                <a:latin typeface="IBM Plex Sans" pitchFamily="34" charset="0"/>
                <a:ea typeface="IBM Plex Sans" pitchFamily="34" charset="-122"/>
                <a:cs typeface="IBM Plex Sans" pitchFamily="34" charset="-120"/>
              </a:rPr>
              <a:t>Functions</a:t>
            </a:r>
            <a:endParaRPr lang="en-US" sz="1800" dirty="0"/>
          </a:p>
        </p:txBody>
      </p:sp>
      <p:sp>
        <p:nvSpPr>
          <p:cNvPr id="12" name="Text 10"/>
          <p:cNvSpPr/>
          <p:nvPr/>
        </p:nvSpPr>
        <p:spPr>
          <a:xfrm>
            <a:off x="8204200" y="3751523"/>
            <a:ext cx="3034792" cy="540985"/>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CC7DA"/>
                </a:solidFill>
                <a:latin typeface="IBM Plex Sans" pitchFamily="34" charset="0"/>
                <a:ea typeface="IBM Plex Sans" pitchFamily="34" charset="-122"/>
                <a:cs typeface="IBM Plex Sans" pitchFamily="34" charset="-120"/>
              </a:rPr>
              <a:t>deffunction for reusable logic, including recursion</a:t>
            </a:r>
            <a:endParaRPr lang="en-US" sz="1400" dirty="0"/>
          </a:p>
        </p:txBody>
      </p:sp>
      <p:sp>
        <p:nvSpPr>
          <p:cNvPr id="13" name="Text 11"/>
          <p:cNvSpPr/>
          <p:nvPr/>
        </p:nvSpPr>
        <p:spPr>
          <a:xfrm>
            <a:off x="812800" y="4800513"/>
            <a:ext cx="10883392" cy="3276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7F6F2"/>
                </a:solidFill>
                <a:latin typeface="IBM Plex Sans" pitchFamily="34" charset="0"/>
                <a:ea typeface="IBM Plex Sans" pitchFamily="34" charset="-122"/>
                <a:cs typeface="IBM Plex Sans" pitchFamily="34" charset="-120"/>
              </a:rPr>
              <a:t>Questions?</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3924300" cy="594254"/>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33456B"/>
                </a:solidFill>
                <a:latin typeface="JetBrains Mono" pitchFamily="49" charset="0"/>
                <a:ea typeface="JetBrains Mono" pitchFamily="49" charset="-122"/>
                <a:cs typeface="JetBrains Mono" pitchFamily="49" charset="-120"/>
              </a:rPr>
              <a:t>(printout t</a:t>
            </a:r>
            <a:endParaRPr lang="en-US" sz="1400" dirty="0"/>
          </a:p>
          <a:p>
            <a:pPr algn="l" indent="0" marL="0">
              <a:lnSpc>
                <a:spcPts val="2240"/>
              </a:lnSpc>
              <a:buNone/>
            </a:pPr>
            <a:r>
              <a:rPr lang="en-US" sz="1400" dirty="0">
                <a:solidFill>
                  <a:srgbClr val="33456B"/>
                </a:solidFill>
                <a:latin typeface="JetBrains Mono" pitchFamily="49" charset="0"/>
                <a:ea typeface="JetBrains Mono" pitchFamily="49" charset="-122"/>
                <a:cs typeface="JetBrains Mono" pitchFamily="49" charset="-120"/>
              </a:rPr>
              <a:t>  "Thank you!" crlf)</a:t>
            </a:r>
            <a:endParaRPr lang="en-US" sz="1400" dirty="0"/>
          </a:p>
        </p:txBody>
      </p:sp>
      <p:sp>
        <p:nvSpPr>
          <p:cNvPr id="3" name="Text 1"/>
          <p:cNvSpPr/>
          <p:nvPr>
            <p:ph type="title"/>
          </p:nvPr>
        </p:nvSpPr>
        <p:spPr>
          <a:xfrm>
            <a:off x="3228234" y="1922909"/>
            <a:ext cx="5735532" cy="985485"/>
          </a:xfrm>
          <a:prstGeom prst="rect">
            <a:avLst/>
          </a:prstGeom>
          <a:noFill/>
          <a:ln/>
        </p:spPr>
        <p:txBody>
          <a:bodyPr wrap="square" lIns="0" tIns="0" rIns="0" bIns="0" rtlCol="0" anchor="t">
            <a:normAutofit/>
          </a:bodyPr>
          <a:lstStyle/>
          <a:p>
            <a:pPr algn="ctr" indent="0" marL="0">
              <a:lnSpc>
                <a:spcPts val="7560"/>
              </a:lnSpc>
              <a:buNone/>
            </a:pPr>
            <a:r>
              <a:rPr lang="en-US" sz="7200" b="1" i="0" dirty="0">
                <a:solidFill>
                  <a:srgbClr val="F7F6F2"/>
                </a:solidFill>
                <a:latin typeface="IBM Plex Sans" pitchFamily="34" charset="0"/>
                <a:ea typeface="IBM Plex Sans" pitchFamily="34" charset="-122"/>
                <a:cs typeface="IBM Plex Sans" pitchFamily="34" charset="-120"/>
              </a:rPr>
              <a:t>Thank You!</a:t>
            </a:r>
            <a:endParaRPr lang="en-US" sz="7200" dirty="0"/>
          </a:p>
        </p:txBody>
      </p:sp>
      <p:sp>
        <p:nvSpPr>
          <p:cNvPr id="4" name="Shape 2"/>
          <p:cNvSpPr/>
          <p:nvPr/>
        </p:nvSpPr>
        <p:spPr>
          <a:xfrm>
            <a:off x="5588000" y="3136987"/>
            <a:ext cx="1016000" cy="50800"/>
          </a:xfrm>
          <a:prstGeom prst="roundRect">
            <a:avLst>
              <a:gd name="adj" fmla="val 50000"/>
            </a:avLst>
          </a:prstGeom>
          <a:solidFill>
            <a:srgbClr val="E8913A"/>
          </a:solidFill>
          <a:ln/>
        </p:spPr>
      </p:sp>
      <p:sp>
        <p:nvSpPr>
          <p:cNvPr id="5" name="Text 3"/>
          <p:cNvSpPr/>
          <p:nvPr/>
        </p:nvSpPr>
        <p:spPr>
          <a:xfrm>
            <a:off x="4613390" y="3441787"/>
            <a:ext cx="2965133" cy="523169"/>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7FB3F0"/>
                </a:solidFill>
                <a:latin typeface="IBM Plex Sans" pitchFamily="34" charset="0"/>
                <a:ea typeface="IBM Plex Sans" pitchFamily="34" charset="-122"/>
                <a:cs typeface="IBM Plex Sans" pitchFamily="34" charset="-120"/>
              </a:rPr>
              <a:t>Any questions?</a:t>
            </a:r>
            <a:endParaRPr lang="en-US" sz="2800" dirty="0"/>
          </a:p>
        </p:txBody>
      </p:sp>
      <p:sp>
        <p:nvSpPr>
          <p:cNvPr id="6" name="Text 4"/>
          <p:cNvSpPr/>
          <p:nvPr/>
        </p:nvSpPr>
        <p:spPr>
          <a:xfrm>
            <a:off x="3226761" y="4193555"/>
            <a:ext cx="5738389" cy="345369"/>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BCC7DA"/>
                </a:solidFill>
                <a:latin typeface="IBM Plex Sans" pitchFamily="34" charset="0"/>
                <a:ea typeface="IBM Plex Sans" pitchFamily="34" charset="-122"/>
                <a:cs typeface="IBM Plex Sans" pitchFamily="34" charset="-120"/>
              </a:rPr>
              <a:t>Under the supervision of </a:t>
            </a:r>
            <a:r>
              <a:rPr lang="en-US" sz="1800" b="1" dirty="0">
                <a:solidFill>
                  <a:srgbClr val="F7F6F2"/>
                </a:solidFill>
                <a:latin typeface="IBM Plex Sans" pitchFamily="34" charset="0"/>
                <a:ea typeface="IBM Plex Sans" pitchFamily="34" charset="-122"/>
                <a:cs typeface="IBM Plex Sans" pitchFamily="34" charset="-120"/>
              </a:rPr>
              <a:t>DR. Mohamed Kazim</a:t>
            </a:r>
            <a:endParaRPr lang="en-US" sz="1800" dirty="0"/>
          </a:p>
        </p:txBody>
      </p:sp>
      <p:sp>
        <p:nvSpPr>
          <p:cNvPr id="7" name="Text 5"/>
          <p:cNvSpPr/>
          <p:nvPr/>
        </p:nvSpPr>
        <p:spPr>
          <a:xfrm>
            <a:off x="3954268" y="4615123"/>
            <a:ext cx="4283287" cy="345369"/>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BCC7DA"/>
                </a:solidFill>
                <a:latin typeface="IBM Plex Sans" pitchFamily="34" charset="0"/>
                <a:ea typeface="IBM Plex Sans" pitchFamily="34" charset="-122"/>
                <a:cs typeface="IBM Plex Sans" pitchFamily="34" charset="-120"/>
              </a:rPr>
              <a:t>Prepared by </a:t>
            </a:r>
            <a:r>
              <a:rPr lang="en-US" sz="1800" b="1" dirty="0">
                <a:solidFill>
                  <a:srgbClr val="F7F6F2"/>
                </a:solidFill>
                <a:latin typeface="IBM Plex Sans" pitchFamily="34" charset="0"/>
                <a:ea typeface="IBM Plex Sans" pitchFamily="34" charset="-122"/>
                <a:cs typeface="IBM Plex Sans" pitchFamily="34" charset="-120"/>
              </a:rPr>
              <a:t>ENG. Moamen Yasser</a:t>
            </a:r>
            <a:endParaRPr lang="en-US" sz="1800" dirty="0"/>
          </a:p>
        </p:txBody>
      </p:sp>
    </p:spTree>
  </p:cSld>
  <p:clrMapOvr>
    <a:masterClrMapping/>
  </p:clrMapOvr>
</p:sld>
</file>

<file path=ppt/theme/theme1.xml><?xml version="1.0" encoding="utf-8"?>
<a:theme xmlns:a="http://schemas.openxmlformats.org/drawingml/2006/main" name="Section 3 – Introduction to CLIPS">
  <a:themeElements>
    <a:clrScheme name="Section 3 – Introduction to CLIPS">
      <a:dk1>
        <a:srgbClr val="14213D"/>
      </a:dk1>
      <a:lt1>
        <a:srgbClr val="F7F6F2"/>
      </a:lt1>
      <a:dk2>
        <a:srgbClr val="4D566A"/>
      </a:dk2>
      <a:lt2>
        <a:srgbClr val="E0E1E0"/>
      </a:lt2>
      <a:accent1>
        <a:srgbClr val="2B6CB0"/>
      </a:accent1>
      <a:accent2>
        <a:srgbClr val="C2621A"/>
      </a:accent2>
      <a:accent3>
        <a:srgbClr val="7FB3F0"/>
      </a:accent3>
      <a:accent4>
        <a:srgbClr val="5C3410"/>
      </a:accent4>
      <a:accent5>
        <a:srgbClr val="E8913A"/>
      </a:accent5>
      <a:accent6>
        <a:srgbClr val="9A4A0C"/>
      </a:accent6>
      <a:hlink>
        <a:srgbClr val="0563C1"/>
      </a:hlink>
      <a:folHlink>
        <a:srgbClr val="954F72"/>
      </a:folHlink>
    </a:clrScheme>
    <a:fontScheme name="Section 3 – Introduction to CLIP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3 – Introduction to CLIPS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2026-10-29T09:33:56Z</dcterms:created>
  <dcterms:modified xsi:type="dcterms:W3CDTF">2026-10-29T09:33:56Z</dcterms:modified>
</cp:coreProperties>
</file>